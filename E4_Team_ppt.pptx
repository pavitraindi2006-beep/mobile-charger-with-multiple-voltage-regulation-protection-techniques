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67" r:id="rId2"/>
    <p:sldId id="271" r:id="rId3"/>
    <p:sldId id="272" r:id="rId4"/>
    <p:sldId id="275" r:id="rId5"/>
    <p:sldId id="273" r:id="rId6"/>
    <p:sldId id="259" r:id="rId7"/>
    <p:sldId id="258" r:id="rId8"/>
    <p:sldId id="264" r:id="rId9"/>
    <p:sldId id="263" r:id="rId10"/>
    <p:sldId id="265" r:id="rId11"/>
    <p:sldId id="288" r:id="rId12"/>
    <p:sldId id="287" r:id="rId13"/>
    <p:sldId id="266" r:id="rId14"/>
    <p:sldId id="278" r:id="rId15"/>
    <p:sldId id="279" r:id="rId16"/>
    <p:sldId id="280" r:id="rId17"/>
    <p:sldId id="283" r:id="rId18"/>
    <p:sldId id="284" r:id="rId19"/>
    <p:sldId id="289" r:id="rId20"/>
    <p:sldId id="290" r:id="rId21"/>
    <p:sldId id="291" r:id="rId22"/>
    <p:sldId id="256" r:id="rId23"/>
    <p:sldId id="260" r:id="rId24"/>
    <p:sldId id="262" r:id="rId25"/>
    <p:sldId id="261" r:id="rId26"/>
    <p:sldId id="268" r:id="rId27"/>
    <p:sldId id="269" r:id="rId28"/>
    <p:sldId id="270" r:id="rId29"/>
    <p:sldId id="274" r:id="rId30"/>
    <p:sldId id="277"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C00"/>
    <a:srgbClr val="F7F2ED"/>
    <a:srgbClr val="FF00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C77F6D-E473-40BC-805C-C1FDD752DEDA}" type="datetimeFigureOut">
              <a:rPr lang="en-IN" smtClean="0"/>
              <a:t>10-02-2026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A22422-957E-49A0-9916-14CE92EFBB25}" type="slidenum">
              <a:rPr lang="en-IN" smtClean="0"/>
              <a:t>‹#›</a:t>
            </a:fld>
            <a:endParaRPr lang="en-IN"/>
          </a:p>
        </p:txBody>
      </p:sp>
    </p:spTree>
    <p:extLst>
      <p:ext uri="{BB962C8B-B14F-4D97-AF65-F5344CB8AC3E}">
        <p14:creationId xmlns:p14="http://schemas.microsoft.com/office/powerpoint/2010/main" val="671893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1A22422-957E-49A0-9916-14CE92EFBB25}" type="slidenum">
              <a:rPr lang="en-IN" smtClean="0"/>
              <a:t>15</a:t>
            </a:fld>
            <a:endParaRPr lang="en-IN"/>
          </a:p>
        </p:txBody>
      </p:sp>
    </p:spTree>
    <p:extLst>
      <p:ext uri="{BB962C8B-B14F-4D97-AF65-F5344CB8AC3E}">
        <p14:creationId xmlns:p14="http://schemas.microsoft.com/office/powerpoint/2010/main" val="24611101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D2DC7-237D-C491-3F86-1D33B93D65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745390-8E6B-D7BD-91C3-FA9F7151CD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D29157-6D9A-36D6-B907-7D736A1C99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0B04ACC-E8B3-C6F3-96F6-DDD21B390AB0}"/>
              </a:ext>
            </a:extLst>
          </p:cNvPr>
          <p:cNvSpPr>
            <a:spLocks noGrp="1"/>
          </p:cNvSpPr>
          <p:nvPr>
            <p:ph type="sldNum" sz="quarter" idx="5"/>
          </p:nvPr>
        </p:nvSpPr>
        <p:spPr/>
        <p:txBody>
          <a:bodyPr/>
          <a:lstStyle/>
          <a:p>
            <a:fld id="{61A22422-957E-49A0-9916-14CE92EFBB25}" type="slidenum">
              <a:rPr lang="en-IN" smtClean="0"/>
              <a:t>17</a:t>
            </a:fld>
            <a:endParaRPr lang="en-IN"/>
          </a:p>
        </p:txBody>
      </p:sp>
    </p:spTree>
    <p:extLst>
      <p:ext uri="{BB962C8B-B14F-4D97-AF65-F5344CB8AC3E}">
        <p14:creationId xmlns:p14="http://schemas.microsoft.com/office/powerpoint/2010/main" val="21096692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4A042-3F94-A2CE-5087-EE21B8AFE7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8BC876-75E3-3110-70C2-39B7338F44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5F46C6-0D4F-83D4-F8F0-FD1B5A8C155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1164CCCB-0B7A-D8FC-CA2E-BE8DA6BEAD68}"/>
              </a:ext>
            </a:extLst>
          </p:cNvPr>
          <p:cNvSpPr>
            <a:spLocks noGrp="1"/>
          </p:cNvSpPr>
          <p:nvPr>
            <p:ph type="sldNum" sz="quarter" idx="5"/>
          </p:nvPr>
        </p:nvSpPr>
        <p:spPr/>
        <p:txBody>
          <a:bodyPr/>
          <a:lstStyle/>
          <a:p>
            <a:fld id="{61A22422-957E-49A0-9916-14CE92EFBB25}" type="slidenum">
              <a:rPr lang="en-IN" smtClean="0"/>
              <a:t>18</a:t>
            </a:fld>
            <a:endParaRPr lang="en-IN"/>
          </a:p>
        </p:txBody>
      </p:sp>
    </p:spTree>
    <p:extLst>
      <p:ext uri="{BB962C8B-B14F-4D97-AF65-F5344CB8AC3E}">
        <p14:creationId xmlns:p14="http://schemas.microsoft.com/office/powerpoint/2010/main" val="1473751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9F091-58B6-5E07-3E4F-BFAA443F2FA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54AA9FB-7660-1C5C-C803-DCF923B31E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63AABE8-7D94-8FBE-496C-493B8D49E2A3}"/>
              </a:ext>
            </a:extLst>
          </p:cNvPr>
          <p:cNvSpPr>
            <a:spLocks noGrp="1"/>
          </p:cNvSpPr>
          <p:nvPr>
            <p:ph type="dt" sz="half" idx="10"/>
          </p:nvPr>
        </p:nvSpPr>
        <p:spPr/>
        <p:txBody>
          <a:bodyPr/>
          <a:lstStyle/>
          <a:p>
            <a:fld id="{E5A30091-822C-4205-8C34-5ABC049C7842}" type="datetimeFigureOut">
              <a:rPr lang="en-IN" smtClean="0"/>
              <a:t>10-02-2026</a:t>
            </a:fld>
            <a:endParaRPr lang="en-IN"/>
          </a:p>
        </p:txBody>
      </p:sp>
      <p:sp>
        <p:nvSpPr>
          <p:cNvPr id="5" name="Footer Placeholder 4">
            <a:extLst>
              <a:ext uri="{FF2B5EF4-FFF2-40B4-BE49-F238E27FC236}">
                <a16:creationId xmlns:a16="http://schemas.microsoft.com/office/drawing/2014/main" id="{7203EB80-19EB-90BB-C5A6-DF338BB3D1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A32061-BE1A-2A76-2D43-C632985583B8}"/>
              </a:ext>
            </a:extLst>
          </p:cNvPr>
          <p:cNvSpPr>
            <a:spLocks noGrp="1"/>
          </p:cNvSpPr>
          <p:nvPr>
            <p:ph type="sldNum" sz="quarter" idx="12"/>
          </p:nvPr>
        </p:nvSpPr>
        <p:spPr/>
        <p:txBody>
          <a:bodyPr/>
          <a:lstStyle/>
          <a:p>
            <a:fld id="{C0D6160A-C329-486C-B254-E9BD49A95829}" type="slidenum">
              <a:rPr lang="en-IN" smtClean="0"/>
              <a:t>‹#›</a:t>
            </a:fld>
            <a:endParaRPr lang="en-IN"/>
          </a:p>
        </p:txBody>
      </p:sp>
    </p:spTree>
    <p:extLst>
      <p:ext uri="{BB962C8B-B14F-4D97-AF65-F5344CB8AC3E}">
        <p14:creationId xmlns:p14="http://schemas.microsoft.com/office/powerpoint/2010/main" val="475529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342EC-70F3-9D61-04F7-2016A72090C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D27CD6E-7F97-D8F9-38AB-1D6262A074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267229-258F-3C6C-E375-0992D32BC805}"/>
              </a:ext>
            </a:extLst>
          </p:cNvPr>
          <p:cNvSpPr>
            <a:spLocks noGrp="1"/>
          </p:cNvSpPr>
          <p:nvPr>
            <p:ph type="dt" sz="half" idx="10"/>
          </p:nvPr>
        </p:nvSpPr>
        <p:spPr/>
        <p:txBody>
          <a:bodyPr/>
          <a:lstStyle/>
          <a:p>
            <a:fld id="{E5A30091-822C-4205-8C34-5ABC049C7842}" type="datetimeFigureOut">
              <a:rPr lang="en-IN" smtClean="0"/>
              <a:t>10-02-2026</a:t>
            </a:fld>
            <a:endParaRPr lang="en-IN"/>
          </a:p>
        </p:txBody>
      </p:sp>
      <p:sp>
        <p:nvSpPr>
          <p:cNvPr id="5" name="Footer Placeholder 4">
            <a:extLst>
              <a:ext uri="{FF2B5EF4-FFF2-40B4-BE49-F238E27FC236}">
                <a16:creationId xmlns:a16="http://schemas.microsoft.com/office/drawing/2014/main" id="{700A210A-5F9C-5353-DD92-B6A2A3C606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4AD399-80E4-77F9-C634-3A6872BCE380}"/>
              </a:ext>
            </a:extLst>
          </p:cNvPr>
          <p:cNvSpPr>
            <a:spLocks noGrp="1"/>
          </p:cNvSpPr>
          <p:nvPr>
            <p:ph type="sldNum" sz="quarter" idx="12"/>
          </p:nvPr>
        </p:nvSpPr>
        <p:spPr/>
        <p:txBody>
          <a:bodyPr/>
          <a:lstStyle/>
          <a:p>
            <a:fld id="{C0D6160A-C329-486C-B254-E9BD49A95829}" type="slidenum">
              <a:rPr lang="en-IN" smtClean="0"/>
              <a:t>‹#›</a:t>
            </a:fld>
            <a:endParaRPr lang="en-IN"/>
          </a:p>
        </p:txBody>
      </p:sp>
    </p:spTree>
    <p:extLst>
      <p:ext uri="{BB962C8B-B14F-4D97-AF65-F5344CB8AC3E}">
        <p14:creationId xmlns:p14="http://schemas.microsoft.com/office/powerpoint/2010/main" val="620217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BCA81-AF15-F96F-90CF-119AF96CC8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8F772F8-5877-B83E-78EF-C36D2F36C7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F73B35-9B7C-1C35-0E43-B166960D68AE}"/>
              </a:ext>
            </a:extLst>
          </p:cNvPr>
          <p:cNvSpPr>
            <a:spLocks noGrp="1"/>
          </p:cNvSpPr>
          <p:nvPr>
            <p:ph type="dt" sz="half" idx="10"/>
          </p:nvPr>
        </p:nvSpPr>
        <p:spPr/>
        <p:txBody>
          <a:bodyPr/>
          <a:lstStyle/>
          <a:p>
            <a:fld id="{E5A30091-822C-4205-8C34-5ABC049C7842}" type="datetimeFigureOut">
              <a:rPr lang="en-IN" smtClean="0"/>
              <a:t>10-02-2026</a:t>
            </a:fld>
            <a:endParaRPr lang="en-IN"/>
          </a:p>
        </p:txBody>
      </p:sp>
      <p:sp>
        <p:nvSpPr>
          <p:cNvPr id="5" name="Footer Placeholder 4">
            <a:extLst>
              <a:ext uri="{FF2B5EF4-FFF2-40B4-BE49-F238E27FC236}">
                <a16:creationId xmlns:a16="http://schemas.microsoft.com/office/drawing/2014/main" id="{F44395DF-0C2B-11BB-1053-961B392864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B98C8D-7921-9D7B-6379-F0FAFC13A712}"/>
              </a:ext>
            </a:extLst>
          </p:cNvPr>
          <p:cNvSpPr>
            <a:spLocks noGrp="1"/>
          </p:cNvSpPr>
          <p:nvPr>
            <p:ph type="sldNum" sz="quarter" idx="12"/>
          </p:nvPr>
        </p:nvSpPr>
        <p:spPr/>
        <p:txBody>
          <a:bodyPr/>
          <a:lstStyle/>
          <a:p>
            <a:fld id="{C0D6160A-C329-486C-B254-E9BD49A95829}" type="slidenum">
              <a:rPr lang="en-IN" smtClean="0"/>
              <a:t>‹#›</a:t>
            </a:fld>
            <a:endParaRPr lang="en-IN"/>
          </a:p>
        </p:txBody>
      </p:sp>
    </p:spTree>
    <p:extLst>
      <p:ext uri="{BB962C8B-B14F-4D97-AF65-F5344CB8AC3E}">
        <p14:creationId xmlns:p14="http://schemas.microsoft.com/office/powerpoint/2010/main" val="3118621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0C53B-A797-A5DB-BBAB-80AA7C5A891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E8D8583-474B-3737-5EFB-FBE15C7589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7AE05A2-A7C3-527D-77F1-D86118AE17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58468EE-D525-5E74-9FB1-1E3A3F1AB344}"/>
              </a:ext>
            </a:extLst>
          </p:cNvPr>
          <p:cNvSpPr>
            <a:spLocks noGrp="1"/>
          </p:cNvSpPr>
          <p:nvPr>
            <p:ph type="dt" sz="half" idx="10"/>
          </p:nvPr>
        </p:nvSpPr>
        <p:spPr/>
        <p:txBody>
          <a:bodyPr/>
          <a:lstStyle/>
          <a:p>
            <a:fld id="{E5A30091-822C-4205-8C34-5ABC049C7842}" type="datetimeFigureOut">
              <a:rPr lang="en-IN" smtClean="0"/>
              <a:t>10-02-2026</a:t>
            </a:fld>
            <a:endParaRPr lang="en-IN"/>
          </a:p>
        </p:txBody>
      </p:sp>
      <p:sp>
        <p:nvSpPr>
          <p:cNvPr id="6" name="Footer Placeholder 5">
            <a:extLst>
              <a:ext uri="{FF2B5EF4-FFF2-40B4-BE49-F238E27FC236}">
                <a16:creationId xmlns:a16="http://schemas.microsoft.com/office/drawing/2014/main" id="{F9DCE3DB-DFD5-C6A5-96B9-64FC17E2D9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435022-65B3-D1E8-0894-F2D2261F2F08}"/>
              </a:ext>
            </a:extLst>
          </p:cNvPr>
          <p:cNvSpPr>
            <a:spLocks noGrp="1"/>
          </p:cNvSpPr>
          <p:nvPr>
            <p:ph type="sldNum" sz="quarter" idx="12"/>
          </p:nvPr>
        </p:nvSpPr>
        <p:spPr/>
        <p:txBody>
          <a:bodyPr/>
          <a:lstStyle/>
          <a:p>
            <a:fld id="{C0D6160A-C329-486C-B254-E9BD49A95829}" type="slidenum">
              <a:rPr lang="en-IN" smtClean="0"/>
              <a:t>‹#›</a:t>
            </a:fld>
            <a:endParaRPr lang="en-IN"/>
          </a:p>
        </p:txBody>
      </p:sp>
    </p:spTree>
    <p:extLst>
      <p:ext uri="{BB962C8B-B14F-4D97-AF65-F5344CB8AC3E}">
        <p14:creationId xmlns:p14="http://schemas.microsoft.com/office/powerpoint/2010/main" val="2863453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AC078-2350-C16A-D408-192F3D3D7DE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FAA9F7C-C100-DCF9-3B29-3EA357F268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9CBAE2-CD97-75F0-7F98-B20D68EF87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BD97FE0-6477-93A6-B9DA-C41FC1358F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8D5144-B5DD-C27D-ABC2-6154BB18097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28EA01B-0E8A-C6A0-6FAC-73A6C23AAF2F}"/>
              </a:ext>
            </a:extLst>
          </p:cNvPr>
          <p:cNvSpPr>
            <a:spLocks noGrp="1"/>
          </p:cNvSpPr>
          <p:nvPr>
            <p:ph type="dt" sz="half" idx="10"/>
          </p:nvPr>
        </p:nvSpPr>
        <p:spPr/>
        <p:txBody>
          <a:bodyPr/>
          <a:lstStyle/>
          <a:p>
            <a:fld id="{E5A30091-822C-4205-8C34-5ABC049C7842}" type="datetimeFigureOut">
              <a:rPr lang="en-IN" smtClean="0"/>
              <a:t>10-02-2026</a:t>
            </a:fld>
            <a:endParaRPr lang="en-IN"/>
          </a:p>
        </p:txBody>
      </p:sp>
      <p:sp>
        <p:nvSpPr>
          <p:cNvPr id="8" name="Footer Placeholder 7">
            <a:extLst>
              <a:ext uri="{FF2B5EF4-FFF2-40B4-BE49-F238E27FC236}">
                <a16:creationId xmlns:a16="http://schemas.microsoft.com/office/drawing/2014/main" id="{8E09D16D-147E-DEEF-8F69-1631417872A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CA1E913-9584-BE0D-FA06-3D05DD4BEA46}"/>
              </a:ext>
            </a:extLst>
          </p:cNvPr>
          <p:cNvSpPr>
            <a:spLocks noGrp="1"/>
          </p:cNvSpPr>
          <p:nvPr>
            <p:ph type="sldNum" sz="quarter" idx="12"/>
          </p:nvPr>
        </p:nvSpPr>
        <p:spPr/>
        <p:txBody>
          <a:bodyPr/>
          <a:lstStyle/>
          <a:p>
            <a:fld id="{C0D6160A-C329-486C-B254-E9BD49A95829}" type="slidenum">
              <a:rPr lang="en-IN" smtClean="0"/>
              <a:t>‹#›</a:t>
            </a:fld>
            <a:endParaRPr lang="en-IN"/>
          </a:p>
        </p:txBody>
      </p:sp>
    </p:spTree>
    <p:extLst>
      <p:ext uri="{BB962C8B-B14F-4D97-AF65-F5344CB8AC3E}">
        <p14:creationId xmlns:p14="http://schemas.microsoft.com/office/powerpoint/2010/main" val="1496448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E0D75-9A5C-3243-1AD9-0F2D42DFAFF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3A913A3-01DD-B726-C424-7F23EDCCAC37}"/>
              </a:ext>
            </a:extLst>
          </p:cNvPr>
          <p:cNvSpPr>
            <a:spLocks noGrp="1"/>
          </p:cNvSpPr>
          <p:nvPr>
            <p:ph type="dt" sz="half" idx="10"/>
          </p:nvPr>
        </p:nvSpPr>
        <p:spPr/>
        <p:txBody>
          <a:bodyPr/>
          <a:lstStyle/>
          <a:p>
            <a:fld id="{E5A30091-822C-4205-8C34-5ABC049C7842}" type="datetimeFigureOut">
              <a:rPr lang="en-IN" smtClean="0"/>
              <a:t>10-02-2026</a:t>
            </a:fld>
            <a:endParaRPr lang="en-IN"/>
          </a:p>
        </p:txBody>
      </p:sp>
      <p:sp>
        <p:nvSpPr>
          <p:cNvPr id="4" name="Footer Placeholder 3">
            <a:extLst>
              <a:ext uri="{FF2B5EF4-FFF2-40B4-BE49-F238E27FC236}">
                <a16:creationId xmlns:a16="http://schemas.microsoft.com/office/drawing/2014/main" id="{FEB7ABD1-64B4-65BE-15BC-CCF0AAD1FE7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18A1FFF-EE02-7D02-3CDF-D2991C948FA7}"/>
              </a:ext>
            </a:extLst>
          </p:cNvPr>
          <p:cNvSpPr>
            <a:spLocks noGrp="1"/>
          </p:cNvSpPr>
          <p:nvPr>
            <p:ph type="sldNum" sz="quarter" idx="12"/>
          </p:nvPr>
        </p:nvSpPr>
        <p:spPr/>
        <p:txBody>
          <a:bodyPr/>
          <a:lstStyle/>
          <a:p>
            <a:fld id="{C0D6160A-C329-486C-B254-E9BD49A95829}" type="slidenum">
              <a:rPr lang="en-IN" smtClean="0"/>
              <a:t>‹#›</a:t>
            </a:fld>
            <a:endParaRPr lang="en-IN"/>
          </a:p>
        </p:txBody>
      </p:sp>
    </p:spTree>
    <p:extLst>
      <p:ext uri="{BB962C8B-B14F-4D97-AF65-F5344CB8AC3E}">
        <p14:creationId xmlns:p14="http://schemas.microsoft.com/office/powerpoint/2010/main" val="18007516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1E616D-C39C-1AFD-A5D7-DB404FC46946}"/>
              </a:ext>
            </a:extLst>
          </p:cNvPr>
          <p:cNvSpPr>
            <a:spLocks noGrp="1"/>
          </p:cNvSpPr>
          <p:nvPr>
            <p:ph type="dt" sz="half" idx="10"/>
          </p:nvPr>
        </p:nvSpPr>
        <p:spPr/>
        <p:txBody>
          <a:bodyPr/>
          <a:lstStyle/>
          <a:p>
            <a:fld id="{E5A30091-822C-4205-8C34-5ABC049C7842}" type="datetimeFigureOut">
              <a:rPr lang="en-IN" smtClean="0"/>
              <a:t>10-02-2026</a:t>
            </a:fld>
            <a:endParaRPr lang="en-IN"/>
          </a:p>
        </p:txBody>
      </p:sp>
      <p:sp>
        <p:nvSpPr>
          <p:cNvPr id="3" name="Footer Placeholder 2">
            <a:extLst>
              <a:ext uri="{FF2B5EF4-FFF2-40B4-BE49-F238E27FC236}">
                <a16:creationId xmlns:a16="http://schemas.microsoft.com/office/drawing/2014/main" id="{FF61EE58-6E6B-9910-EBFA-6479A8C5DDD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9BB88C4-F4B2-F43E-A7ED-663283EEDBE8}"/>
              </a:ext>
            </a:extLst>
          </p:cNvPr>
          <p:cNvSpPr>
            <a:spLocks noGrp="1"/>
          </p:cNvSpPr>
          <p:nvPr>
            <p:ph type="sldNum" sz="quarter" idx="12"/>
          </p:nvPr>
        </p:nvSpPr>
        <p:spPr/>
        <p:txBody>
          <a:bodyPr/>
          <a:lstStyle/>
          <a:p>
            <a:fld id="{C0D6160A-C329-486C-B254-E9BD49A95829}" type="slidenum">
              <a:rPr lang="en-IN" smtClean="0"/>
              <a:t>‹#›</a:t>
            </a:fld>
            <a:endParaRPr lang="en-IN"/>
          </a:p>
        </p:txBody>
      </p:sp>
    </p:spTree>
    <p:extLst>
      <p:ext uri="{BB962C8B-B14F-4D97-AF65-F5344CB8AC3E}">
        <p14:creationId xmlns:p14="http://schemas.microsoft.com/office/powerpoint/2010/main" val="35396908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E20BB-9AE5-9B14-8034-0DA741AF7D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585556D-9F04-D42E-A981-0C92566819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6B04CA3-BA2B-EADB-C6CD-0DC18A8038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0B3163-5AC8-C6BE-F27B-68B8E4EAB9A9}"/>
              </a:ext>
            </a:extLst>
          </p:cNvPr>
          <p:cNvSpPr>
            <a:spLocks noGrp="1"/>
          </p:cNvSpPr>
          <p:nvPr>
            <p:ph type="dt" sz="half" idx="10"/>
          </p:nvPr>
        </p:nvSpPr>
        <p:spPr/>
        <p:txBody>
          <a:bodyPr/>
          <a:lstStyle/>
          <a:p>
            <a:fld id="{E5A30091-822C-4205-8C34-5ABC049C7842}" type="datetimeFigureOut">
              <a:rPr lang="en-IN" smtClean="0"/>
              <a:t>10-02-2026</a:t>
            </a:fld>
            <a:endParaRPr lang="en-IN"/>
          </a:p>
        </p:txBody>
      </p:sp>
      <p:sp>
        <p:nvSpPr>
          <p:cNvPr id="6" name="Footer Placeholder 5">
            <a:extLst>
              <a:ext uri="{FF2B5EF4-FFF2-40B4-BE49-F238E27FC236}">
                <a16:creationId xmlns:a16="http://schemas.microsoft.com/office/drawing/2014/main" id="{D9CD5EDF-680F-19BA-F396-408767772A3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5D6F23-AB00-A54F-F11C-2CC9A8E1A877}"/>
              </a:ext>
            </a:extLst>
          </p:cNvPr>
          <p:cNvSpPr>
            <a:spLocks noGrp="1"/>
          </p:cNvSpPr>
          <p:nvPr>
            <p:ph type="sldNum" sz="quarter" idx="12"/>
          </p:nvPr>
        </p:nvSpPr>
        <p:spPr/>
        <p:txBody>
          <a:bodyPr/>
          <a:lstStyle/>
          <a:p>
            <a:fld id="{C0D6160A-C329-486C-B254-E9BD49A95829}" type="slidenum">
              <a:rPr lang="en-IN" smtClean="0"/>
              <a:t>‹#›</a:t>
            </a:fld>
            <a:endParaRPr lang="en-IN"/>
          </a:p>
        </p:txBody>
      </p:sp>
    </p:spTree>
    <p:extLst>
      <p:ext uri="{BB962C8B-B14F-4D97-AF65-F5344CB8AC3E}">
        <p14:creationId xmlns:p14="http://schemas.microsoft.com/office/powerpoint/2010/main" val="774362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64D1C-CA14-939C-67A0-87BF1D75BB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8F1D528-7B6A-2B77-4E7F-5718D4F98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20C3EFE-6040-EA5B-1A55-39B75EE560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51187B-0AF1-15A7-C3DF-1682BB1E100A}"/>
              </a:ext>
            </a:extLst>
          </p:cNvPr>
          <p:cNvSpPr>
            <a:spLocks noGrp="1"/>
          </p:cNvSpPr>
          <p:nvPr>
            <p:ph type="dt" sz="half" idx="10"/>
          </p:nvPr>
        </p:nvSpPr>
        <p:spPr/>
        <p:txBody>
          <a:bodyPr/>
          <a:lstStyle/>
          <a:p>
            <a:fld id="{E5A30091-822C-4205-8C34-5ABC049C7842}" type="datetimeFigureOut">
              <a:rPr lang="en-IN" smtClean="0"/>
              <a:t>10-02-2026</a:t>
            </a:fld>
            <a:endParaRPr lang="en-IN"/>
          </a:p>
        </p:txBody>
      </p:sp>
      <p:sp>
        <p:nvSpPr>
          <p:cNvPr id="6" name="Footer Placeholder 5">
            <a:extLst>
              <a:ext uri="{FF2B5EF4-FFF2-40B4-BE49-F238E27FC236}">
                <a16:creationId xmlns:a16="http://schemas.microsoft.com/office/drawing/2014/main" id="{7FA431F5-EA1F-994B-97F2-9C6A7C5709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9C4A33E-6454-D9A4-1DCE-BE272526AE72}"/>
              </a:ext>
            </a:extLst>
          </p:cNvPr>
          <p:cNvSpPr>
            <a:spLocks noGrp="1"/>
          </p:cNvSpPr>
          <p:nvPr>
            <p:ph type="sldNum" sz="quarter" idx="12"/>
          </p:nvPr>
        </p:nvSpPr>
        <p:spPr/>
        <p:txBody>
          <a:bodyPr/>
          <a:lstStyle/>
          <a:p>
            <a:fld id="{C0D6160A-C329-486C-B254-E9BD49A95829}" type="slidenum">
              <a:rPr lang="en-IN" smtClean="0"/>
              <a:t>‹#›</a:t>
            </a:fld>
            <a:endParaRPr lang="en-IN"/>
          </a:p>
        </p:txBody>
      </p:sp>
    </p:spTree>
    <p:extLst>
      <p:ext uri="{BB962C8B-B14F-4D97-AF65-F5344CB8AC3E}">
        <p14:creationId xmlns:p14="http://schemas.microsoft.com/office/powerpoint/2010/main" val="402279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08C33-89BC-C4BF-AF8E-6A7DD4AB245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2F03EF-B421-A106-806E-B485DDDB14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9AD1B6-90A5-8E95-9D59-4FF369FA7516}"/>
              </a:ext>
            </a:extLst>
          </p:cNvPr>
          <p:cNvSpPr>
            <a:spLocks noGrp="1"/>
          </p:cNvSpPr>
          <p:nvPr>
            <p:ph type="dt" sz="half" idx="10"/>
          </p:nvPr>
        </p:nvSpPr>
        <p:spPr/>
        <p:txBody>
          <a:bodyPr/>
          <a:lstStyle/>
          <a:p>
            <a:fld id="{E5A30091-822C-4205-8C34-5ABC049C7842}" type="datetimeFigureOut">
              <a:rPr lang="en-IN" smtClean="0"/>
              <a:t>10-02-2026</a:t>
            </a:fld>
            <a:endParaRPr lang="en-IN"/>
          </a:p>
        </p:txBody>
      </p:sp>
      <p:sp>
        <p:nvSpPr>
          <p:cNvPr id="5" name="Footer Placeholder 4">
            <a:extLst>
              <a:ext uri="{FF2B5EF4-FFF2-40B4-BE49-F238E27FC236}">
                <a16:creationId xmlns:a16="http://schemas.microsoft.com/office/drawing/2014/main" id="{DA436B34-BE34-1032-394A-00DA4148F6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7B0CC0-8288-1CF6-B987-7FEC67FDF272}"/>
              </a:ext>
            </a:extLst>
          </p:cNvPr>
          <p:cNvSpPr>
            <a:spLocks noGrp="1"/>
          </p:cNvSpPr>
          <p:nvPr>
            <p:ph type="sldNum" sz="quarter" idx="12"/>
          </p:nvPr>
        </p:nvSpPr>
        <p:spPr/>
        <p:txBody>
          <a:bodyPr/>
          <a:lstStyle/>
          <a:p>
            <a:fld id="{C0D6160A-C329-486C-B254-E9BD49A95829}" type="slidenum">
              <a:rPr lang="en-IN" smtClean="0"/>
              <a:t>‹#›</a:t>
            </a:fld>
            <a:endParaRPr lang="en-IN"/>
          </a:p>
        </p:txBody>
      </p:sp>
    </p:spTree>
    <p:extLst>
      <p:ext uri="{BB962C8B-B14F-4D97-AF65-F5344CB8AC3E}">
        <p14:creationId xmlns:p14="http://schemas.microsoft.com/office/powerpoint/2010/main" val="1928921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DC0D77-4CD5-B9DC-BFAE-1A9C24C1A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9B7C887-A83F-5A05-0DDF-EA494DD0AD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6EEA16-E693-5054-1F77-B1A75EDB8FF1}"/>
              </a:ext>
            </a:extLst>
          </p:cNvPr>
          <p:cNvSpPr>
            <a:spLocks noGrp="1"/>
          </p:cNvSpPr>
          <p:nvPr>
            <p:ph type="dt" sz="half" idx="10"/>
          </p:nvPr>
        </p:nvSpPr>
        <p:spPr/>
        <p:txBody>
          <a:bodyPr/>
          <a:lstStyle/>
          <a:p>
            <a:fld id="{E5A30091-822C-4205-8C34-5ABC049C7842}" type="datetimeFigureOut">
              <a:rPr lang="en-IN" smtClean="0"/>
              <a:t>10-02-2026</a:t>
            </a:fld>
            <a:endParaRPr lang="en-IN"/>
          </a:p>
        </p:txBody>
      </p:sp>
      <p:sp>
        <p:nvSpPr>
          <p:cNvPr id="5" name="Footer Placeholder 4">
            <a:extLst>
              <a:ext uri="{FF2B5EF4-FFF2-40B4-BE49-F238E27FC236}">
                <a16:creationId xmlns:a16="http://schemas.microsoft.com/office/drawing/2014/main" id="{A889DCEA-E69B-86CA-6348-DAA6C78919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E190CA-CF0E-3761-6B80-6845C6553D7A}"/>
              </a:ext>
            </a:extLst>
          </p:cNvPr>
          <p:cNvSpPr>
            <a:spLocks noGrp="1"/>
          </p:cNvSpPr>
          <p:nvPr>
            <p:ph type="sldNum" sz="quarter" idx="12"/>
          </p:nvPr>
        </p:nvSpPr>
        <p:spPr/>
        <p:txBody>
          <a:bodyPr/>
          <a:lstStyle/>
          <a:p>
            <a:fld id="{C0D6160A-C329-486C-B254-E9BD49A95829}" type="slidenum">
              <a:rPr lang="en-IN" smtClean="0"/>
              <a:t>‹#›</a:t>
            </a:fld>
            <a:endParaRPr lang="en-IN"/>
          </a:p>
        </p:txBody>
      </p:sp>
    </p:spTree>
    <p:extLst>
      <p:ext uri="{BB962C8B-B14F-4D97-AF65-F5344CB8AC3E}">
        <p14:creationId xmlns:p14="http://schemas.microsoft.com/office/powerpoint/2010/main" val="1770896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56DCE3-428D-CBD8-7B45-35EC73A6C7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FA78062-7214-813F-B21E-A4E468B400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7CFF5D-A0A1-881B-C04C-82551E6BF1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A30091-822C-4205-8C34-5ABC049C7842}" type="datetimeFigureOut">
              <a:rPr lang="en-IN" smtClean="0"/>
              <a:t>10-02-2026</a:t>
            </a:fld>
            <a:endParaRPr lang="en-IN"/>
          </a:p>
        </p:txBody>
      </p:sp>
      <p:sp>
        <p:nvSpPr>
          <p:cNvPr id="5" name="Footer Placeholder 4">
            <a:extLst>
              <a:ext uri="{FF2B5EF4-FFF2-40B4-BE49-F238E27FC236}">
                <a16:creationId xmlns:a16="http://schemas.microsoft.com/office/drawing/2014/main" id="{6EE705FB-3CCA-7150-0FDB-1C92394774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DDD8C54-D345-7819-0716-49807B4F61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D6160A-C329-486C-B254-E9BD49A95829}" type="slidenum">
              <a:rPr lang="en-IN" smtClean="0"/>
              <a:t>‹#›</a:t>
            </a:fld>
            <a:endParaRPr lang="en-IN"/>
          </a:p>
        </p:txBody>
      </p:sp>
    </p:spTree>
    <p:extLst>
      <p:ext uri="{BB962C8B-B14F-4D97-AF65-F5344CB8AC3E}">
        <p14:creationId xmlns:p14="http://schemas.microsoft.com/office/powerpoint/2010/main" val="38237622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slide" Target="slide13.xml"/></Relationships>
</file>

<file path=ppt/slides/_rels/slide6.xml.rels><?xml version="1.0" encoding="UTF-8" standalone="yes"?>
<Relationships xmlns="http://schemas.openxmlformats.org/package/2006/relationships"><Relationship Id="rId3" Type="http://schemas.openxmlformats.org/officeDocument/2006/relationships/slide" Target="slide8.xml"/><Relationship Id="rId7" Type="http://schemas.openxmlformats.org/officeDocument/2006/relationships/slide" Target="slide11.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slide" Target="slide13.xml"/><Relationship Id="rId5" Type="http://schemas.openxmlformats.org/officeDocument/2006/relationships/slide" Target="slide10.xml"/><Relationship Id="rId4" Type="http://schemas.openxmlformats.org/officeDocument/2006/relationships/slide" Target="slide9.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1.jpeg"/><Relationship Id="rId4" Type="http://schemas.openxmlformats.org/officeDocument/2006/relationships/image" Target="../media/image20.jpe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6032E-4823-C429-A02C-93201DE39CA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170FDE8-6070-BD33-1C9E-AF2AC56A7A74}"/>
              </a:ext>
            </a:extLst>
          </p:cNvPr>
          <p:cNvSpPr txBox="1"/>
          <p:nvPr/>
        </p:nvSpPr>
        <p:spPr>
          <a:xfrm>
            <a:off x="0" y="0"/>
            <a:ext cx="2644878" cy="338554"/>
          </a:xfrm>
          <a:prstGeom prst="rect">
            <a:avLst/>
          </a:prstGeom>
          <a:solidFill>
            <a:schemeClr val="tx2">
              <a:lumMod val="20000"/>
              <a:lumOff val="80000"/>
            </a:schemeClr>
          </a:solidFill>
        </p:spPr>
        <p:txBody>
          <a:bodyPr wrap="square">
            <a:spAutoFit/>
          </a:bodyPr>
          <a:lstStyle/>
          <a:p>
            <a:r>
              <a:rPr lang="en-US" sz="1600" b="1">
                <a:latin typeface="Times New Roman" panose="02020603050405020304" pitchFamily="18" charset="0"/>
                <a:cs typeface="Times New Roman" panose="02020603050405020304" pitchFamily="18" charset="0"/>
              </a:rPr>
              <a:t>Mini Project  (</a:t>
            </a:r>
            <a:r>
              <a:rPr lang="en-IN" sz="1600"/>
              <a:t>23EECW301</a:t>
            </a:r>
            <a:r>
              <a:rPr lang="en-US" sz="1600" b="1">
                <a:latin typeface="Times New Roman" panose="02020603050405020304" pitchFamily="18" charset="0"/>
                <a:cs typeface="Times New Roman" panose="02020603050405020304" pitchFamily="18" charset="0"/>
              </a:rPr>
              <a:t>)</a:t>
            </a:r>
            <a:endParaRPr lang="en-IN" sz="1600"/>
          </a:p>
        </p:txBody>
      </p:sp>
      <p:pic>
        <p:nvPicPr>
          <p:cNvPr id="5" name="Picture 4" descr="KLE Technological University in Hubballi">
            <a:extLst>
              <a:ext uri="{FF2B5EF4-FFF2-40B4-BE49-F238E27FC236}">
                <a16:creationId xmlns:a16="http://schemas.microsoft.com/office/drawing/2014/main" id="{D4D6A07F-CE55-7FA9-D400-E40A5C4BA692}"/>
              </a:ext>
            </a:extLst>
          </p:cNvPr>
          <p:cNvPicPr>
            <a:picLocks noChangeAspect="1"/>
          </p:cNvPicPr>
          <p:nvPr/>
        </p:nvPicPr>
        <p:blipFill rotWithShape="1">
          <a:blip r:embed="rId2">
            <a:extLst>
              <a:ext uri="{28A0092B-C50C-407E-A947-70E740481C1C}">
                <a14:useLocalDpi xmlns:a14="http://schemas.microsoft.com/office/drawing/2010/main" val="0"/>
              </a:ext>
            </a:extLst>
          </a:blip>
          <a:srcRect t="37713" b="37711"/>
          <a:stretch/>
        </p:blipFill>
        <p:spPr bwMode="auto">
          <a:xfrm>
            <a:off x="10569676" y="0"/>
            <a:ext cx="1622323" cy="381757"/>
          </a:xfrm>
          <a:prstGeom prst="rect">
            <a:avLst/>
          </a:prstGeom>
          <a:noFill/>
          <a:ln>
            <a:noFill/>
          </a:ln>
          <a:extLst>
            <a:ext uri="{53640926-AAD7-44D8-BBD7-CCE9431645EC}">
              <a14:shadowObscured xmlns:a14="http://schemas.microsoft.com/office/drawing/2010/main"/>
            </a:ext>
          </a:extLst>
        </p:spPr>
      </p:pic>
      <p:sp>
        <p:nvSpPr>
          <p:cNvPr id="4" name="TextBox 3">
            <a:extLst>
              <a:ext uri="{FF2B5EF4-FFF2-40B4-BE49-F238E27FC236}">
                <a16:creationId xmlns:a16="http://schemas.microsoft.com/office/drawing/2014/main" id="{26155675-4482-47D3-B3A9-F49618FD9F32}"/>
              </a:ext>
            </a:extLst>
          </p:cNvPr>
          <p:cNvSpPr txBox="1"/>
          <p:nvPr/>
        </p:nvSpPr>
        <p:spPr>
          <a:xfrm>
            <a:off x="3503468" y="945572"/>
            <a:ext cx="5185064" cy="1077218"/>
          </a:xfrm>
          <a:prstGeom prst="rect">
            <a:avLst/>
          </a:prstGeom>
          <a:noFill/>
        </p:spPr>
        <p:txBody>
          <a:bodyPr wrap="square" rtlCol="0">
            <a:spAutoFit/>
          </a:bodyPr>
          <a:lstStyle/>
          <a:p>
            <a:pPr algn="ctr"/>
            <a:r>
              <a:rPr lang="en-IN" sz="4000" b="1">
                <a:latin typeface="Times New Roman" panose="02020603050405020304" pitchFamily="18" charset="0"/>
                <a:cs typeface="Times New Roman" panose="02020603050405020304" pitchFamily="18" charset="0"/>
              </a:rPr>
              <a:t>MINI PROJECT  </a:t>
            </a:r>
            <a:r>
              <a:rPr lang="en-IN" sz="2400" b="1">
                <a:latin typeface="Times New Roman" panose="02020603050405020304" pitchFamily="18" charset="0"/>
                <a:cs typeface="Times New Roman" panose="02020603050405020304" pitchFamily="18" charset="0"/>
              </a:rPr>
              <a:t>23EECW301</a:t>
            </a:r>
            <a:endParaRPr lang="en-IN" sz="3600" b="1">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96E1F7CD-706E-3600-EC9A-9FE35C825BC7}"/>
              </a:ext>
            </a:extLst>
          </p:cNvPr>
          <p:cNvGraphicFramePr>
            <a:graphicFrameLocks noGrp="1"/>
          </p:cNvGraphicFramePr>
          <p:nvPr>
            <p:extLst>
              <p:ext uri="{D42A27DB-BD31-4B8C-83A1-F6EECF244321}">
                <p14:modId xmlns:p14="http://schemas.microsoft.com/office/powerpoint/2010/main" val="2379588198"/>
              </p:ext>
            </p:extLst>
          </p:nvPr>
        </p:nvGraphicFramePr>
        <p:xfrm>
          <a:off x="1828800" y="2586605"/>
          <a:ext cx="8740876" cy="3003704"/>
        </p:xfrm>
        <a:graphic>
          <a:graphicData uri="http://schemas.openxmlformats.org/drawingml/2006/table">
            <a:tbl>
              <a:tblPr firstRow="1" bandRow="1">
                <a:tableStyleId>{5C22544A-7EE6-4342-B048-85BDC9FD1C3A}</a:tableStyleId>
              </a:tblPr>
              <a:tblGrid>
                <a:gridCol w="1206976">
                  <a:extLst>
                    <a:ext uri="{9D8B030D-6E8A-4147-A177-3AD203B41FA5}">
                      <a16:colId xmlns:a16="http://schemas.microsoft.com/office/drawing/2014/main" val="20000"/>
                    </a:ext>
                  </a:extLst>
                </a:gridCol>
                <a:gridCol w="1369800">
                  <a:extLst>
                    <a:ext uri="{9D8B030D-6E8A-4147-A177-3AD203B41FA5}">
                      <a16:colId xmlns:a16="http://schemas.microsoft.com/office/drawing/2014/main" val="20001"/>
                    </a:ext>
                  </a:extLst>
                </a:gridCol>
                <a:gridCol w="1232820">
                  <a:extLst>
                    <a:ext uri="{9D8B030D-6E8A-4147-A177-3AD203B41FA5}">
                      <a16:colId xmlns:a16="http://schemas.microsoft.com/office/drawing/2014/main" val="20002"/>
                    </a:ext>
                  </a:extLst>
                </a:gridCol>
                <a:gridCol w="2054700">
                  <a:extLst>
                    <a:ext uri="{9D8B030D-6E8A-4147-A177-3AD203B41FA5}">
                      <a16:colId xmlns:a16="http://schemas.microsoft.com/office/drawing/2014/main" val="20003"/>
                    </a:ext>
                  </a:extLst>
                </a:gridCol>
                <a:gridCol w="2876580">
                  <a:extLst>
                    <a:ext uri="{9D8B030D-6E8A-4147-A177-3AD203B41FA5}">
                      <a16:colId xmlns:a16="http://schemas.microsoft.com/office/drawing/2014/main" val="20004"/>
                    </a:ext>
                  </a:extLst>
                </a:gridCol>
              </a:tblGrid>
              <a:tr h="468639">
                <a:tc gridSpan="5">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IN" sz="1600">
                          <a:solidFill>
                            <a:schemeClr val="bg1"/>
                          </a:solidFill>
                          <a:latin typeface="Times New Roman" panose="02020603050405020304" pitchFamily="18" charset="0"/>
                          <a:cs typeface="Times New Roman" panose="02020603050405020304" pitchFamily="18" charset="0"/>
                        </a:rPr>
                        <a:t>TEAM DETAILS – TEAM No. 04</a:t>
                      </a:r>
                    </a:p>
                  </a:txBody>
                  <a:tcPr marT="34290" marB="3429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07013">
                <a:tc>
                  <a:txBody>
                    <a:bodyPr/>
                    <a:lstStyle/>
                    <a:p>
                      <a:pPr algn="ctr"/>
                      <a:r>
                        <a:rPr lang="en-US" sz="1600">
                          <a:latin typeface="Times New Roman" panose="02020603050405020304" pitchFamily="18" charset="0"/>
                          <a:cs typeface="Times New Roman" panose="02020603050405020304" pitchFamily="18" charset="0"/>
                        </a:rPr>
                        <a:t>Sl.No.</a:t>
                      </a:r>
                    </a:p>
                  </a:txBody>
                  <a:tcPr marT="34290" marB="34290" anchor="ctr"/>
                </a:tc>
                <a:tc>
                  <a:txBody>
                    <a:bodyPr/>
                    <a:lstStyle/>
                    <a:p>
                      <a:pPr algn="ctr"/>
                      <a:r>
                        <a:rPr lang="en-US" sz="1600">
                          <a:latin typeface="Times New Roman" panose="02020603050405020304" pitchFamily="18" charset="0"/>
                          <a:cs typeface="Times New Roman" panose="02020603050405020304" pitchFamily="18" charset="0"/>
                        </a:rPr>
                        <a:t>Roll No.</a:t>
                      </a:r>
                    </a:p>
                  </a:txBody>
                  <a:tcPr marT="34290" marB="34290" anchor="ctr"/>
                </a:tc>
                <a:tc>
                  <a:txBody>
                    <a:bodyPr/>
                    <a:lstStyle/>
                    <a:p>
                      <a:pPr algn="ctr"/>
                      <a:r>
                        <a:rPr lang="en-US" sz="1600">
                          <a:latin typeface="Times New Roman" panose="02020603050405020304" pitchFamily="18" charset="0"/>
                          <a:cs typeface="Times New Roman" panose="02020603050405020304" pitchFamily="18" charset="0"/>
                        </a:rPr>
                        <a:t>Div</a:t>
                      </a:r>
                    </a:p>
                  </a:txBody>
                  <a:tcPr marT="34290" marB="34290" anchor="ctr"/>
                </a:tc>
                <a:tc>
                  <a:txBody>
                    <a:bodyPr/>
                    <a:lstStyle/>
                    <a:p>
                      <a:pPr algn="ctr"/>
                      <a:r>
                        <a:rPr lang="en-US" sz="1600">
                          <a:latin typeface="Times New Roman" panose="02020603050405020304" pitchFamily="18" charset="0"/>
                          <a:cs typeface="Times New Roman" panose="02020603050405020304" pitchFamily="18" charset="0"/>
                        </a:rPr>
                        <a:t>SRN</a:t>
                      </a:r>
                    </a:p>
                  </a:txBody>
                  <a:tcPr marT="34290" marB="34290" anchor="ctr"/>
                </a:tc>
                <a:tc>
                  <a:txBody>
                    <a:bodyPr/>
                    <a:lstStyle/>
                    <a:p>
                      <a:pPr algn="ctr"/>
                      <a:r>
                        <a:rPr lang="en-US" sz="1600">
                          <a:latin typeface="Times New Roman" panose="02020603050405020304" pitchFamily="18" charset="0"/>
                          <a:cs typeface="Times New Roman" panose="02020603050405020304" pitchFamily="18" charset="0"/>
                        </a:rPr>
                        <a:t>Name</a:t>
                      </a:r>
                    </a:p>
                  </a:txBody>
                  <a:tcPr marT="34290" marB="34290" anchor="ctr"/>
                </a:tc>
                <a:extLst>
                  <a:ext uri="{0D108BD9-81ED-4DB2-BD59-A6C34878D82A}">
                    <a16:rowId xmlns:a16="http://schemas.microsoft.com/office/drawing/2014/main" val="10001"/>
                  </a:ext>
                </a:extLst>
              </a:tr>
              <a:tr h="507013">
                <a:tc>
                  <a:txBody>
                    <a:bodyPr/>
                    <a:lstStyle/>
                    <a:p>
                      <a:pPr algn="ctr"/>
                      <a:r>
                        <a:rPr lang="en-US" sz="1600">
                          <a:latin typeface="Times New Roman" panose="02020603050405020304" pitchFamily="18" charset="0"/>
                          <a:cs typeface="Times New Roman" panose="02020603050405020304" pitchFamily="18" charset="0"/>
                        </a:rPr>
                        <a:t>1</a:t>
                      </a:r>
                    </a:p>
                  </a:txBody>
                  <a:tcPr marT="34290" marB="34290" anchor="ctr"/>
                </a:tc>
                <a:tc>
                  <a:txBody>
                    <a:bodyPr/>
                    <a:lstStyle/>
                    <a:p>
                      <a:pPr algn="ctr"/>
                      <a:r>
                        <a:rPr lang="en-US" sz="1600">
                          <a:latin typeface="Times New Roman" panose="02020603050405020304" pitchFamily="18" charset="0"/>
                          <a:cs typeface="Times New Roman" panose="02020603050405020304" pitchFamily="18" charset="0"/>
                        </a:rPr>
                        <a:t>553</a:t>
                      </a:r>
                    </a:p>
                  </a:txBody>
                  <a:tcPr marT="34290" marB="34290" anchor="ctr"/>
                </a:tc>
                <a:tc>
                  <a:txBody>
                    <a:bodyPr/>
                    <a:lstStyle/>
                    <a:p>
                      <a:pPr algn="ctr"/>
                      <a:r>
                        <a:rPr lang="en-US" sz="1600">
                          <a:latin typeface="Times New Roman" panose="02020603050405020304" pitchFamily="18" charset="0"/>
                          <a:cs typeface="Times New Roman" panose="02020603050405020304" pitchFamily="18" charset="0"/>
                        </a:rPr>
                        <a:t>E</a:t>
                      </a:r>
                    </a:p>
                  </a:txBody>
                  <a:tcPr marT="34290" marB="34290" anchor="ctr"/>
                </a:tc>
                <a:tc>
                  <a:txBody>
                    <a:bodyPr/>
                    <a:lstStyle/>
                    <a:p>
                      <a:pPr algn="ctr"/>
                      <a:r>
                        <a:rPr lang="en-US" sz="1600">
                          <a:latin typeface="Times New Roman" panose="02020603050405020304" pitchFamily="18" charset="0"/>
                          <a:cs typeface="Times New Roman" panose="02020603050405020304" pitchFamily="18" charset="0"/>
                        </a:rPr>
                        <a:t>01FE23BEC287</a:t>
                      </a:r>
                    </a:p>
                  </a:txBody>
                  <a:tcPr marT="34290" marB="34290" anchor="ctr"/>
                </a:tc>
                <a:tc>
                  <a:txBody>
                    <a:bodyPr/>
                    <a:lstStyle/>
                    <a:p>
                      <a:pPr algn="ctr"/>
                      <a:r>
                        <a:rPr lang="en-US" sz="1600">
                          <a:latin typeface="Times New Roman" panose="02020603050405020304" pitchFamily="18" charset="0"/>
                          <a:cs typeface="Times New Roman" panose="02020603050405020304" pitchFamily="18" charset="0"/>
                        </a:rPr>
                        <a:t>SURAJ ALAGOUDA</a:t>
                      </a:r>
                    </a:p>
                  </a:txBody>
                  <a:tcPr marT="34290" marB="34290" anchor="ctr"/>
                </a:tc>
                <a:extLst>
                  <a:ext uri="{0D108BD9-81ED-4DB2-BD59-A6C34878D82A}">
                    <a16:rowId xmlns:a16="http://schemas.microsoft.com/office/drawing/2014/main" val="10002"/>
                  </a:ext>
                </a:extLst>
              </a:tr>
              <a:tr h="507013">
                <a:tc>
                  <a:txBody>
                    <a:bodyPr/>
                    <a:lstStyle/>
                    <a:p>
                      <a:pPr algn="ctr"/>
                      <a:r>
                        <a:rPr lang="en-US" sz="1600">
                          <a:latin typeface="Times New Roman" panose="02020603050405020304" pitchFamily="18" charset="0"/>
                          <a:cs typeface="Times New Roman" panose="02020603050405020304" pitchFamily="18" charset="0"/>
                        </a:rPr>
                        <a:t>2</a:t>
                      </a:r>
                    </a:p>
                  </a:txBody>
                  <a:tcPr marT="34290" marB="34290" anchor="ctr"/>
                </a:tc>
                <a:tc>
                  <a:txBody>
                    <a:bodyPr/>
                    <a:lstStyle/>
                    <a:p>
                      <a:pPr algn="ctr"/>
                      <a:r>
                        <a:rPr lang="en-US" sz="1600">
                          <a:latin typeface="Times New Roman" panose="02020603050405020304" pitchFamily="18" charset="0"/>
                          <a:cs typeface="Times New Roman" panose="02020603050405020304" pitchFamily="18" charset="0"/>
                        </a:rPr>
                        <a:t>552</a:t>
                      </a:r>
                    </a:p>
                  </a:txBody>
                  <a:tcPr marT="34290" marB="34290" anchor="ctr"/>
                </a:tc>
                <a:tc>
                  <a:txBody>
                    <a:bodyPr/>
                    <a:lstStyle/>
                    <a:p>
                      <a:pPr algn="ctr"/>
                      <a:r>
                        <a:rPr lang="en-US" sz="1600">
                          <a:latin typeface="Times New Roman" panose="02020603050405020304" pitchFamily="18" charset="0"/>
                          <a:cs typeface="Times New Roman" panose="02020603050405020304" pitchFamily="18" charset="0"/>
                        </a:rPr>
                        <a:t>E</a:t>
                      </a:r>
                    </a:p>
                  </a:txBody>
                  <a:tcPr marT="34290" marB="34290" anchor="ctr"/>
                </a:tc>
                <a:tc>
                  <a:txBody>
                    <a:bodyPr/>
                    <a:lstStyle/>
                    <a:p>
                      <a:pPr algn="ctr"/>
                      <a:r>
                        <a:rPr lang="en-US" sz="1600">
                          <a:latin typeface="Times New Roman" panose="02020603050405020304" pitchFamily="18" charset="0"/>
                          <a:cs typeface="Times New Roman" panose="02020603050405020304" pitchFamily="18" charset="0"/>
                        </a:rPr>
                        <a:t>01FE23BEC286</a:t>
                      </a:r>
                    </a:p>
                  </a:txBody>
                  <a:tcPr marT="34290" marB="34290" anchor="ctr"/>
                </a:tc>
                <a:tc>
                  <a:txBody>
                    <a:bodyPr/>
                    <a:lstStyle/>
                    <a:p>
                      <a:pPr algn="ctr"/>
                      <a:r>
                        <a:rPr lang="en-US" sz="1600">
                          <a:latin typeface="Times New Roman" panose="02020603050405020304" pitchFamily="18" charset="0"/>
                          <a:cs typeface="Times New Roman" panose="02020603050405020304" pitchFamily="18" charset="0"/>
                        </a:rPr>
                        <a:t>SAHANA MATHAPATI</a:t>
                      </a:r>
                    </a:p>
                  </a:txBody>
                  <a:tcPr marT="34290" marB="34290" anchor="ctr"/>
                </a:tc>
                <a:extLst>
                  <a:ext uri="{0D108BD9-81ED-4DB2-BD59-A6C34878D82A}">
                    <a16:rowId xmlns:a16="http://schemas.microsoft.com/office/drawing/2014/main" val="10003"/>
                  </a:ext>
                </a:extLst>
              </a:tr>
              <a:tr h="507013">
                <a:tc>
                  <a:txBody>
                    <a:bodyPr/>
                    <a:lstStyle/>
                    <a:p>
                      <a:pPr algn="ctr"/>
                      <a:r>
                        <a:rPr lang="en-US" sz="1600">
                          <a:latin typeface="Times New Roman" panose="02020603050405020304" pitchFamily="18" charset="0"/>
                          <a:cs typeface="Times New Roman" panose="02020603050405020304" pitchFamily="18" charset="0"/>
                        </a:rPr>
                        <a:t>3</a:t>
                      </a:r>
                    </a:p>
                  </a:txBody>
                  <a:tcPr marT="34290" marB="34290" anchor="ctr"/>
                </a:tc>
                <a:tc>
                  <a:txBody>
                    <a:bodyPr/>
                    <a:lstStyle/>
                    <a:p>
                      <a:pPr algn="ctr"/>
                      <a:r>
                        <a:rPr lang="en-US" sz="1600">
                          <a:latin typeface="Times New Roman" panose="02020603050405020304" pitchFamily="18" charset="0"/>
                          <a:cs typeface="Times New Roman" panose="02020603050405020304" pitchFamily="18" charset="0"/>
                        </a:rPr>
                        <a:t>518</a:t>
                      </a:r>
                    </a:p>
                  </a:txBody>
                  <a:tcPr marT="34290" marB="34290" anchor="ctr"/>
                </a:tc>
                <a:tc>
                  <a:txBody>
                    <a:bodyPr/>
                    <a:lstStyle/>
                    <a:p>
                      <a:pPr algn="ctr"/>
                      <a:r>
                        <a:rPr lang="en-US" sz="1600">
                          <a:latin typeface="Times New Roman" panose="02020603050405020304" pitchFamily="18" charset="0"/>
                          <a:cs typeface="Times New Roman" panose="02020603050405020304" pitchFamily="18" charset="0"/>
                        </a:rPr>
                        <a:t>E</a:t>
                      </a:r>
                    </a:p>
                  </a:txBody>
                  <a:tcPr marT="34290" marB="34290" anchor="ctr"/>
                </a:tc>
                <a:tc>
                  <a:txBody>
                    <a:bodyPr/>
                    <a:lstStyle/>
                    <a:p>
                      <a:pPr algn="ctr"/>
                      <a:r>
                        <a:rPr lang="en-US" sz="1600">
                          <a:latin typeface="Times New Roman" panose="02020603050405020304" pitchFamily="18" charset="0"/>
                          <a:cs typeface="Times New Roman" panose="02020603050405020304" pitchFamily="18" charset="0"/>
                        </a:rPr>
                        <a:t>01FE23BEC251</a:t>
                      </a:r>
                    </a:p>
                  </a:txBody>
                  <a:tcPr marT="34290" marB="34290" anchor="ctr"/>
                </a:tc>
                <a:tc>
                  <a:txBody>
                    <a:bodyPr/>
                    <a:lstStyle/>
                    <a:p>
                      <a:pPr algn="ctr"/>
                      <a:r>
                        <a:rPr lang="en-US" sz="1600">
                          <a:latin typeface="Times New Roman" panose="02020603050405020304" pitchFamily="18" charset="0"/>
                          <a:cs typeface="Times New Roman" panose="02020603050405020304" pitchFamily="18" charset="0"/>
                        </a:rPr>
                        <a:t>SAGAR NADAGADDI</a:t>
                      </a:r>
                    </a:p>
                  </a:txBody>
                  <a:tcPr marT="34290" marB="34290" anchor="ctr"/>
                </a:tc>
                <a:extLst>
                  <a:ext uri="{0D108BD9-81ED-4DB2-BD59-A6C34878D82A}">
                    <a16:rowId xmlns:a16="http://schemas.microsoft.com/office/drawing/2014/main" val="10004"/>
                  </a:ext>
                </a:extLst>
              </a:tr>
              <a:tr h="507013">
                <a:tc>
                  <a:txBody>
                    <a:bodyPr/>
                    <a:lstStyle/>
                    <a:p>
                      <a:pPr algn="ctr"/>
                      <a:r>
                        <a:rPr lang="en-US" sz="1600">
                          <a:latin typeface="Times New Roman" panose="02020603050405020304" pitchFamily="18" charset="0"/>
                          <a:cs typeface="Times New Roman" panose="02020603050405020304" pitchFamily="18" charset="0"/>
                        </a:rPr>
                        <a:t>4</a:t>
                      </a:r>
                    </a:p>
                  </a:txBody>
                  <a:tcPr marT="34290" marB="34290" anchor="ctr"/>
                </a:tc>
                <a:tc>
                  <a:txBody>
                    <a:bodyPr/>
                    <a:lstStyle/>
                    <a:p>
                      <a:pPr algn="ctr"/>
                      <a:r>
                        <a:rPr lang="en-US" sz="1600">
                          <a:latin typeface="Times New Roman" panose="02020603050405020304" pitchFamily="18" charset="0"/>
                          <a:cs typeface="Times New Roman" panose="02020603050405020304" pitchFamily="18" charset="0"/>
                        </a:rPr>
                        <a:t>543</a:t>
                      </a:r>
                    </a:p>
                  </a:txBody>
                  <a:tcPr marT="34290" marB="34290" anchor="ctr"/>
                </a:tc>
                <a:tc>
                  <a:txBody>
                    <a:bodyPr/>
                    <a:lstStyle/>
                    <a:p>
                      <a:pPr algn="ctr"/>
                      <a:r>
                        <a:rPr lang="en-US" sz="1600">
                          <a:latin typeface="Times New Roman" panose="02020603050405020304" pitchFamily="18" charset="0"/>
                          <a:cs typeface="Times New Roman" panose="02020603050405020304" pitchFamily="18" charset="0"/>
                        </a:rPr>
                        <a:t>E</a:t>
                      </a:r>
                    </a:p>
                  </a:txBody>
                  <a:tcPr marT="34290" marB="34290" anchor="ctr"/>
                </a:tc>
                <a:tc>
                  <a:txBody>
                    <a:bodyPr/>
                    <a:lstStyle/>
                    <a:p>
                      <a:pPr algn="ctr"/>
                      <a:r>
                        <a:rPr lang="en-US" sz="1600">
                          <a:latin typeface="Times New Roman" panose="02020603050405020304" pitchFamily="18" charset="0"/>
                          <a:cs typeface="Times New Roman" panose="02020603050405020304" pitchFamily="18" charset="0"/>
                        </a:rPr>
                        <a:t>01FE23BEC277</a:t>
                      </a:r>
                    </a:p>
                  </a:txBody>
                  <a:tcPr marT="34290" marB="34290" anchor="ctr"/>
                </a:tc>
                <a:tc>
                  <a:txBody>
                    <a:bodyPr/>
                    <a:lstStyle/>
                    <a:p>
                      <a:pPr algn="ctr"/>
                      <a:r>
                        <a:rPr lang="en-US" sz="1600">
                          <a:latin typeface="Times New Roman" panose="02020603050405020304" pitchFamily="18" charset="0"/>
                          <a:cs typeface="Times New Roman" panose="02020603050405020304" pitchFamily="18" charset="0"/>
                        </a:rPr>
                        <a:t>PAVITRA INDI</a:t>
                      </a:r>
                    </a:p>
                  </a:txBody>
                  <a:tcPr marT="34290" marB="34290" anchor="ctr"/>
                </a:tc>
                <a:extLst>
                  <a:ext uri="{0D108BD9-81ED-4DB2-BD59-A6C34878D82A}">
                    <a16:rowId xmlns:a16="http://schemas.microsoft.com/office/drawing/2014/main" val="10005"/>
                  </a:ext>
                </a:extLst>
              </a:tr>
            </a:tbl>
          </a:graphicData>
        </a:graphic>
      </p:graphicFrame>
      <p:sp>
        <p:nvSpPr>
          <p:cNvPr id="2" name="TextBox 1">
            <a:extLst>
              <a:ext uri="{FF2B5EF4-FFF2-40B4-BE49-F238E27FC236}">
                <a16:creationId xmlns:a16="http://schemas.microsoft.com/office/drawing/2014/main" id="{0F247570-76F5-9BDB-AB49-6E19A18C5627}"/>
              </a:ext>
            </a:extLst>
          </p:cNvPr>
          <p:cNvSpPr txBox="1"/>
          <p:nvPr/>
        </p:nvSpPr>
        <p:spPr>
          <a:xfrm>
            <a:off x="1722112" y="1050069"/>
            <a:ext cx="658043" cy="3780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933804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41DA4-54C3-932F-014A-1E8D05470DF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EFD9257-E681-E77A-F1A5-A9AF529C379C}"/>
              </a:ext>
            </a:extLst>
          </p:cNvPr>
          <p:cNvSpPr txBox="1"/>
          <p:nvPr/>
        </p:nvSpPr>
        <p:spPr>
          <a:xfrm>
            <a:off x="0" y="0"/>
            <a:ext cx="2644878" cy="338554"/>
          </a:xfrm>
          <a:prstGeom prst="rect">
            <a:avLst/>
          </a:prstGeom>
          <a:solidFill>
            <a:schemeClr val="tx2">
              <a:lumMod val="20000"/>
              <a:lumOff val="80000"/>
            </a:schemeClr>
          </a:solidFill>
        </p:spPr>
        <p:txBody>
          <a:bodyPr wrap="square">
            <a:spAutoFit/>
          </a:bodyPr>
          <a:lstStyle/>
          <a:p>
            <a:r>
              <a:rPr lang="en-US" sz="1600" b="1">
                <a:latin typeface="Times New Roman" panose="02020603050405020304" pitchFamily="18" charset="0"/>
                <a:cs typeface="Times New Roman" panose="02020603050405020304" pitchFamily="18" charset="0"/>
              </a:rPr>
              <a:t>Mini Project  (</a:t>
            </a:r>
            <a:r>
              <a:rPr lang="en-IN" sz="1600"/>
              <a:t>23EECW301</a:t>
            </a:r>
            <a:r>
              <a:rPr lang="en-US" sz="1600" b="1">
                <a:latin typeface="Times New Roman" panose="02020603050405020304" pitchFamily="18" charset="0"/>
                <a:cs typeface="Times New Roman" panose="02020603050405020304" pitchFamily="18" charset="0"/>
              </a:rPr>
              <a:t>)</a:t>
            </a:r>
            <a:endParaRPr lang="en-IN" sz="1600"/>
          </a:p>
        </p:txBody>
      </p:sp>
      <p:pic>
        <p:nvPicPr>
          <p:cNvPr id="5" name="Picture 4" descr="KLE Technological University in Hubballi">
            <a:extLst>
              <a:ext uri="{FF2B5EF4-FFF2-40B4-BE49-F238E27FC236}">
                <a16:creationId xmlns:a16="http://schemas.microsoft.com/office/drawing/2014/main" id="{AD817028-BE68-6CAA-9CCB-342F6A611B05}"/>
              </a:ext>
            </a:extLst>
          </p:cNvPr>
          <p:cNvPicPr>
            <a:picLocks noChangeAspect="1"/>
          </p:cNvPicPr>
          <p:nvPr/>
        </p:nvPicPr>
        <p:blipFill rotWithShape="1">
          <a:blip r:embed="rId2">
            <a:extLst>
              <a:ext uri="{28A0092B-C50C-407E-A947-70E740481C1C}">
                <a14:useLocalDpi xmlns:a14="http://schemas.microsoft.com/office/drawing/2010/main" val="0"/>
              </a:ext>
            </a:extLst>
          </a:blip>
          <a:srcRect t="37713" b="37711"/>
          <a:stretch/>
        </p:blipFill>
        <p:spPr bwMode="auto">
          <a:xfrm>
            <a:off x="10569676" y="0"/>
            <a:ext cx="1622323" cy="381757"/>
          </a:xfrm>
          <a:prstGeom prst="rect">
            <a:avLst/>
          </a:prstGeom>
          <a:noFill/>
          <a:ln>
            <a:noFill/>
          </a:ln>
          <a:extLst>
            <a:ext uri="{53640926-AAD7-44D8-BBD7-CCE9431645EC}">
              <a14:shadowObscured xmlns:a14="http://schemas.microsoft.com/office/drawing/2010/main"/>
            </a:ext>
          </a:extLst>
        </p:spPr>
      </p:pic>
      <p:sp>
        <p:nvSpPr>
          <p:cNvPr id="2" name="TextBox 1">
            <a:extLst>
              <a:ext uri="{FF2B5EF4-FFF2-40B4-BE49-F238E27FC236}">
                <a16:creationId xmlns:a16="http://schemas.microsoft.com/office/drawing/2014/main" id="{C68AF2E4-FD2D-2548-F837-21CDCE3501A9}"/>
              </a:ext>
            </a:extLst>
          </p:cNvPr>
          <p:cNvSpPr txBox="1"/>
          <p:nvPr/>
        </p:nvSpPr>
        <p:spPr>
          <a:xfrm>
            <a:off x="474157" y="1034879"/>
            <a:ext cx="11257721" cy="59400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a:latin typeface="Times New Roman"/>
                <a:ea typeface="+mn-lt"/>
                <a:cs typeface="+mn-lt"/>
              </a:rPr>
              <a:t>Mobile chargers are compact power-conversion devices designed to safely convert 230V AC from the mains into a stable 5V DC supply required by smartphones and other portable gadgets. </a:t>
            </a:r>
            <a:endParaRPr lang="en-US"/>
          </a:p>
          <a:p>
            <a:pPr algn="just"/>
            <a:endParaRPr lang="en-US" sz="2000">
              <a:latin typeface="Times New Roman"/>
              <a:ea typeface="+mn-lt"/>
              <a:cs typeface="+mn-lt"/>
            </a:endParaRPr>
          </a:p>
          <a:p>
            <a:pPr marL="342900" indent="-342900" algn="just">
              <a:buFont typeface="Wingdings"/>
              <a:buChar char="Ø"/>
            </a:pPr>
            <a:r>
              <a:rPr lang="en-US" sz="2000">
                <a:latin typeface="Times New Roman"/>
                <a:ea typeface="+mn-lt"/>
                <a:cs typeface="+mn-lt"/>
              </a:rPr>
              <a:t>With the wide spread use of the electronic devices, there is an increasing need for safe, stable, and reliable charging methods. A properly designed charger ensures protection from voltage fluctuations, delivers a well-regulated 5V DC output, and helps maintain battery health and device safety.</a:t>
            </a:r>
            <a:endParaRPr lang="en-US"/>
          </a:p>
          <a:p>
            <a:pPr algn="just"/>
            <a:endParaRPr lang="en-US" sz="2000">
              <a:latin typeface="Times New Roman"/>
              <a:ea typeface="+mn-lt"/>
              <a:cs typeface="+mn-lt"/>
            </a:endParaRPr>
          </a:p>
          <a:p>
            <a:pPr marL="342900" indent="-342900" algn="just">
              <a:buFont typeface="Wingdings"/>
              <a:buChar char="Ø"/>
            </a:pPr>
            <a:r>
              <a:rPr lang="en-US" sz="2000">
                <a:latin typeface="Times New Roman"/>
                <a:ea typeface="+mn-lt"/>
                <a:cs typeface="+mn-lt"/>
              </a:rPr>
              <a:t>A conventional mobile charger uses a linear power supply circuit that converts the 230V AC mains into a stable 5V DC output, achieved through elements such as a step-down transformer, diode rectifier, filter network, and a fixed voltage regulator.</a:t>
            </a:r>
          </a:p>
          <a:p>
            <a:pPr algn="just"/>
            <a:endParaRPr lang="en-US" sz="2000">
              <a:latin typeface="Times New Roman"/>
              <a:ea typeface="+mn-lt"/>
              <a:cs typeface="+mn-lt"/>
            </a:endParaRPr>
          </a:p>
          <a:p>
            <a:pPr marL="342900" indent="-342900" algn="just">
              <a:buFont typeface="Wingdings"/>
              <a:buChar char="Ø"/>
            </a:pPr>
            <a:r>
              <a:rPr lang="en-US" sz="2000">
                <a:latin typeface="Times New Roman"/>
                <a:ea typeface="+mn-lt"/>
                <a:cs typeface="+mn-lt"/>
              </a:rPr>
              <a:t>As linear charging approach provides a simple and reliable method of delivering clean DC power, making it ideal for basic mobile charging applications and small electronic devices ,and this simplicity and stability make it the ideal choice for ensuring consistent output under varying load conditions.</a:t>
            </a:r>
          </a:p>
          <a:p>
            <a:pPr algn="just"/>
            <a:endParaRPr lang="en-US" sz="2000">
              <a:latin typeface="Times New Roman"/>
              <a:ea typeface="+mn-lt"/>
              <a:cs typeface="+mn-lt"/>
            </a:endParaRPr>
          </a:p>
          <a:p>
            <a:pPr marL="342900" indent="-342900" algn="just">
              <a:buFont typeface="Wingdings"/>
              <a:buChar char="Ø"/>
            </a:pPr>
            <a:r>
              <a:rPr lang="en-US" sz="2000">
                <a:latin typeface="Times New Roman"/>
                <a:ea typeface="+mn-lt"/>
                <a:cs typeface="+mn-lt"/>
              </a:rPr>
              <a:t>Overall, this makes the linear charger a dependable option for providing the required 5V DC supply for mobile devices.</a:t>
            </a:r>
          </a:p>
          <a:p>
            <a:pPr marL="342900" indent="-342900" algn="just">
              <a:buFont typeface="Wingdings"/>
              <a:buChar char="Ø"/>
            </a:pPr>
            <a:endParaRPr lang="en-US" sz="2000">
              <a:latin typeface="Times New Roman"/>
              <a:ea typeface="+mn-lt"/>
              <a:cs typeface="+mn-lt"/>
            </a:endParaRPr>
          </a:p>
          <a:p>
            <a:pPr algn="just"/>
            <a:r>
              <a:rPr lang="en-US" sz="2000">
                <a:latin typeface="Times New Roman"/>
                <a:ea typeface="+mn-lt"/>
                <a:cs typeface="+mn-lt"/>
              </a:rPr>
              <a:t>   </a:t>
            </a:r>
          </a:p>
        </p:txBody>
      </p:sp>
      <p:sp>
        <p:nvSpPr>
          <p:cNvPr id="9" name="TextBox 8">
            <a:extLst>
              <a:ext uri="{FF2B5EF4-FFF2-40B4-BE49-F238E27FC236}">
                <a16:creationId xmlns:a16="http://schemas.microsoft.com/office/drawing/2014/main" id="{5E9315A9-AFD1-A541-2417-2EE9A6946ABE}"/>
              </a:ext>
            </a:extLst>
          </p:cNvPr>
          <p:cNvSpPr txBox="1"/>
          <p:nvPr/>
        </p:nvSpPr>
        <p:spPr>
          <a:xfrm>
            <a:off x="3216338" y="386523"/>
            <a:ext cx="5185064" cy="461665"/>
          </a:xfrm>
          <a:prstGeom prst="rect">
            <a:avLst/>
          </a:prstGeom>
          <a:noFill/>
          <a:ln>
            <a:solidFill>
              <a:schemeClr val="tx1"/>
            </a:solidFill>
          </a:ln>
        </p:spPr>
        <p:txBody>
          <a:bodyPr wrap="square" lIns="91440" tIns="45720" rIns="91440" bIns="45720" rtlCol="0" anchor="t">
            <a:spAutoFit/>
          </a:bodyPr>
          <a:lstStyle/>
          <a:p>
            <a:pPr algn="ctr"/>
            <a:r>
              <a:rPr lang="en-IN" sz="2400" b="1">
                <a:latin typeface="Times New Roman"/>
                <a:cs typeface="Times New Roman"/>
              </a:rPr>
              <a:t>Introduction</a:t>
            </a:r>
            <a:endParaRPr lang="en-IN"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2823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4B797-207B-2EE3-45DF-AED0D71A1B3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843643B-C2F1-AC3E-EAB9-6EAC0A9B8871}"/>
              </a:ext>
            </a:extLst>
          </p:cNvPr>
          <p:cNvSpPr txBox="1"/>
          <p:nvPr/>
        </p:nvSpPr>
        <p:spPr>
          <a:xfrm>
            <a:off x="0" y="0"/>
            <a:ext cx="2644878" cy="338554"/>
          </a:xfrm>
          <a:prstGeom prst="rect">
            <a:avLst/>
          </a:prstGeom>
          <a:solidFill>
            <a:schemeClr val="tx2">
              <a:lumMod val="20000"/>
              <a:lumOff val="80000"/>
            </a:schemeClr>
          </a:solidFill>
        </p:spPr>
        <p:txBody>
          <a:bodyPr wrap="square">
            <a:spAutoFit/>
          </a:bodyPr>
          <a:lstStyle/>
          <a:p>
            <a:r>
              <a:rPr lang="en-US" sz="1600" b="1">
                <a:latin typeface="Times New Roman" panose="02020603050405020304" pitchFamily="18" charset="0"/>
                <a:cs typeface="Times New Roman" panose="02020603050405020304" pitchFamily="18" charset="0"/>
              </a:rPr>
              <a:t>Mini Project  (</a:t>
            </a:r>
            <a:r>
              <a:rPr lang="en-IN" sz="1600"/>
              <a:t>23EECW301</a:t>
            </a:r>
            <a:r>
              <a:rPr lang="en-US" sz="1600" b="1">
                <a:latin typeface="Times New Roman" panose="02020603050405020304" pitchFamily="18" charset="0"/>
                <a:cs typeface="Times New Roman" panose="02020603050405020304" pitchFamily="18" charset="0"/>
              </a:rPr>
              <a:t>)</a:t>
            </a:r>
            <a:endParaRPr lang="en-IN" sz="1600"/>
          </a:p>
        </p:txBody>
      </p:sp>
      <p:pic>
        <p:nvPicPr>
          <p:cNvPr id="5" name="Picture 4" descr="KLE Technological University in Hubballi">
            <a:extLst>
              <a:ext uri="{FF2B5EF4-FFF2-40B4-BE49-F238E27FC236}">
                <a16:creationId xmlns:a16="http://schemas.microsoft.com/office/drawing/2014/main" id="{9E0FF678-8E9B-711E-7949-80E66BB4AFC5}"/>
              </a:ext>
            </a:extLst>
          </p:cNvPr>
          <p:cNvPicPr>
            <a:picLocks noChangeAspect="1"/>
          </p:cNvPicPr>
          <p:nvPr/>
        </p:nvPicPr>
        <p:blipFill rotWithShape="1">
          <a:blip r:embed="rId2">
            <a:extLst>
              <a:ext uri="{28A0092B-C50C-407E-A947-70E740481C1C}">
                <a14:useLocalDpi xmlns:a14="http://schemas.microsoft.com/office/drawing/2010/main" val="0"/>
              </a:ext>
            </a:extLst>
          </a:blip>
          <a:srcRect t="37713" b="37711"/>
          <a:stretch/>
        </p:blipFill>
        <p:spPr bwMode="auto">
          <a:xfrm>
            <a:off x="10569676" y="1"/>
            <a:ext cx="1622323" cy="461665"/>
          </a:xfrm>
          <a:prstGeom prst="rect">
            <a:avLst/>
          </a:prstGeom>
          <a:noFill/>
          <a:ln>
            <a:noFill/>
          </a:ln>
          <a:extLst>
            <a:ext uri="{53640926-AAD7-44D8-BBD7-CCE9431645EC}">
              <a14:shadowObscured xmlns:a14="http://schemas.microsoft.com/office/drawing/2010/main"/>
            </a:ext>
          </a:extLst>
        </p:spPr>
      </p:pic>
      <p:sp>
        <p:nvSpPr>
          <p:cNvPr id="4" name="TextBox 3">
            <a:extLst>
              <a:ext uri="{FF2B5EF4-FFF2-40B4-BE49-F238E27FC236}">
                <a16:creationId xmlns:a16="http://schemas.microsoft.com/office/drawing/2014/main" id="{AF24AE6E-13B8-33A4-540B-7C7E19641706}"/>
              </a:ext>
            </a:extLst>
          </p:cNvPr>
          <p:cNvSpPr txBox="1"/>
          <p:nvPr/>
        </p:nvSpPr>
        <p:spPr>
          <a:xfrm>
            <a:off x="3282598" y="165653"/>
            <a:ext cx="5185064" cy="461665"/>
          </a:xfrm>
          <a:prstGeom prst="rect">
            <a:avLst/>
          </a:prstGeom>
          <a:noFill/>
          <a:ln>
            <a:solidFill>
              <a:schemeClr val="tx1"/>
            </a:solidFill>
          </a:ln>
        </p:spPr>
        <p:txBody>
          <a:bodyPr wrap="square" lIns="91440" tIns="45720" rIns="91440" bIns="45720" rtlCol="0" anchor="t">
            <a:spAutoFit/>
          </a:bodyPr>
          <a:lstStyle/>
          <a:p>
            <a:pPr algn="ctr"/>
            <a:r>
              <a:rPr lang="en-IN" sz="2400" b="1">
                <a:latin typeface="Times New Roman"/>
                <a:cs typeface="Times New Roman"/>
              </a:rPr>
              <a:t>Literature Survey</a:t>
            </a:r>
            <a:endParaRPr lang="en-IN" sz="2400" b="1">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2452A738-BFD3-4581-96CC-B96A72EE8164}"/>
              </a:ext>
            </a:extLst>
          </p:cNvPr>
          <p:cNvSpPr txBox="1"/>
          <p:nvPr/>
        </p:nvSpPr>
        <p:spPr>
          <a:xfrm>
            <a:off x="382753" y="778087"/>
            <a:ext cx="11434415" cy="62478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a:latin typeface="Times New Roman"/>
                <a:ea typeface="+mn-lt"/>
                <a:cs typeface="+mn-lt"/>
              </a:rPr>
              <a:t>Early mobile charging systems used linear power supplies with bulky transformers, which offered low efficiency and poor voltage stability. </a:t>
            </a:r>
            <a:endParaRPr lang="en-US" sz="2000">
              <a:latin typeface="Calibri" panose="020F0502020204030204"/>
              <a:ea typeface="+mn-lt"/>
              <a:cs typeface="+mn-lt"/>
            </a:endParaRPr>
          </a:p>
          <a:p>
            <a:pPr marL="342900" indent="-342900" algn="just">
              <a:buFont typeface="Wingdings"/>
              <a:buChar char="Ø"/>
            </a:pPr>
            <a:r>
              <a:rPr lang="en-US" sz="2000">
                <a:latin typeface="Times New Roman"/>
                <a:ea typeface="+mn-lt"/>
                <a:cs typeface="+mn-lt"/>
              </a:rPr>
              <a:t>Advancements in power electronics, SMPS-based chargers were developed to provide higher efficiency, compact size, and better voltage regulation. However, some studies note that SMPS circuits are not preferred in very simple or low-power applications because their design is more complex, requires more components, and involves high-frequency switching. </a:t>
            </a:r>
            <a:endParaRPr lang="en-US" sz="2000">
              <a:latin typeface="Calibri" panose="020F0502020204030204"/>
              <a:ea typeface="+mn-lt"/>
              <a:cs typeface="+mn-lt"/>
            </a:endParaRPr>
          </a:p>
          <a:p>
            <a:pPr marL="342900" indent="-342900" algn="just">
              <a:buFont typeface="Wingdings"/>
              <a:buChar char="Ø"/>
            </a:pPr>
            <a:r>
              <a:rPr lang="en-US" sz="2000">
                <a:latin typeface="Times New Roman"/>
                <a:ea typeface="+mn-lt"/>
                <a:cs typeface="+mn-lt"/>
              </a:rPr>
              <a:t>Research  explains the use of bridge rectifiers and filter capacitors for converting AC to smooth DC while reducing ripple and improving power quality. </a:t>
            </a:r>
            <a:endParaRPr lang="en-US" sz="2000">
              <a:latin typeface="Calibri" panose="020F0502020204030204"/>
              <a:ea typeface="+mn-lt"/>
              <a:cs typeface="+mn-lt"/>
            </a:endParaRPr>
          </a:p>
          <a:p>
            <a:pPr marL="342900" indent="-342900" algn="just">
              <a:buFont typeface="Wingdings"/>
              <a:buChar char="Ø"/>
            </a:pPr>
            <a:r>
              <a:rPr lang="en-US" sz="2000">
                <a:latin typeface="Times New Roman"/>
                <a:ea typeface="+mn-lt"/>
                <a:cs typeface="+mn-lt"/>
              </a:rPr>
              <a:t>Comparative studies show that linear regulators such as the 7805 with modern PWM-based regulators and DC-DC buck converters, highlighting significant improvements in efficiency and heat reduction.</a:t>
            </a:r>
            <a:endParaRPr lang="en-US" sz="2000">
              <a:ea typeface="Calibri" panose="020F0502020204030204"/>
              <a:cs typeface="Calibri" panose="020F0502020204030204"/>
            </a:endParaRPr>
          </a:p>
          <a:p>
            <a:pPr marL="342900" indent="-342900" algn="just">
              <a:buFont typeface="Wingdings"/>
              <a:buChar char="Ø"/>
            </a:pPr>
            <a:r>
              <a:rPr lang="en-US" sz="2000">
                <a:latin typeface="Times New Roman"/>
                <a:ea typeface="+mn-lt"/>
                <a:cs typeface="+mn-lt"/>
              </a:rPr>
              <a:t>Literature also highlights the integration of essential protection features, including over-voltage protection, short-circuit protection, thermal shutdown constant-current, constant-voltage control to ensure safe charging.</a:t>
            </a:r>
          </a:p>
          <a:p>
            <a:pPr marL="342900" indent="-342900" algn="just">
              <a:buFont typeface="Wingdings"/>
              <a:buChar char="Ø"/>
            </a:pPr>
            <a:r>
              <a:rPr lang="en-US" sz="2000">
                <a:latin typeface="Times New Roman"/>
                <a:ea typeface="+mn-lt"/>
                <a:cs typeface="+mn-lt"/>
              </a:rPr>
              <a:t>Recent research emphasizes fast charging technologies such as Quick Charge and USB-PD, which use communication protocols to negotiate appropriate voltage and current levels between the charger and the mobile device.</a:t>
            </a:r>
            <a:endParaRPr lang="en-US" sz="2000">
              <a:latin typeface="Times New Roman"/>
              <a:ea typeface="Calibri" panose="020F0502020204030204"/>
              <a:cs typeface="Calibri" panose="020F0502020204030204"/>
            </a:endParaRPr>
          </a:p>
          <a:p>
            <a:pPr marL="342900" indent="-342900" algn="just">
              <a:buFont typeface="Wingdings"/>
              <a:buChar char="Ø"/>
            </a:pPr>
            <a:r>
              <a:rPr lang="en-US" sz="2000">
                <a:latin typeface="Times New Roman"/>
                <a:ea typeface="+mn-lt"/>
                <a:cs typeface="Times New Roman"/>
              </a:rPr>
              <a:t>Modern developments focus on miniaturization and improved efficiency, supported by high-frequency switching.</a:t>
            </a:r>
            <a:endParaRPr lang="en-US" sz="2000">
              <a:latin typeface="Times New Roman"/>
              <a:ea typeface="Calibri" panose="020F0502020204030204"/>
              <a:cs typeface="Times New Roman"/>
            </a:endParaRPr>
          </a:p>
          <a:p>
            <a:pPr algn="just"/>
            <a:endParaRPr lang="en-US" sz="2000">
              <a:latin typeface="Times New Roman"/>
              <a:ea typeface="Calibri" panose="020F0502020204030204"/>
              <a:cs typeface="Calibri" panose="020F0502020204030204"/>
            </a:endParaRPr>
          </a:p>
          <a:p>
            <a:pPr algn="just"/>
            <a:endParaRPr lang="en-US" sz="2000">
              <a:latin typeface="Times New Roman"/>
              <a:ea typeface="Calibri" panose="020F0502020204030204"/>
              <a:cs typeface="Calibri" panose="020F0502020204030204"/>
            </a:endParaRPr>
          </a:p>
        </p:txBody>
      </p:sp>
    </p:spTree>
    <p:extLst>
      <p:ext uri="{BB962C8B-B14F-4D97-AF65-F5344CB8AC3E}">
        <p14:creationId xmlns:p14="http://schemas.microsoft.com/office/powerpoint/2010/main" val="1272412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8B1A75-A829-90E1-17C3-4A2CD15A2904}"/>
              </a:ext>
            </a:extLst>
          </p:cNvPr>
          <p:cNvSpPr txBox="1"/>
          <p:nvPr/>
        </p:nvSpPr>
        <p:spPr>
          <a:xfrm>
            <a:off x="0" y="0"/>
            <a:ext cx="2644878" cy="338554"/>
          </a:xfrm>
          <a:prstGeom prst="rect">
            <a:avLst/>
          </a:prstGeom>
          <a:solidFill>
            <a:schemeClr val="tx2">
              <a:lumMod val="20000"/>
              <a:lumOff val="80000"/>
            </a:schemeClr>
          </a:solidFill>
        </p:spPr>
        <p:txBody>
          <a:bodyPr wrap="square">
            <a:spAutoFit/>
          </a:bodyPr>
          <a:lstStyle/>
          <a:p>
            <a:r>
              <a:rPr lang="en-US" sz="1600" b="1">
                <a:latin typeface="Times New Roman" panose="02020603050405020304" pitchFamily="18" charset="0"/>
                <a:cs typeface="Times New Roman" panose="02020603050405020304" pitchFamily="18" charset="0"/>
              </a:rPr>
              <a:t>Mini Project  (</a:t>
            </a:r>
            <a:r>
              <a:rPr lang="en-IN" sz="1600"/>
              <a:t>23EECW301</a:t>
            </a:r>
            <a:r>
              <a:rPr lang="en-US" sz="1600" b="1">
                <a:latin typeface="Times New Roman" panose="02020603050405020304" pitchFamily="18" charset="0"/>
                <a:cs typeface="Times New Roman" panose="02020603050405020304" pitchFamily="18" charset="0"/>
              </a:rPr>
              <a:t>)</a:t>
            </a:r>
            <a:endParaRPr lang="en-IN" sz="1600"/>
          </a:p>
        </p:txBody>
      </p:sp>
      <p:pic>
        <p:nvPicPr>
          <p:cNvPr id="3" name="Picture 2" descr="KLE Technological University in Hubballi">
            <a:extLst>
              <a:ext uri="{FF2B5EF4-FFF2-40B4-BE49-F238E27FC236}">
                <a16:creationId xmlns:a16="http://schemas.microsoft.com/office/drawing/2014/main" id="{906F6857-15A0-DAF3-34E0-5A61EAB63FAE}"/>
              </a:ext>
            </a:extLst>
          </p:cNvPr>
          <p:cNvPicPr>
            <a:picLocks noChangeAspect="1"/>
          </p:cNvPicPr>
          <p:nvPr/>
        </p:nvPicPr>
        <p:blipFill rotWithShape="1">
          <a:blip r:embed="rId2">
            <a:extLst>
              <a:ext uri="{28A0092B-C50C-407E-A947-70E740481C1C}">
                <a14:useLocalDpi xmlns:a14="http://schemas.microsoft.com/office/drawing/2010/main" val="0"/>
              </a:ext>
            </a:extLst>
          </a:blip>
          <a:srcRect t="37713" b="37711"/>
          <a:stretch/>
        </p:blipFill>
        <p:spPr bwMode="auto">
          <a:xfrm>
            <a:off x="10569676" y="1"/>
            <a:ext cx="1622323" cy="461665"/>
          </a:xfrm>
          <a:prstGeom prst="rect">
            <a:avLst/>
          </a:prstGeom>
          <a:noFill/>
          <a:ln>
            <a:noFill/>
          </a:ln>
          <a:extLst>
            <a:ext uri="{53640926-AAD7-44D8-BBD7-CCE9431645EC}">
              <a14:shadowObscured xmlns:a14="http://schemas.microsoft.com/office/drawing/2010/main"/>
            </a:ext>
          </a:extLst>
        </p:spPr>
      </p:pic>
      <p:sp>
        <p:nvSpPr>
          <p:cNvPr id="4" name="TextBox 3">
            <a:extLst>
              <a:ext uri="{FF2B5EF4-FFF2-40B4-BE49-F238E27FC236}">
                <a16:creationId xmlns:a16="http://schemas.microsoft.com/office/drawing/2014/main" id="{090362A9-E9A5-5EA7-F013-0C282B60226A}"/>
              </a:ext>
            </a:extLst>
          </p:cNvPr>
          <p:cNvSpPr txBox="1"/>
          <p:nvPr/>
        </p:nvSpPr>
        <p:spPr>
          <a:xfrm>
            <a:off x="3503468" y="107721"/>
            <a:ext cx="5185064" cy="461665"/>
          </a:xfrm>
          <a:prstGeom prst="rect">
            <a:avLst/>
          </a:prstGeom>
          <a:noFill/>
          <a:ln>
            <a:solidFill>
              <a:schemeClr val="tx1"/>
            </a:solidFill>
          </a:ln>
        </p:spPr>
        <p:txBody>
          <a:bodyPr wrap="square" lIns="91440" tIns="45720" rIns="91440" bIns="45720" rtlCol="0" anchor="t">
            <a:spAutoFit/>
          </a:bodyPr>
          <a:lstStyle/>
          <a:p>
            <a:pPr algn="ctr"/>
            <a:r>
              <a:rPr lang="en-IN" sz="2400" b="1">
                <a:latin typeface="Times New Roman" panose="02020603050405020304" pitchFamily="18" charset="0"/>
                <a:cs typeface="Times New Roman" panose="02020603050405020304" pitchFamily="18" charset="0"/>
              </a:rPr>
              <a:t>Variants with Specifications</a:t>
            </a: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16AA2501-6E7E-7C43-A12C-D5009832C573}"/>
                  </a:ext>
                </a:extLst>
              </p:cNvPr>
              <p:cNvGraphicFramePr>
                <a:graphicFrameLocks noGrp="1"/>
              </p:cNvGraphicFramePr>
              <p:nvPr>
                <p:extLst>
                  <p:ext uri="{D42A27DB-BD31-4B8C-83A1-F6EECF244321}">
                    <p14:modId xmlns:p14="http://schemas.microsoft.com/office/powerpoint/2010/main" val="1668605143"/>
                  </p:ext>
                </p:extLst>
              </p:nvPr>
            </p:nvGraphicFramePr>
            <p:xfrm>
              <a:off x="203199" y="698090"/>
              <a:ext cx="11841317" cy="5889523"/>
            </p:xfrm>
            <a:graphic>
              <a:graphicData uri="http://schemas.openxmlformats.org/drawingml/2006/table">
                <a:tbl>
                  <a:tblPr firstRow="1" bandRow="1">
                    <a:tableStyleId>{5C22544A-7EE6-4342-B048-85BDC9FD1C3A}</a:tableStyleId>
                  </a:tblPr>
                  <a:tblGrid>
                    <a:gridCol w="11841317">
                      <a:extLst>
                        <a:ext uri="{9D8B030D-6E8A-4147-A177-3AD203B41FA5}">
                          <a16:colId xmlns:a16="http://schemas.microsoft.com/office/drawing/2014/main" val="2315502694"/>
                        </a:ext>
                      </a:extLst>
                    </a:gridCol>
                  </a:tblGrid>
                  <a:tr h="2938977">
                    <a:tc>
                      <a:txBody>
                        <a:bodyPr/>
                        <a:lstStyle/>
                        <a:p>
                          <a:pPr marL="342900" indent="-342900">
                            <a:buAutoNum type="arabicPeriod"/>
                          </a:pPr>
                          <a:r>
                            <a:rPr lang="en-IN" b="1">
                              <a:solidFill>
                                <a:schemeClr val="tx1"/>
                              </a:solidFill>
                              <a:latin typeface="Times New Roman" panose="02020603050405020304" pitchFamily="18" charset="0"/>
                              <a:cs typeface="Times New Roman" panose="02020603050405020304" pitchFamily="18" charset="0"/>
                            </a:rPr>
                            <a:t>Linear Regulated Power supply using Regulator IC’s :</a:t>
                          </a:r>
                        </a:p>
                        <a:p>
                          <a:pPr marL="285750" indent="-285750">
                            <a:buFont typeface="Wingdings" panose="05000000000000000000" pitchFamily="2" charset="2"/>
                            <a:buChar char="Ø"/>
                          </a:pPr>
                          <a:r>
                            <a:rPr lang="en-IN" b="0">
                              <a:solidFill>
                                <a:schemeClr val="tx1"/>
                              </a:solidFill>
                              <a:latin typeface="Times New Roman" panose="02020603050405020304" pitchFamily="18" charset="0"/>
                              <a:cs typeface="Times New Roman" panose="02020603050405020304" pitchFamily="18" charset="0"/>
                            </a:rPr>
                            <a:t>Specifications :</a:t>
                          </a:r>
                        </a:p>
                        <a:p>
                          <a:pPr marL="285750" indent="-285750">
                            <a:buFont typeface="Arial" panose="020B0604020202020204" pitchFamily="34" charset="0"/>
                            <a:buChar char="•"/>
                          </a:pPr>
                          <a:r>
                            <a:rPr lang="en-IN" b="0">
                              <a:solidFill>
                                <a:schemeClr val="tx1"/>
                              </a:solidFill>
                              <a:latin typeface="Times New Roman" panose="02020603050405020304" pitchFamily="18" charset="0"/>
                              <a:cs typeface="Times New Roman" panose="02020603050405020304" pitchFamily="18" charset="0"/>
                            </a:rPr>
                            <a:t>Input supply : 230 V AC </a:t>
                          </a:r>
                          <a:r>
                            <a:rPr lang="en-IN" b="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12 AC using Transformer</a:t>
                          </a:r>
                        </a:p>
                        <a:p>
                          <a:pPr marL="285750" indent="-285750">
                            <a:buFont typeface="Arial" panose="020B0604020202020204" pitchFamily="34" charset="0"/>
                            <a:buChar char="•"/>
                          </a:pPr>
                          <a:r>
                            <a:rPr lang="en-IN" b="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Regulating Device : 7805</a:t>
                          </a:r>
                        </a:p>
                        <a:p>
                          <a:pPr marL="285750" indent="-285750">
                            <a:buFont typeface="Arial" panose="020B0604020202020204" pitchFamily="34" charset="0"/>
                            <a:buChar char="•"/>
                          </a:pPr>
                          <a:r>
                            <a:rPr lang="en-IN" b="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Output voltage = 5V </a:t>
                          </a:r>
                          <a14:m>
                            <m:oMath xmlns:m="http://schemas.openxmlformats.org/officeDocument/2006/math">
                              <m:r>
                                <a:rPr lang="en-IN"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sym typeface="Wingdings" panose="05000000000000000000" pitchFamily="2" charset="2"/>
                                </a:rPr>
                                <m:t>±</m:t>
                              </m:r>
                            </m:oMath>
                          </a14:m>
                          <a:r>
                            <a:rPr lang="en-IN" b="0">
                              <a:solidFill>
                                <a:schemeClr val="tx1"/>
                              </a:solidFill>
                              <a:latin typeface="Times New Roman" panose="02020603050405020304" pitchFamily="18" charset="0"/>
                              <a:cs typeface="Times New Roman" panose="02020603050405020304" pitchFamily="18" charset="0"/>
                            </a:rPr>
                            <a:t>5% and</a:t>
                          </a:r>
                          <a:r>
                            <a:rPr lang="en-IN" b="0" baseline="0">
                              <a:solidFill>
                                <a:schemeClr val="tx1"/>
                              </a:solidFill>
                              <a:latin typeface="Times New Roman" panose="02020603050405020304" pitchFamily="18" charset="0"/>
                              <a:cs typeface="Times New Roman" panose="02020603050405020304" pitchFamily="18" charset="0"/>
                            </a:rPr>
                            <a:t> Output max. current = 1A</a:t>
                          </a:r>
                        </a:p>
                        <a:p>
                          <a:pPr marL="285750" indent="-285750">
                            <a:buFont typeface="Arial" panose="020B0604020202020204" pitchFamily="34" charset="0"/>
                            <a:buChar char="•"/>
                          </a:pPr>
                          <a:r>
                            <a:rPr lang="en-IN" b="0" baseline="0">
                              <a:solidFill>
                                <a:schemeClr val="tx1"/>
                              </a:solidFill>
                              <a:latin typeface="Times New Roman" panose="02020603050405020304" pitchFamily="18" charset="0"/>
                              <a:cs typeface="Times New Roman" panose="02020603050405020304" pitchFamily="18" charset="0"/>
                            </a:rPr>
                            <a:t>Efficiency : 35 to 45 %</a:t>
                          </a:r>
                        </a:p>
                        <a:p>
                          <a:pPr marL="285750" indent="-285750">
                            <a:buFont typeface="Arial" panose="020B0604020202020204" pitchFamily="34" charset="0"/>
                            <a:buChar char="•"/>
                          </a:pPr>
                          <a:r>
                            <a:rPr lang="en-IN" b="0" baseline="0">
                              <a:solidFill>
                                <a:schemeClr val="tx1"/>
                              </a:solidFill>
                              <a:latin typeface="Times New Roman" panose="02020603050405020304" pitchFamily="18" charset="0"/>
                              <a:cs typeface="Times New Roman" panose="02020603050405020304" pitchFamily="18" charset="0"/>
                            </a:rPr>
                            <a:t>Output Ripple voltage &lt; 50mV</a:t>
                          </a:r>
                        </a:p>
                        <a:p>
                          <a:pPr marL="285750" indent="-285750">
                            <a:buFont typeface="Arial" panose="020B0604020202020204" pitchFamily="34" charset="0"/>
                            <a:buChar char="•"/>
                          </a:pPr>
                          <a:r>
                            <a:rPr lang="en-IN" b="0" baseline="0">
                              <a:solidFill>
                                <a:schemeClr val="tx1"/>
                              </a:solidFill>
                              <a:latin typeface="Times New Roman" panose="02020603050405020304" pitchFamily="18" charset="0"/>
                              <a:cs typeface="Times New Roman" panose="02020603050405020304" pitchFamily="18" charset="0"/>
                            </a:rPr>
                            <a:t>Low Noise</a:t>
                          </a:r>
                        </a:p>
                        <a:p>
                          <a:pPr marL="285750" indent="-285750">
                            <a:buFont typeface="Arial" panose="020B0604020202020204" pitchFamily="34" charset="0"/>
                            <a:buChar char="•"/>
                          </a:pPr>
                          <a:r>
                            <a:rPr lang="en-IN" b="0" baseline="0">
                              <a:solidFill>
                                <a:schemeClr val="tx1"/>
                              </a:solidFill>
                              <a:latin typeface="Times New Roman" panose="02020603050405020304" pitchFamily="18" charset="0"/>
                              <a:cs typeface="Times New Roman" panose="02020603050405020304" pitchFamily="18" charset="0"/>
                            </a:rPr>
                            <a:t>Heat Sink required.</a:t>
                          </a:r>
                        </a:p>
                        <a:p>
                          <a:pPr marL="285750" indent="-285750">
                            <a:buFont typeface="Arial" panose="020B0604020202020204" pitchFamily="34" charset="0"/>
                            <a:buChar char="•"/>
                          </a:pPr>
                          <a:r>
                            <a:rPr lang="en-IN" b="0" baseline="0">
                              <a:solidFill>
                                <a:schemeClr val="tx1"/>
                              </a:solidFill>
                              <a:latin typeface="Times New Roman" panose="02020603050405020304" pitchFamily="18" charset="0"/>
                              <a:cs typeface="Times New Roman" panose="02020603050405020304" pitchFamily="18" charset="0"/>
                            </a:rPr>
                            <a:t>Suitable for analog and digital circuits.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6876102"/>
                      </a:ext>
                    </a:extLst>
                  </a:tr>
                  <a:tr h="2950546">
                    <a:tc>
                      <a:txBody>
                        <a:bodyPr/>
                        <a:lstStyle/>
                        <a:p>
                          <a:r>
                            <a:rPr lang="en-IN" b="1">
                              <a:solidFill>
                                <a:schemeClr val="tx1"/>
                              </a:solidFill>
                              <a:latin typeface="Times New Roman" panose="02020603050405020304" pitchFamily="18" charset="0"/>
                              <a:cs typeface="Times New Roman" panose="02020603050405020304" pitchFamily="18" charset="0"/>
                            </a:rPr>
                            <a:t>2. </a:t>
                          </a:r>
                          <a:r>
                            <a:rPr lang="en-IN" b="1">
                              <a:latin typeface="Times New Roman" panose="02020603050405020304" pitchFamily="18" charset="0"/>
                              <a:cs typeface="Times New Roman" panose="02020603050405020304" pitchFamily="18" charset="0"/>
                            </a:rPr>
                            <a:t>Switch Mode Power Supply ( SMPS )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IN" b="0">
                              <a:solidFill>
                                <a:schemeClr val="tx1"/>
                              </a:solidFill>
                              <a:latin typeface="Times New Roman" panose="02020603050405020304" pitchFamily="18" charset="0"/>
                              <a:cs typeface="Times New Roman" panose="02020603050405020304" pitchFamily="18" charset="0"/>
                            </a:rPr>
                            <a:t>Specifications :</a:t>
                          </a:r>
                        </a:p>
                        <a:p>
                          <a:pPr marL="285750" indent="-285750">
                            <a:buFont typeface="Arial" panose="020B0604020202020204" pitchFamily="34" charset="0"/>
                            <a:buChar char="•"/>
                          </a:pPr>
                          <a:r>
                            <a:rPr lang="en-IN" b="0">
                              <a:solidFill>
                                <a:schemeClr val="tx1"/>
                              </a:solidFill>
                              <a:latin typeface="Times New Roman" panose="02020603050405020304" pitchFamily="18" charset="0"/>
                              <a:cs typeface="Times New Roman" panose="02020603050405020304" pitchFamily="18" charset="0"/>
                            </a:rPr>
                            <a:t>Input Supply : 230 V AV </a:t>
                          </a:r>
                          <a:r>
                            <a:rPr lang="en-IN" b="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Rectified DC  DC-DC Buck converter.</a:t>
                          </a:r>
                        </a:p>
                        <a:p>
                          <a:pPr marL="285750" indent="-285750">
                            <a:buFont typeface="Arial" panose="020B0604020202020204" pitchFamily="34" charset="0"/>
                            <a:buChar char="•"/>
                          </a:pPr>
                          <a:r>
                            <a:rPr lang="en-IN" b="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High frequency switching.</a:t>
                          </a:r>
                        </a:p>
                        <a:p>
                          <a:pPr marL="285750" indent="-285750">
                            <a:buFont typeface="Arial" panose="020B0604020202020204" pitchFamily="34" charset="0"/>
                            <a:buChar char="•"/>
                          </a:pPr>
                          <a:r>
                            <a:rPr lang="en-IN" b="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Output voltage = 5 V DC and Output max. current is between 3 to 4 A depending on module.</a:t>
                          </a:r>
                        </a:p>
                        <a:p>
                          <a:pPr marL="285750" indent="-285750">
                            <a:buFont typeface="Arial" panose="020B0604020202020204" pitchFamily="34" charset="0"/>
                            <a:buChar char="•"/>
                          </a:pPr>
                          <a:r>
                            <a:rPr lang="en-IN" b="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Efficiency = 85 to 90 %</a:t>
                          </a:r>
                        </a:p>
                        <a:p>
                          <a:pPr marL="285750" indent="-285750">
                            <a:buFont typeface="Arial" panose="020B0604020202020204" pitchFamily="34" charset="0"/>
                            <a:buChar char="•"/>
                          </a:pPr>
                          <a:r>
                            <a:rPr lang="en-IN" b="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Low Heat generation.</a:t>
                          </a:r>
                        </a:p>
                        <a:p>
                          <a:pPr marL="285750" indent="-285750">
                            <a:buFont typeface="Arial" panose="020B0604020202020204" pitchFamily="34" charset="0"/>
                            <a:buChar char="•"/>
                          </a:pPr>
                          <a:r>
                            <a:rPr lang="en-IN" b="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Higher Noise.</a:t>
                          </a:r>
                        </a:p>
                        <a:p>
                          <a:pPr marL="285750" indent="-285750">
                            <a:buFont typeface="Arial" panose="020B0604020202020204" pitchFamily="34" charset="0"/>
                            <a:buChar char="•"/>
                          </a:pPr>
                          <a:r>
                            <a:rPr lang="en-IN" b="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Heat Sink not required.</a:t>
                          </a:r>
                        </a:p>
                        <a:p>
                          <a:pPr marL="285750" indent="-285750">
                            <a:buFont typeface="Arial" panose="020B0604020202020204" pitchFamily="34" charset="0"/>
                            <a:buChar char="•"/>
                          </a:pPr>
                          <a:r>
                            <a:rPr lang="en-IN" b="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Suitable for adapters and commercial use.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83657339"/>
                      </a:ext>
                    </a:extLst>
                  </a:tr>
                </a:tbl>
              </a:graphicData>
            </a:graphic>
          </p:graphicFrame>
        </mc:Choice>
        <mc:Fallback xmlns="">
          <p:graphicFrame>
            <p:nvGraphicFramePr>
              <p:cNvPr id="5" name="Table 4">
                <a:extLst>
                  <a:ext uri="{FF2B5EF4-FFF2-40B4-BE49-F238E27FC236}">
                    <a16:creationId xmlns:a16="http://schemas.microsoft.com/office/drawing/2014/main" id="{16AA2501-6E7E-7C43-A12C-D5009832C573}"/>
                  </a:ext>
                </a:extLst>
              </p:cNvPr>
              <p:cNvGraphicFramePr>
                <a:graphicFrameLocks noGrp="1"/>
              </p:cNvGraphicFramePr>
              <p:nvPr>
                <p:extLst>
                  <p:ext uri="{D42A27DB-BD31-4B8C-83A1-F6EECF244321}">
                    <p14:modId xmlns:p14="http://schemas.microsoft.com/office/powerpoint/2010/main" val="1668605143"/>
                  </p:ext>
                </p:extLst>
              </p:nvPr>
            </p:nvGraphicFramePr>
            <p:xfrm>
              <a:off x="203199" y="698090"/>
              <a:ext cx="11841317" cy="5889523"/>
            </p:xfrm>
            <a:graphic>
              <a:graphicData uri="http://schemas.openxmlformats.org/drawingml/2006/table">
                <a:tbl>
                  <a:tblPr firstRow="1" bandRow="1">
                    <a:tableStyleId>{5C22544A-7EE6-4342-B048-85BDC9FD1C3A}</a:tableStyleId>
                  </a:tblPr>
                  <a:tblGrid>
                    <a:gridCol w="11841317">
                      <a:extLst>
                        <a:ext uri="{9D8B030D-6E8A-4147-A177-3AD203B41FA5}">
                          <a16:colId xmlns:a16="http://schemas.microsoft.com/office/drawing/2014/main" val="2315502694"/>
                        </a:ext>
                      </a:extLst>
                    </a:gridCol>
                  </a:tblGrid>
                  <a:tr h="2938977">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1" t="-1035" r="-103" b="-100621"/>
                          </a:stretch>
                        </a:blipFill>
                      </a:tcPr>
                    </a:tc>
                    <a:extLst>
                      <a:ext uri="{0D108BD9-81ED-4DB2-BD59-A6C34878D82A}">
                        <a16:rowId xmlns:a16="http://schemas.microsoft.com/office/drawing/2014/main" val="306876102"/>
                      </a:ext>
                    </a:extLst>
                  </a:tr>
                  <a:tr h="2950546">
                    <a:tc>
                      <a:txBody>
                        <a:bodyPr/>
                        <a:lstStyle/>
                        <a:p>
                          <a:r>
                            <a:rPr lang="en-IN" b="1">
                              <a:solidFill>
                                <a:schemeClr val="tx1"/>
                              </a:solidFill>
                              <a:latin typeface="Times New Roman" panose="02020603050405020304" pitchFamily="18" charset="0"/>
                              <a:cs typeface="Times New Roman" panose="02020603050405020304" pitchFamily="18" charset="0"/>
                            </a:rPr>
                            <a:t>2. </a:t>
                          </a:r>
                          <a:r>
                            <a:rPr lang="en-IN" b="1">
                              <a:latin typeface="Times New Roman" panose="02020603050405020304" pitchFamily="18" charset="0"/>
                              <a:cs typeface="Times New Roman" panose="02020603050405020304" pitchFamily="18" charset="0"/>
                            </a:rPr>
                            <a:t>Switch Mode Power Supply ( SMPS )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IN" b="0">
                              <a:solidFill>
                                <a:schemeClr val="tx1"/>
                              </a:solidFill>
                              <a:latin typeface="Times New Roman" panose="02020603050405020304" pitchFamily="18" charset="0"/>
                              <a:cs typeface="Times New Roman" panose="02020603050405020304" pitchFamily="18" charset="0"/>
                            </a:rPr>
                            <a:t>Specifications :</a:t>
                          </a:r>
                        </a:p>
                        <a:p>
                          <a:pPr marL="285750" indent="-285750">
                            <a:buFont typeface="Arial" panose="020B0604020202020204" pitchFamily="34" charset="0"/>
                            <a:buChar char="•"/>
                          </a:pPr>
                          <a:r>
                            <a:rPr lang="en-IN" b="0">
                              <a:solidFill>
                                <a:schemeClr val="tx1"/>
                              </a:solidFill>
                              <a:latin typeface="Times New Roman" panose="02020603050405020304" pitchFamily="18" charset="0"/>
                              <a:cs typeface="Times New Roman" panose="02020603050405020304" pitchFamily="18" charset="0"/>
                            </a:rPr>
                            <a:t>Input Supply : 230 V AV </a:t>
                          </a:r>
                          <a:r>
                            <a:rPr lang="en-IN" b="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Rectified DC  DC-DC Buck converter.</a:t>
                          </a:r>
                        </a:p>
                        <a:p>
                          <a:pPr marL="285750" indent="-285750">
                            <a:buFont typeface="Arial" panose="020B0604020202020204" pitchFamily="34" charset="0"/>
                            <a:buChar char="•"/>
                          </a:pPr>
                          <a:r>
                            <a:rPr lang="en-IN" b="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High frequency switching.</a:t>
                          </a:r>
                        </a:p>
                        <a:p>
                          <a:pPr marL="285750" indent="-285750">
                            <a:buFont typeface="Arial" panose="020B0604020202020204" pitchFamily="34" charset="0"/>
                            <a:buChar char="•"/>
                          </a:pPr>
                          <a:r>
                            <a:rPr lang="en-IN" b="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Output voltage = 5 V DC and Output max. current is between 3 to 4 A depending on module.</a:t>
                          </a:r>
                        </a:p>
                        <a:p>
                          <a:pPr marL="285750" indent="-285750">
                            <a:buFont typeface="Arial" panose="020B0604020202020204" pitchFamily="34" charset="0"/>
                            <a:buChar char="•"/>
                          </a:pPr>
                          <a:r>
                            <a:rPr lang="en-IN" b="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Efficiency = 85 to 90 %</a:t>
                          </a:r>
                        </a:p>
                        <a:p>
                          <a:pPr marL="285750" indent="-285750">
                            <a:buFont typeface="Arial" panose="020B0604020202020204" pitchFamily="34" charset="0"/>
                            <a:buChar char="•"/>
                          </a:pPr>
                          <a:r>
                            <a:rPr lang="en-IN" b="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Low Heat generation.</a:t>
                          </a:r>
                        </a:p>
                        <a:p>
                          <a:pPr marL="285750" indent="-285750">
                            <a:buFont typeface="Arial" panose="020B0604020202020204" pitchFamily="34" charset="0"/>
                            <a:buChar char="•"/>
                          </a:pPr>
                          <a:r>
                            <a:rPr lang="en-IN" b="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Higher Noise.</a:t>
                          </a:r>
                        </a:p>
                        <a:p>
                          <a:pPr marL="285750" indent="-285750">
                            <a:buFont typeface="Arial" panose="020B0604020202020204" pitchFamily="34" charset="0"/>
                            <a:buChar char="•"/>
                          </a:pPr>
                          <a:r>
                            <a:rPr lang="en-IN" b="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Heat Sink not required.</a:t>
                          </a:r>
                        </a:p>
                        <a:p>
                          <a:pPr marL="285750" indent="-285750">
                            <a:buFont typeface="Arial" panose="020B0604020202020204" pitchFamily="34" charset="0"/>
                            <a:buChar char="•"/>
                          </a:pPr>
                          <a:r>
                            <a:rPr lang="en-IN" b="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Suitable for adapters and commercial use.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83657339"/>
                      </a:ext>
                    </a:extLst>
                  </a:tr>
                </a:tbl>
              </a:graphicData>
            </a:graphic>
          </p:graphicFrame>
        </mc:Fallback>
      </mc:AlternateContent>
    </p:spTree>
    <p:extLst>
      <p:ext uri="{BB962C8B-B14F-4D97-AF65-F5344CB8AC3E}">
        <p14:creationId xmlns:p14="http://schemas.microsoft.com/office/powerpoint/2010/main" val="1107116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4DCB9-2711-41C3-6162-31FDF3966C4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82F3335-BED7-6814-5BAF-8644F28155DC}"/>
              </a:ext>
            </a:extLst>
          </p:cNvPr>
          <p:cNvSpPr txBox="1"/>
          <p:nvPr/>
        </p:nvSpPr>
        <p:spPr>
          <a:xfrm>
            <a:off x="0" y="0"/>
            <a:ext cx="2644878" cy="338554"/>
          </a:xfrm>
          <a:prstGeom prst="rect">
            <a:avLst/>
          </a:prstGeom>
          <a:solidFill>
            <a:schemeClr val="tx2">
              <a:lumMod val="20000"/>
              <a:lumOff val="80000"/>
            </a:schemeClr>
          </a:solidFill>
        </p:spPr>
        <p:txBody>
          <a:bodyPr wrap="square">
            <a:spAutoFit/>
          </a:bodyPr>
          <a:lstStyle/>
          <a:p>
            <a:r>
              <a:rPr lang="en-US" sz="1600" b="1">
                <a:latin typeface="Times New Roman" panose="02020603050405020304" pitchFamily="18" charset="0"/>
                <a:cs typeface="Times New Roman" panose="02020603050405020304" pitchFamily="18" charset="0"/>
              </a:rPr>
              <a:t>Mini Project  (</a:t>
            </a:r>
            <a:r>
              <a:rPr lang="en-IN" sz="1600"/>
              <a:t>23EECW301</a:t>
            </a:r>
            <a:r>
              <a:rPr lang="en-US" sz="1600" b="1">
                <a:latin typeface="Times New Roman" panose="02020603050405020304" pitchFamily="18" charset="0"/>
                <a:cs typeface="Times New Roman" panose="02020603050405020304" pitchFamily="18" charset="0"/>
              </a:rPr>
              <a:t>)</a:t>
            </a:r>
            <a:endParaRPr lang="en-IN" sz="1600"/>
          </a:p>
        </p:txBody>
      </p:sp>
      <p:pic>
        <p:nvPicPr>
          <p:cNvPr id="5" name="Picture 4" descr="KLE Technological University in Hubballi">
            <a:extLst>
              <a:ext uri="{FF2B5EF4-FFF2-40B4-BE49-F238E27FC236}">
                <a16:creationId xmlns:a16="http://schemas.microsoft.com/office/drawing/2014/main" id="{3FBE9F36-E176-2427-E02A-AB4A7128E959}"/>
              </a:ext>
            </a:extLst>
          </p:cNvPr>
          <p:cNvPicPr>
            <a:picLocks noChangeAspect="1"/>
          </p:cNvPicPr>
          <p:nvPr/>
        </p:nvPicPr>
        <p:blipFill rotWithShape="1">
          <a:blip r:embed="rId2">
            <a:extLst>
              <a:ext uri="{28A0092B-C50C-407E-A947-70E740481C1C}">
                <a14:useLocalDpi xmlns:a14="http://schemas.microsoft.com/office/drawing/2010/main" val="0"/>
              </a:ext>
            </a:extLst>
          </a:blip>
          <a:srcRect t="37713" b="37711"/>
          <a:stretch/>
        </p:blipFill>
        <p:spPr bwMode="auto">
          <a:xfrm>
            <a:off x="10569676" y="0"/>
            <a:ext cx="1622323" cy="381757"/>
          </a:xfrm>
          <a:prstGeom prst="rect">
            <a:avLst/>
          </a:prstGeom>
          <a:noFill/>
          <a:ln>
            <a:noFill/>
          </a:ln>
          <a:extLst>
            <a:ext uri="{53640926-AAD7-44D8-BBD7-CCE9431645EC}">
              <a14:shadowObscured xmlns:a14="http://schemas.microsoft.com/office/drawing/2010/main"/>
            </a:ext>
          </a:extLst>
        </p:spPr>
      </p:pic>
      <p:sp>
        <p:nvSpPr>
          <p:cNvPr id="2" name="TextBox 1">
            <a:extLst>
              <a:ext uri="{FF2B5EF4-FFF2-40B4-BE49-F238E27FC236}">
                <a16:creationId xmlns:a16="http://schemas.microsoft.com/office/drawing/2014/main" id="{1E91913B-D47F-3426-7A7C-7C09787F5466}"/>
              </a:ext>
            </a:extLst>
          </p:cNvPr>
          <p:cNvSpPr txBox="1"/>
          <p:nvPr/>
        </p:nvSpPr>
        <p:spPr>
          <a:xfrm>
            <a:off x="3271555" y="107721"/>
            <a:ext cx="5185064" cy="461665"/>
          </a:xfrm>
          <a:prstGeom prst="rect">
            <a:avLst/>
          </a:prstGeom>
          <a:noFill/>
          <a:ln>
            <a:solidFill>
              <a:schemeClr val="tx1"/>
            </a:solidFill>
          </a:ln>
        </p:spPr>
        <p:txBody>
          <a:bodyPr wrap="square" lIns="91440" tIns="45720" rIns="91440" bIns="45720" rtlCol="0" anchor="t">
            <a:spAutoFit/>
          </a:bodyPr>
          <a:lstStyle/>
          <a:p>
            <a:pPr algn="ctr"/>
            <a:r>
              <a:rPr lang="en-IN" sz="2400" b="1">
                <a:latin typeface="Times New Roman"/>
                <a:cs typeface="Times New Roman"/>
              </a:rPr>
              <a:t>Requirement Analysis</a:t>
            </a:r>
            <a:endParaRPr lang="en-IN" sz="2400" b="1">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15CBA1E-71AA-F3E4-DBC0-2C65F4F2D9A4}"/>
                  </a:ext>
                </a:extLst>
              </p:cNvPr>
              <p:cNvSpPr txBox="1"/>
              <p:nvPr/>
            </p:nvSpPr>
            <p:spPr>
              <a:xfrm>
                <a:off x="550608" y="924484"/>
                <a:ext cx="8871026" cy="5109091"/>
              </a:xfrm>
              <a:prstGeom prst="rect">
                <a:avLst/>
              </a:prstGeom>
              <a:noFill/>
            </p:spPr>
            <p:txBody>
              <a:bodyPr wrap="square" rtlCol="0">
                <a:spAutoFit/>
              </a:bodyPr>
              <a:lstStyle/>
              <a:p>
                <a:pPr marL="285750" indent="-285750">
                  <a:buFont typeface="Wingdings" panose="05000000000000000000" pitchFamily="2" charset="2"/>
                  <a:buChar char="Ø"/>
                </a:pPr>
                <a:r>
                  <a:rPr lang="en-IN" b="1">
                    <a:latin typeface="Times New Roman" panose="02020603050405020304" pitchFamily="18" charset="0"/>
                    <a:cs typeface="Times New Roman" panose="02020603050405020304" pitchFamily="18" charset="0"/>
                  </a:rPr>
                  <a:t>INPUT SUPPLY :</a:t>
                </a:r>
              </a:p>
              <a:p>
                <a:pPr marL="285750" indent="-285750">
                  <a:buFont typeface="Arial" panose="020B0604020202020204" pitchFamily="34" charset="0"/>
                  <a:buChar char="•"/>
                </a:pPr>
                <a:r>
                  <a:rPr lang="en-IN">
                    <a:latin typeface="Times New Roman"/>
                    <a:cs typeface="Times New Roman"/>
                  </a:rPr>
                  <a:t>Single Phase 230V , 50Hz AC input </a:t>
                </a:r>
              </a:p>
              <a:p>
                <a:pPr marL="285750" indent="-285750">
                  <a:buFont typeface="Arial" panose="020B0604020202020204" pitchFamily="34" charset="0"/>
                  <a:buChar char="•"/>
                </a:pPr>
                <a:r>
                  <a:rPr lang="en-IN">
                    <a:latin typeface="Times New Roman"/>
                    <a:cs typeface="Times New Roman"/>
                  </a:rPr>
                  <a:t>Ac input swin</a:t>
                </a:r>
                <a:r>
                  <a:rPr lang="en-IN">
                    <a:latin typeface="Times New Roman" panose="02020603050405020304" pitchFamily="18" charset="0"/>
                    <a:cs typeface="Times New Roman" panose="02020603050405020304" pitchFamily="18" charset="0"/>
                  </a:rPr>
                  <a:t>gs between  “ -325 V to +325 V ”</a:t>
                </a:r>
              </a:p>
              <a:p>
                <a:endParaRPr lang="en-IN" sz="12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b="1">
                    <a:latin typeface="Times New Roman" panose="02020603050405020304" pitchFamily="18" charset="0"/>
                    <a:cs typeface="Times New Roman" panose="02020603050405020304" pitchFamily="18" charset="0"/>
                  </a:rPr>
                  <a:t>OUTPUT :</a:t>
                </a:r>
              </a:p>
              <a:p>
                <a:pPr marL="28575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5V </a:t>
                </a:r>
                <a14:m>
                  <m:oMath xmlns:m="http://schemas.openxmlformats.org/officeDocument/2006/math">
                    <m:r>
                      <a:rPr lang="en-IN"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IN">
                    <a:latin typeface="Times New Roman" panose="02020603050405020304" pitchFamily="18" charset="0"/>
                    <a:cs typeface="Times New Roman" panose="02020603050405020304" pitchFamily="18" charset="0"/>
                  </a:rPr>
                  <a:t>5% Regulated DC power supply.</a:t>
                </a:r>
              </a:p>
              <a:p>
                <a:pPr marL="28575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Current rating or Maximum current is 1A.</a:t>
                </a:r>
              </a:p>
              <a:p>
                <a:pPr marL="28575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Output voltage ripple &lt; 50mV</a:t>
                </a:r>
              </a:p>
              <a:p>
                <a:endParaRPr lang="en-IN" sz="12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b="1">
                    <a:latin typeface="Times New Roman" panose="02020603050405020304" pitchFamily="18" charset="0"/>
                    <a:cs typeface="Times New Roman" panose="02020603050405020304" pitchFamily="18" charset="0"/>
                  </a:rPr>
                  <a:t>Transformer specifications : </a:t>
                </a:r>
              </a:p>
              <a:p>
                <a:pPr marL="28575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12 V – 0 V – 12 V center tapped transformer.</a:t>
                </a:r>
              </a:p>
              <a:p>
                <a:pPr marL="28575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Maximum current rating = 1A</a:t>
                </a:r>
              </a:p>
              <a:p>
                <a:pPr marL="285750" indent="-285750">
                  <a:buFont typeface="Arial" panose="020B0604020202020204" pitchFamily="34" charset="0"/>
                  <a:buChar char="•"/>
                </a:pPr>
                <a:r>
                  <a:rPr lang="en-IN">
                    <a:solidFill>
                      <a:srgbClr val="0563C1"/>
                    </a:solidFill>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val="tx"/>
                        </a:ext>
                      </a:extLst>
                    </a:hlinkClick>
                  </a:rPr>
                  <a:t>Click here</a:t>
                </a:r>
                <a:r>
                  <a:rPr lang="en-IN">
                    <a:solidFill>
                      <a:srgbClr val="00B0F0"/>
                    </a:solidFill>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val="tx"/>
                        </a:ext>
                      </a:extLst>
                    </a:hlinkClick>
                  </a:rPr>
                  <a:t> </a:t>
                </a:r>
                <a:r>
                  <a:rPr lang="en-IN">
                    <a:latin typeface="Times New Roman" panose="02020603050405020304" pitchFamily="18" charset="0"/>
                    <a:cs typeface="Times New Roman" panose="02020603050405020304" pitchFamily="18" charset="0"/>
                  </a:rPr>
                  <a:t>to know more about Transformer.</a:t>
                </a:r>
              </a:p>
              <a:p>
                <a:pPr marL="285750" indent="-285750">
                  <a:buFont typeface="Arial" panose="020B0604020202020204" pitchFamily="34" charset="0"/>
                  <a:buChar char="•"/>
                </a:pPr>
                <a:endParaRPr lang="en-IN" sz="14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b="1">
                    <a:latin typeface="Times New Roman" panose="02020603050405020304" pitchFamily="18" charset="0"/>
                    <a:cs typeface="Times New Roman" panose="02020603050405020304" pitchFamily="18" charset="0"/>
                  </a:rPr>
                  <a:t>Regulator Specifications :</a:t>
                </a:r>
              </a:p>
              <a:p>
                <a:pPr marL="28575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5V output supply.</a:t>
                </a:r>
              </a:p>
              <a:p>
                <a:pPr marL="28575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1A maximum current.</a:t>
                </a:r>
              </a:p>
              <a:p>
                <a:pPr marL="28575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hlinkClick r:id="rId4" action="ppaction://hlinksldjump"/>
                  </a:rPr>
                  <a:t>Click here </a:t>
                </a:r>
                <a:r>
                  <a:rPr lang="en-IN">
                    <a:latin typeface="Times New Roman" panose="02020603050405020304" pitchFamily="18" charset="0"/>
                    <a:cs typeface="Times New Roman" panose="02020603050405020304" pitchFamily="18" charset="0"/>
                  </a:rPr>
                  <a:t>to know more about Regulator.</a:t>
                </a:r>
              </a:p>
              <a:p>
                <a:endParaRPr lang="en-IN">
                  <a:latin typeface="Times New Roman" panose="02020603050405020304" pitchFamily="18"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215CBA1E-71AA-F3E4-DBC0-2C65F4F2D9A4}"/>
                  </a:ext>
                </a:extLst>
              </p:cNvPr>
              <p:cNvSpPr txBox="1">
                <a:spLocks noRot="1" noChangeAspect="1" noMove="1" noResize="1" noEditPoints="1" noAdjustHandles="1" noChangeArrowheads="1" noChangeShapeType="1" noTextEdit="1"/>
              </p:cNvSpPr>
              <p:nvPr/>
            </p:nvSpPr>
            <p:spPr>
              <a:xfrm>
                <a:off x="550608" y="924484"/>
                <a:ext cx="8871026" cy="5109091"/>
              </a:xfrm>
              <a:prstGeom prst="rect">
                <a:avLst/>
              </a:prstGeom>
              <a:blipFill>
                <a:blip r:embed="rId5"/>
                <a:stretch>
                  <a:fillRect l="-412" t="-716"/>
                </a:stretch>
              </a:blipFill>
            </p:spPr>
            <p:txBody>
              <a:bodyPr/>
              <a:lstStyle/>
              <a:p>
                <a:r>
                  <a:rPr lang="en-US">
                    <a:noFill/>
                  </a:rPr>
                  <a:t> </a:t>
                </a:r>
              </a:p>
            </p:txBody>
          </p:sp>
        </mc:Fallback>
      </mc:AlternateContent>
    </p:spTree>
    <p:extLst>
      <p:ext uri="{BB962C8B-B14F-4D97-AF65-F5344CB8AC3E}">
        <p14:creationId xmlns:p14="http://schemas.microsoft.com/office/powerpoint/2010/main" val="3871307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3D189-A4A6-7B1D-DA80-05C85F9D11C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E13819A-265D-5FB3-E909-95FBF3E18090}"/>
              </a:ext>
            </a:extLst>
          </p:cNvPr>
          <p:cNvSpPr txBox="1"/>
          <p:nvPr/>
        </p:nvSpPr>
        <p:spPr>
          <a:xfrm>
            <a:off x="-1" y="0"/>
            <a:ext cx="3647769" cy="369332"/>
          </a:xfrm>
          <a:prstGeom prst="rect">
            <a:avLst/>
          </a:prstGeom>
          <a:solidFill>
            <a:schemeClr val="tx2">
              <a:lumMod val="20000"/>
              <a:lumOff val="80000"/>
            </a:schemeClr>
          </a:solidFill>
        </p:spPr>
        <p:txBody>
          <a:bodyPr wrap="square">
            <a:spAutoFit/>
          </a:bodyPr>
          <a:lstStyle/>
          <a:p>
            <a:r>
              <a:rPr lang="en-US" sz="1800" b="1">
                <a:latin typeface="Times New Roman" panose="02020603050405020304" pitchFamily="18" charset="0"/>
                <a:cs typeface="Times New Roman" panose="02020603050405020304" pitchFamily="18" charset="0"/>
              </a:rPr>
              <a:t>Mini Project  (</a:t>
            </a:r>
            <a:r>
              <a:rPr lang="en-IN"/>
              <a:t>23EECW301</a:t>
            </a:r>
            <a:r>
              <a:rPr lang="en-US" sz="1800" b="1">
                <a:latin typeface="Times New Roman" panose="02020603050405020304" pitchFamily="18" charset="0"/>
                <a:cs typeface="Times New Roman" panose="02020603050405020304" pitchFamily="18" charset="0"/>
              </a:rPr>
              <a:t>)</a:t>
            </a:r>
            <a:endParaRPr lang="en-IN" sz="1800"/>
          </a:p>
        </p:txBody>
      </p:sp>
      <p:pic>
        <p:nvPicPr>
          <p:cNvPr id="5" name="Picture 4" descr="KLE Technological University in Hubballi">
            <a:extLst>
              <a:ext uri="{FF2B5EF4-FFF2-40B4-BE49-F238E27FC236}">
                <a16:creationId xmlns:a16="http://schemas.microsoft.com/office/drawing/2014/main" id="{CF1DBB38-BBDF-A551-F945-AA17B2B96DCC}"/>
              </a:ext>
            </a:extLst>
          </p:cNvPr>
          <p:cNvPicPr>
            <a:picLocks noChangeAspect="1"/>
          </p:cNvPicPr>
          <p:nvPr/>
        </p:nvPicPr>
        <p:blipFill rotWithShape="1">
          <a:blip r:embed="rId2">
            <a:extLst>
              <a:ext uri="{28A0092B-C50C-407E-A947-70E740481C1C}">
                <a14:useLocalDpi xmlns:a14="http://schemas.microsoft.com/office/drawing/2010/main" val="0"/>
              </a:ext>
            </a:extLst>
          </a:blip>
          <a:srcRect t="37713" b="37711"/>
          <a:stretch/>
        </p:blipFill>
        <p:spPr bwMode="auto">
          <a:xfrm>
            <a:off x="9544414" y="0"/>
            <a:ext cx="2647586" cy="623017"/>
          </a:xfrm>
          <a:prstGeom prst="rect">
            <a:avLst/>
          </a:prstGeom>
          <a:noFill/>
          <a:ln>
            <a:noFill/>
          </a:ln>
          <a:extLst>
            <a:ext uri="{53640926-AAD7-44D8-BBD7-CCE9431645EC}">
              <a14:shadowObscured xmlns:a14="http://schemas.microsoft.com/office/drawing/2010/main"/>
            </a:ext>
          </a:extLst>
        </p:spPr>
      </p:pic>
      <p:sp>
        <p:nvSpPr>
          <p:cNvPr id="2" name="TextBox 1">
            <a:extLst>
              <a:ext uri="{FF2B5EF4-FFF2-40B4-BE49-F238E27FC236}">
                <a16:creationId xmlns:a16="http://schemas.microsoft.com/office/drawing/2014/main" id="{B7A59AC0-51A8-DEF4-871D-F714CAEDA583}"/>
              </a:ext>
            </a:extLst>
          </p:cNvPr>
          <p:cNvSpPr txBox="1"/>
          <p:nvPr/>
        </p:nvSpPr>
        <p:spPr>
          <a:xfrm>
            <a:off x="553228" y="981699"/>
            <a:ext cx="1844555" cy="369332"/>
          </a:xfrm>
          <a:prstGeom prst="rect">
            <a:avLst/>
          </a:prstGeom>
          <a:solidFill>
            <a:srgbClr val="00B050"/>
          </a:solidFill>
          <a:ln>
            <a:solidFill>
              <a:schemeClr val="tx1"/>
            </a:solidFill>
          </a:ln>
        </p:spPr>
        <p:txBody>
          <a:bodyPr wrap="square" rtlCol="0">
            <a:spAutoFit/>
          </a:bodyPr>
          <a:lstStyle/>
          <a:p>
            <a:pPr algn="ctr"/>
            <a:r>
              <a:rPr lang="en-IN" b="1">
                <a:solidFill>
                  <a:schemeClr val="bg1"/>
                </a:solidFill>
                <a:latin typeface="Times New Roman" panose="02020603050405020304" pitchFamily="18" charset="0"/>
                <a:cs typeface="Times New Roman" panose="02020603050405020304" pitchFamily="18" charset="0"/>
              </a:rPr>
              <a:t>INPUT SUPPLY</a:t>
            </a:r>
          </a:p>
        </p:txBody>
      </p:sp>
      <p:sp>
        <p:nvSpPr>
          <p:cNvPr id="4" name="TextBox 3">
            <a:extLst>
              <a:ext uri="{FF2B5EF4-FFF2-40B4-BE49-F238E27FC236}">
                <a16:creationId xmlns:a16="http://schemas.microsoft.com/office/drawing/2014/main" id="{A90A8A3D-5775-CEB8-848D-1DD46124CB9D}"/>
              </a:ext>
            </a:extLst>
          </p:cNvPr>
          <p:cNvSpPr txBox="1"/>
          <p:nvPr/>
        </p:nvSpPr>
        <p:spPr>
          <a:xfrm>
            <a:off x="206844" y="1458752"/>
            <a:ext cx="2815932" cy="1169551"/>
          </a:xfrm>
          <a:prstGeom prst="rect">
            <a:avLst/>
          </a:prstGeom>
          <a:solidFill>
            <a:schemeClr val="accent6">
              <a:lumMod val="60000"/>
              <a:lumOff val="40000"/>
            </a:schemeClr>
          </a:solidFill>
          <a:ln>
            <a:solidFill>
              <a:schemeClr val="tx1"/>
            </a:solidFill>
          </a:ln>
        </p:spPr>
        <p:txBody>
          <a:bodyPr wrap="square" rtlCol="0">
            <a:spAutoFit/>
          </a:bodyPr>
          <a:lstStyle/>
          <a:p>
            <a:pPr marL="285750" indent="-285750">
              <a:buFont typeface="Wingdings" panose="05000000000000000000" pitchFamily="2" charset="2"/>
              <a:buChar char="Ø"/>
            </a:pPr>
            <a:r>
              <a:rPr lang="en-IN" sz="1400" b="1">
                <a:latin typeface="Times New Roman" panose="02020603050405020304" pitchFamily="18" charset="0"/>
                <a:cs typeface="Times New Roman" panose="02020603050405020304" pitchFamily="18" charset="0"/>
              </a:rPr>
              <a:t>230V , 50 Hz AC</a:t>
            </a:r>
          </a:p>
          <a:p>
            <a:pPr marL="285750" indent="-285750">
              <a:buFont typeface="Wingdings" panose="05000000000000000000" pitchFamily="2" charset="2"/>
              <a:buChar char="Ø"/>
            </a:pPr>
            <a:r>
              <a:rPr lang="en-IN" sz="1400" b="1" err="1">
                <a:latin typeface="Times New Roman" panose="02020603050405020304" pitchFamily="18" charset="0"/>
                <a:cs typeface="Times New Roman" panose="02020603050405020304" pitchFamily="18" charset="0"/>
              </a:rPr>
              <a:t>Vpeak</a:t>
            </a:r>
            <a:r>
              <a:rPr lang="en-IN" sz="1400" b="1">
                <a:latin typeface="Times New Roman" panose="02020603050405020304" pitchFamily="18" charset="0"/>
                <a:cs typeface="Times New Roman" panose="02020603050405020304" pitchFamily="18" charset="0"/>
              </a:rPr>
              <a:t> = 325 V</a:t>
            </a:r>
          </a:p>
          <a:p>
            <a:pPr marL="285750" indent="-285750">
              <a:buFont typeface="Wingdings" panose="05000000000000000000" pitchFamily="2" charset="2"/>
              <a:buChar char="Ø"/>
            </a:pPr>
            <a:r>
              <a:rPr lang="en-IN" sz="1400" b="1">
                <a:latin typeface="Times New Roman" panose="02020603050405020304" pitchFamily="18" charset="0"/>
                <a:cs typeface="Times New Roman" panose="02020603050405020304" pitchFamily="18" charset="0"/>
              </a:rPr>
              <a:t>Swing limit : -325 V to +325 V</a:t>
            </a:r>
          </a:p>
          <a:p>
            <a:pPr marL="285750" indent="-285750">
              <a:buFont typeface="Wingdings" panose="05000000000000000000" pitchFamily="2" charset="2"/>
              <a:buChar char="Ø"/>
            </a:pPr>
            <a:r>
              <a:rPr lang="en-IN" sz="1400" b="1">
                <a:latin typeface="Times New Roman" panose="02020603050405020304" pitchFamily="18" charset="0"/>
                <a:cs typeface="Times New Roman" panose="02020603050405020304" pitchFamily="18" charset="0"/>
              </a:rPr>
              <a:t>DC Offset = 0</a:t>
            </a:r>
          </a:p>
          <a:p>
            <a:endParaRPr lang="en-IN" sz="1400" b="1">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759DAF0-8C61-5DC9-D081-C9A55AD27199}"/>
              </a:ext>
            </a:extLst>
          </p:cNvPr>
          <p:cNvSpPr txBox="1"/>
          <p:nvPr/>
        </p:nvSpPr>
        <p:spPr>
          <a:xfrm>
            <a:off x="3647768" y="873977"/>
            <a:ext cx="1994496" cy="584775"/>
          </a:xfrm>
          <a:prstGeom prst="rect">
            <a:avLst/>
          </a:prstGeom>
          <a:solidFill>
            <a:srgbClr val="FFFF00"/>
          </a:solidFill>
          <a:ln>
            <a:solidFill>
              <a:schemeClr val="tx1"/>
            </a:solidFill>
          </a:ln>
        </p:spPr>
        <p:txBody>
          <a:bodyPr wrap="square" rtlCol="0">
            <a:spAutoFit/>
          </a:bodyPr>
          <a:lstStyle/>
          <a:p>
            <a:pPr algn="ctr"/>
            <a:r>
              <a:rPr lang="en-IN" b="1">
                <a:latin typeface="Times New Roman" panose="02020603050405020304" pitchFamily="18" charset="0"/>
                <a:cs typeface="Times New Roman" panose="02020603050405020304" pitchFamily="18" charset="0"/>
              </a:rPr>
              <a:t>TRANFORMER</a:t>
            </a:r>
          </a:p>
          <a:p>
            <a:pPr algn="ctr"/>
            <a:r>
              <a:rPr lang="en-IN" sz="1400" b="1">
                <a:latin typeface="Times New Roman" panose="02020603050405020304" pitchFamily="18" charset="0"/>
                <a:cs typeface="Times New Roman" panose="02020603050405020304" pitchFamily="18" charset="0"/>
              </a:rPr>
              <a:t>( Step – Down )</a:t>
            </a:r>
          </a:p>
        </p:txBody>
      </p:sp>
      <p:sp>
        <p:nvSpPr>
          <p:cNvPr id="7" name="TextBox 6">
            <a:hlinkClick r:id="rId3" action="ppaction://hlinksldjump"/>
            <a:extLst>
              <a:ext uri="{FF2B5EF4-FFF2-40B4-BE49-F238E27FC236}">
                <a16:creationId xmlns:a16="http://schemas.microsoft.com/office/drawing/2014/main" id="{8E5C08BF-E88A-F8E9-C683-16D8EC3BFE1E}"/>
              </a:ext>
            </a:extLst>
          </p:cNvPr>
          <p:cNvSpPr txBox="1"/>
          <p:nvPr/>
        </p:nvSpPr>
        <p:spPr>
          <a:xfrm>
            <a:off x="3431457" y="1486344"/>
            <a:ext cx="2429015" cy="1169551"/>
          </a:xfrm>
          <a:prstGeom prst="rect">
            <a:avLst/>
          </a:prstGeom>
          <a:solidFill>
            <a:srgbClr val="FFFF00">
              <a:alpha val="50196"/>
            </a:srgbClr>
          </a:solidFill>
          <a:ln>
            <a:solidFill>
              <a:schemeClr val="tx1"/>
            </a:solidFill>
          </a:ln>
        </p:spPr>
        <p:txBody>
          <a:bodyPr wrap="square" rtlCol="0">
            <a:spAutoFit/>
          </a:bodyPr>
          <a:lstStyle/>
          <a:p>
            <a:pPr marL="285750" indent="-285750">
              <a:buFont typeface="Wingdings" panose="05000000000000000000" pitchFamily="2" charset="2"/>
              <a:buChar char="Ø"/>
            </a:pPr>
            <a:r>
              <a:rPr lang="en-IN" sz="1400" b="1">
                <a:latin typeface="Times New Roman" panose="02020603050405020304" pitchFamily="18" charset="0"/>
                <a:cs typeface="Times New Roman" panose="02020603050405020304" pitchFamily="18" charset="0"/>
              </a:rPr>
              <a:t>230 V AC to 12 V AC</a:t>
            </a:r>
          </a:p>
          <a:p>
            <a:endParaRPr lang="en-IN" sz="1400" b="1">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1400">
                <a:solidFill>
                  <a:srgbClr val="00B0F0"/>
                </a:solidFill>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val="tx"/>
                    </a:ext>
                  </a:extLst>
                </a:hlinkClick>
              </a:rPr>
              <a:t>Click here </a:t>
            </a:r>
            <a:r>
              <a:rPr lang="en-IN" sz="1400">
                <a:latin typeface="Times New Roman" panose="02020603050405020304" pitchFamily="18" charset="0"/>
                <a:cs typeface="Times New Roman" panose="02020603050405020304" pitchFamily="18" charset="0"/>
              </a:rPr>
              <a:t>to see info about transformer used.</a:t>
            </a:r>
          </a:p>
          <a:p>
            <a:endParaRPr lang="en-IN" sz="1400">
              <a:latin typeface="Times New Roman" panose="02020603050405020304" pitchFamily="18" charset="0"/>
              <a:cs typeface="Times New Roman" panose="02020603050405020304" pitchFamily="18" charset="0"/>
            </a:endParaRPr>
          </a:p>
        </p:txBody>
      </p:sp>
      <p:sp>
        <p:nvSpPr>
          <p:cNvPr id="8" name="Arrow: Right 7">
            <a:extLst>
              <a:ext uri="{FF2B5EF4-FFF2-40B4-BE49-F238E27FC236}">
                <a16:creationId xmlns:a16="http://schemas.microsoft.com/office/drawing/2014/main" id="{32993677-AE88-0EBA-21F7-3DAB4AAE7C19}"/>
              </a:ext>
            </a:extLst>
          </p:cNvPr>
          <p:cNvSpPr/>
          <p:nvPr/>
        </p:nvSpPr>
        <p:spPr>
          <a:xfrm>
            <a:off x="2455212" y="1078041"/>
            <a:ext cx="1135127" cy="176646"/>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D4DF0BDD-282C-92E3-0D2C-F635443BC8CD}"/>
              </a:ext>
            </a:extLst>
          </p:cNvPr>
          <p:cNvSpPr txBox="1"/>
          <p:nvPr/>
        </p:nvSpPr>
        <p:spPr>
          <a:xfrm>
            <a:off x="6676104" y="958133"/>
            <a:ext cx="2102487" cy="400110"/>
          </a:xfrm>
          <a:prstGeom prst="rect">
            <a:avLst/>
          </a:prstGeom>
          <a:solidFill>
            <a:schemeClr val="accent1">
              <a:lumMod val="60000"/>
              <a:lumOff val="40000"/>
            </a:schemeClr>
          </a:solidFill>
          <a:ln>
            <a:solidFill>
              <a:schemeClr val="tx1"/>
            </a:solidFill>
          </a:ln>
        </p:spPr>
        <p:txBody>
          <a:bodyPr wrap="square" rtlCol="0">
            <a:spAutoFit/>
          </a:bodyPr>
          <a:lstStyle/>
          <a:p>
            <a:pPr algn="ctr"/>
            <a:r>
              <a:rPr lang="en-IN" sz="2000" b="1">
                <a:latin typeface="Times New Roman" panose="02020603050405020304" pitchFamily="18" charset="0"/>
                <a:cs typeface="Times New Roman" panose="02020603050405020304" pitchFamily="18" charset="0"/>
              </a:rPr>
              <a:t>Bridge Rectifier</a:t>
            </a:r>
          </a:p>
        </p:txBody>
      </p:sp>
      <p:sp>
        <p:nvSpPr>
          <p:cNvPr id="10" name="TextBox 9">
            <a:extLst>
              <a:ext uri="{FF2B5EF4-FFF2-40B4-BE49-F238E27FC236}">
                <a16:creationId xmlns:a16="http://schemas.microsoft.com/office/drawing/2014/main" id="{D3EDD7A5-FFF0-038E-EAB9-2A75781B7482}"/>
              </a:ext>
            </a:extLst>
          </p:cNvPr>
          <p:cNvSpPr txBox="1"/>
          <p:nvPr/>
        </p:nvSpPr>
        <p:spPr>
          <a:xfrm>
            <a:off x="6291836" y="1458751"/>
            <a:ext cx="2815932" cy="1169551"/>
          </a:xfrm>
          <a:prstGeom prst="rect">
            <a:avLst/>
          </a:prstGeom>
          <a:solidFill>
            <a:schemeClr val="accent6">
              <a:lumMod val="60000"/>
              <a:lumOff val="40000"/>
            </a:schemeClr>
          </a:solidFill>
          <a:ln>
            <a:solidFill>
              <a:schemeClr val="tx1"/>
            </a:solidFill>
          </a:ln>
        </p:spPr>
        <p:txBody>
          <a:bodyPr wrap="square" rtlCol="0">
            <a:spAutoFit/>
          </a:bodyPr>
          <a:lstStyle/>
          <a:p>
            <a:pPr marL="285750" indent="-285750">
              <a:buFont typeface="Wingdings" panose="05000000000000000000" pitchFamily="2" charset="2"/>
              <a:buChar char="Ø"/>
            </a:pPr>
            <a:r>
              <a:rPr lang="en-IN" sz="1400" b="1">
                <a:latin typeface="Times New Roman" panose="02020603050405020304" pitchFamily="18" charset="0"/>
                <a:cs typeface="Times New Roman" panose="02020603050405020304" pitchFamily="18" charset="0"/>
              </a:rPr>
              <a:t>Coverts from AC to DC</a:t>
            </a:r>
          </a:p>
          <a:p>
            <a:pPr marL="285750" indent="-285750">
              <a:buFont typeface="Wingdings" panose="05000000000000000000" pitchFamily="2" charset="2"/>
              <a:buChar char="Ø"/>
            </a:pPr>
            <a:r>
              <a:rPr lang="en-IN" sz="1400" b="1">
                <a:latin typeface="Times New Roman" panose="02020603050405020304" pitchFamily="18" charset="0"/>
                <a:cs typeface="Times New Roman" panose="02020603050405020304" pitchFamily="18" charset="0"/>
              </a:rPr>
              <a:t>Diode 1N4007 used in bridge format.</a:t>
            </a:r>
          </a:p>
          <a:p>
            <a:pPr marL="285750" indent="-285750">
              <a:buFont typeface="Wingdings" panose="05000000000000000000" pitchFamily="2" charset="2"/>
              <a:buChar char="Ø"/>
            </a:pPr>
            <a:r>
              <a:rPr lang="en-IN" sz="1400" b="1">
                <a:latin typeface="Times New Roman" panose="02020603050405020304" pitchFamily="18" charset="0"/>
                <a:cs typeface="Times New Roman" panose="02020603050405020304" pitchFamily="18" charset="0"/>
                <a:hlinkClick r:id="rId4" action="ppaction://hlinksldjump"/>
              </a:rPr>
              <a:t>Click here </a:t>
            </a:r>
            <a:r>
              <a:rPr lang="en-IN" sz="1400">
                <a:latin typeface="Times New Roman" panose="02020603050405020304" pitchFamily="18" charset="0"/>
                <a:cs typeface="Times New Roman" panose="02020603050405020304" pitchFamily="18" charset="0"/>
              </a:rPr>
              <a:t>to see info about Bridge Rectifier used.</a:t>
            </a:r>
          </a:p>
        </p:txBody>
      </p:sp>
      <p:sp>
        <p:nvSpPr>
          <p:cNvPr id="11" name="Arrow: Right 10">
            <a:extLst>
              <a:ext uri="{FF2B5EF4-FFF2-40B4-BE49-F238E27FC236}">
                <a16:creationId xmlns:a16="http://schemas.microsoft.com/office/drawing/2014/main" id="{DE08D897-1C5B-B73E-F16F-2E5576A32E79}"/>
              </a:ext>
            </a:extLst>
          </p:cNvPr>
          <p:cNvSpPr/>
          <p:nvPr/>
        </p:nvSpPr>
        <p:spPr>
          <a:xfrm>
            <a:off x="5691425" y="1022913"/>
            <a:ext cx="935518" cy="23177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43DBF766-DBB2-120E-CE73-1E4274FB3C7B}"/>
              </a:ext>
            </a:extLst>
          </p:cNvPr>
          <p:cNvSpPr txBox="1"/>
          <p:nvPr/>
        </p:nvSpPr>
        <p:spPr>
          <a:xfrm>
            <a:off x="9816963" y="938745"/>
            <a:ext cx="2102487" cy="400110"/>
          </a:xfrm>
          <a:prstGeom prst="rect">
            <a:avLst/>
          </a:prstGeom>
          <a:solidFill>
            <a:schemeClr val="accent2">
              <a:lumMod val="40000"/>
              <a:lumOff val="60000"/>
            </a:schemeClr>
          </a:solidFill>
          <a:ln>
            <a:solidFill>
              <a:schemeClr val="tx1"/>
            </a:solidFill>
          </a:ln>
        </p:spPr>
        <p:txBody>
          <a:bodyPr wrap="square" rtlCol="0">
            <a:spAutoFit/>
          </a:bodyPr>
          <a:lstStyle/>
          <a:p>
            <a:pPr algn="ctr"/>
            <a:r>
              <a:rPr lang="en-IN" sz="2000" b="1">
                <a:latin typeface="Times New Roman" panose="02020603050405020304" pitchFamily="18" charset="0"/>
                <a:cs typeface="Times New Roman" panose="02020603050405020304" pitchFamily="18" charset="0"/>
              </a:rPr>
              <a:t>Filter Capacitor</a:t>
            </a:r>
          </a:p>
        </p:txBody>
      </p:sp>
      <p:sp>
        <p:nvSpPr>
          <p:cNvPr id="13" name="TextBox 12">
            <a:extLst>
              <a:ext uri="{FF2B5EF4-FFF2-40B4-BE49-F238E27FC236}">
                <a16:creationId xmlns:a16="http://schemas.microsoft.com/office/drawing/2014/main" id="{09FDCE8E-41F0-8615-CB9A-91F21DB325E6}"/>
              </a:ext>
            </a:extLst>
          </p:cNvPr>
          <p:cNvSpPr txBox="1"/>
          <p:nvPr/>
        </p:nvSpPr>
        <p:spPr>
          <a:xfrm>
            <a:off x="9296766" y="1486343"/>
            <a:ext cx="2815932" cy="1169551"/>
          </a:xfrm>
          <a:prstGeom prst="rect">
            <a:avLst/>
          </a:prstGeom>
          <a:solidFill>
            <a:schemeClr val="accent2">
              <a:lumMod val="20000"/>
              <a:lumOff val="80000"/>
            </a:schemeClr>
          </a:solidFill>
          <a:ln>
            <a:solidFill>
              <a:schemeClr val="tx1"/>
            </a:solidFill>
          </a:ln>
        </p:spPr>
        <p:txBody>
          <a:bodyPr wrap="square" rtlCol="0">
            <a:spAutoFit/>
          </a:bodyPr>
          <a:lstStyle/>
          <a:p>
            <a:pPr marL="285750" indent="-285750">
              <a:buFont typeface="Wingdings" panose="05000000000000000000" pitchFamily="2" charset="2"/>
              <a:buChar char="Ø"/>
            </a:pPr>
            <a:r>
              <a:rPr lang="en-IN" sz="1400" b="1">
                <a:latin typeface="Times New Roman" panose="02020603050405020304" pitchFamily="18" charset="0"/>
                <a:cs typeface="Times New Roman" panose="02020603050405020304" pitchFamily="18" charset="0"/>
              </a:rPr>
              <a:t>Removes small ripples present in input DC for Regulator.</a:t>
            </a:r>
          </a:p>
          <a:p>
            <a:endParaRPr lang="en-IN" sz="1400" b="1">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1400" b="1">
                <a:latin typeface="Times New Roman" panose="02020603050405020304" pitchFamily="18" charset="0"/>
                <a:cs typeface="Times New Roman" panose="02020603050405020304" pitchFamily="18" charset="0"/>
                <a:hlinkClick r:id="rId5" action="ppaction://hlinksldjump"/>
              </a:rPr>
              <a:t>Click here </a:t>
            </a:r>
            <a:r>
              <a:rPr lang="en-IN" sz="1400" b="1">
                <a:latin typeface="Times New Roman" panose="02020603050405020304" pitchFamily="18" charset="0"/>
                <a:cs typeface="Times New Roman" panose="02020603050405020304" pitchFamily="18" charset="0"/>
              </a:rPr>
              <a:t>to see info about Filter Capacitor Used. </a:t>
            </a:r>
          </a:p>
        </p:txBody>
      </p:sp>
      <p:sp>
        <p:nvSpPr>
          <p:cNvPr id="14" name="Arrow: Right 13">
            <a:extLst>
              <a:ext uri="{FF2B5EF4-FFF2-40B4-BE49-F238E27FC236}">
                <a16:creationId xmlns:a16="http://schemas.microsoft.com/office/drawing/2014/main" id="{5093D483-100C-31B9-F8C9-D4F0C6CAD10A}"/>
              </a:ext>
            </a:extLst>
          </p:cNvPr>
          <p:cNvSpPr/>
          <p:nvPr/>
        </p:nvSpPr>
        <p:spPr>
          <a:xfrm>
            <a:off x="8829007" y="1022913"/>
            <a:ext cx="935518" cy="23177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5" name="Arrow: Right 14">
            <a:extLst>
              <a:ext uri="{FF2B5EF4-FFF2-40B4-BE49-F238E27FC236}">
                <a16:creationId xmlns:a16="http://schemas.microsoft.com/office/drawing/2014/main" id="{EAC3AD75-AFDC-D551-CC81-A2F257506F70}"/>
              </a:ext>
            </a:extLst>
          </p:cNvPr>
          <p:cNvSpPr/>
          <p:nvPr/>
        </p:nvSpPr>
        <p:spPr>
          <a:xfrm>
            <a:off x="206737" y="3695726"/>
            <a:ext cx="935518" cy="23177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7F41373E-FA84-3338-432E-8341A81E49F4}"/>
              </a:ext>
            </a:extLst>
          </p:cNvPr>
          <p:cNvSpPr txBox="1"/>
          <p:nvPr/>
        </p:nvSpPr>
        <p:spPr>
          <a:xfrm>
            <a:off x="1403967" y="3494220"/>
            <a:ext cx="2102487" cy="707886"/>
          </a:xfrm>
          <a:prstGeom prst="rect">
            <a:avLst/>
          </a:prstGeom>
          <a:solidFill>
            <a:schemeClr val="accent4">
              <a:lumMod val="40000"/>
              <a:lumOff val="60000"/>
            </a:schemeClr>
          </a:solidFill>
          <a:ln>
            <a:solidFill>
              <a:schemeClr val="tx1"/>
            </a:solidFill>
          </a:ln>
        </p:spPr>
        <p:txBody>
          <a:bodyPr wrap="square" rtlCol="0">
            <a:spAutoFit/>
          </a:bodyPr>
          <a:lstStyle/>
          <a:p>
            <a:pPr algn="ctr"/>
            <a:r>
              <a:rPr lang="en-IN" sz="2000" b="1">
                <a:latin typeface="Times New Roman" panose="02020603050405020304" pitchFamily="18" charset="0"/>
                <a:cs typeface="Times New Roman" panose="02020603050405020304" pitchFamily="18" charset="0"/>
              </a:rPr>
              <a:t>Linear </a:t>
            </a:r>
            <a:r>
              <a:rPr lang="en-IN" sz="2000" b="1" dirty="0">
                <a:latin typeface="Times New Roman" panose="02020603050405020304" pitchFamily="18" charset="0"/>
                <a:cs typeface="Times New Roman" panose="02020603050405020304" pitchFamily="18" charset="0"/>
              </a:rPr>
              <a:t>Regulation</a:t>
            </a:r>
          </a:p>
        </p:txBody>
      </p:sp>
      <p:sp>
        <p:nvSpPr>
          <p:cNvPr id="17" name="TextBox 16">
            <a:extLst>
              <a:ext uri="{FF2B5EF4-FFF2-40B4-BE49-F238E27FC236}">
                <a16:creationId xmlns:a16="http://schemas.microsoft.com/office/drawing/2014/main" id="{F3096CE6-A2C5-EA91-E10E-94445B6270FB}"/>
              </a:ext>
            </a:extLst>
          </p:cNvPr>
          <p:cNvSpPr txBox="1"/>
          <p:nvPr/>
        </p:nvSpPr>
        <p:spPr>
          <a:xfrm>
            <a:off x="1047245" y="4229698"/>
            <a:ext cx="2815932" cy="1815882"/>
          </a:xfrm>
          <a:prstGeom prst="rect">
            <a:avLst/>
          </a:prstGeom>
          <a:solidFill>
            <a:schemeClr val="accent4">
              <a:lumMod val="60000"/>
              <a:lumOff val="40000"/>
            </a:schemeClr>
          </a:solidFill>
          <a:ln>
            <a:solidFill>
              <a:schemeClr val="tx1"/>
            </a:solidFill>
          </a:ln>
        </p:spPr>
        <p:txBody>
          <a:bodyPr wrap="square" rtlCol="0">
            <a:spAutoFit/>
          </a:bodyPr>
          <a:lstStyle/>
          <a:p>
            <a:pPr marL="285750" indent="-285750">
              <a:buFont typeface="Wingdings" panose="05000000000000000000" pitchFamily="2" charset="2"/>
              <a:buChar char="Ø"/>
            </a:pPr>
            <a:r>
              <a:rPr lang="en-IN" sz="1400" b="1" dirty="0">
                <a:latin typeface="Times New Roman" panose="02020603050405020304" pitchFamily="18" charset="0"/>
                <a:cs typeface="Times New Roman" panose="02020603050405020304" pitchFamily="18" charset="0"/>
              </a:rPr>
              <a:t>Provides linear 5V regulated supply</a:t>
            </a:r>
          </a:p>
          <a:p>
            <a:pPr marL="285750" indent="-285750">
              <a:buFont typeface="Wingdings" panose="05000000000000000000" pitchFamily="2" charset="2"/>
              <a:buChar char="Ø"/>
            </a:pPr>
            <a:r>
              <a:rPr lang="en-IN" sz="1400" b="1" dirty="0">
                <a:latin typeface="Times New Roman" panose="02020603050405020304" pitchFamily="18" charset="0"/>
                <a:cs typeface="Times New Roman" panose="02020603050405020304" pitchFamily="18" charset="0"/>
                <a:hlinkClick r:id="rId6" action="ppaction://hlinksldjump"/>
              </a:rPr>
              <a:t>Click here </a:t>
            </a:r>
            <a:r>
              <a:rPr lang="en-IN" sz="1400" b="1" dirty="0">
                <a:latin typeface="Times New Roman" panose="02020603050405020304" pitchFamily="18" charset="0"/>
                <a:cs typeface="Times New Roman" panose="02020603050405020304" pitchFamily="18" charset="0"/>
              </a:rPr>
              <a:t>to see info about Linear Regulator (7805)</a:t>
            </a:r>
          </a:p>
          <a:p>
            <a:pPr marL="285750" indent="-285750">
              <a:buFont typeface="Wingdings" panose="05000000000000000000" pitchFamily="2" charset="2"/>
              <a:buChar char="Ø"/>
            </a:pPr>
            <a:r>
              <a:rPr lang="en-IN" sz="1400" b="1" dirty="0">
                <a:latin typeface="Times New Roman" panose="02020603050405020304" pitchFamily="18" charset="0"/>
                <a:cs typeface="Times New Roman" panose="02020603050405020304" pitchFamily="18" charset="0"/>
                <a:hlinkClick r:id="rId7" action="ppaction://hlinksldjump"/>
              </a:rPr>
              <a:t>Click here </a:t>
            </a:r>
            <a:r>
              <a:rPr lang="en-IN" sz="1400" b="1" dirty="0">
                <a:latin typeface="Times New Roman" panose="02020603050405020304" pitchFamily="18" charset="0"/>
                <a:cs typeface="Times New Roman" panose="02020603050405020304" pitchFamily="18" charset="0"/>
              </a:rPr>
              <a:t>to see info about Zener Diode  Regulator</a:t>
            </a:r>
          </a:p>
          <a:p>
            <a:pPr marL="285750" indent="-285750">
              <a:buFont typeface="Wingdings" panose="05000000000000000000" pitchFamily="2" charset="2"/>
              <a:buChar char="Ø"/>
            </a:pPr>
            <a:r>
              <a:rPr lang="en-IN" sz="1400" b="1" dirty="0">
                <a:latin typeface="Times New Roman" panose="02020603050405020304" pitchFamily="18" charset="0"/>
                <a:cs typeface="Times New Roman" panose="02020603050405020304" pitchFamily="18" charset="0"/>
                <a:hlinkClick r:id="rId6" action="ppaction://hlinksldjump"/>
              </a:rPr>
              <a:t>Click here </a:t>
            </a:r>
            <a:r>
              <a:rPr lang="en-IN" sz="1400" b="1" dirty="0">
                <a:latin typeface="Times New Roman" panose="02020603050405020304" pitchFamily="18" charset="0"/>
                <a:cs typeface="Times New Roman" panose="02020603050405020304" pitchFamily="18" charset="0"/>
              </a:rPr>
              <a:t>to see info about Linear Regulator LM323</a:t>
            </a:r>
          </a:p>
        </p:txBody>
      </p:sp>
      <p:sp>
        <p:nvSpPr>
          <p:cNvPr id="18" name="Arrow: Right 17">
            <a:extLst>
              <a:ext uri="{FF2B5EF4-FFF2-40B4-BE49-F238E27FC236}">
                <a16:creationId xmlns:a16="http://schemas.microsoft.com/office/drawing/2014/main" id="{49949EBE-5D71-BD7A-8FBB-4C68E119B383}"/>
              </a:ext>
            </a:extLst>
          </p:cNvPr>
          <p:cNvSpPr/>
          <p:nvPr/>
        </p:nvSpPr>
        <p:spPr>
          <a:xfrm>
            <a:off x="4029882" y="3695726"/>
            <a:ext cx="1289370" cy="23177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FBA1CC8C-803D-6028-93F2-6F1B2129AA76}"/>
              </a:ext>
            </a:extLst>
          </p:cNvPr>
          <p:cNvSpPr txBox="1"/>
          <p:nvPr/>
        </p:nvSpPr>
        <p:spPr>
          <a:xfrm>
            <a:off x="9203618" y="3581587"/>
            <a:ext cx="2102487" cy="400110"/>
          </a:xfrm>
          <a:prstGeom prst="rect">
            <a:avLst/>
          </a:prstGeom>
          <a:solidFill>
            <a:schemeClr val="bg2">
              <a:lumMod val="90000"/>
            </a:schemeClr>
          </a:solidFill>
          <a:ln>
            <a:solidFill>
              <a:schemeClr val="tx1"/>
            </a:solidFill>
          </a:ln>
        </p:spPr>
        <p:txBody>
          <a:bodyPr wrap="square" rtlCol="0">
            <a:spAutoFit/>
          </a:bodyPr>
          <a:lstStyle/>
          <a:p>
            <a:pPr algn="ctr"/>
            <a:r>
              <a:rPr lang="en-IN" sz="2000" b="1">
                <a:latin typeface="Times New Roman" panose="02020603050405020304" pitchFamily="18" charset="0"/>
                <a:cs typeface="Times New Roman" panose="02020603050405020304" pitchFamily="18" charset="0"/>
              </a:rPr>
              <a:t>OUTPUT</a:t>
            </a:r>
          </a:p>
        </p:txBody>
      </p:sp>
      <p:sp>
        <p:nvSpPr>
          <p:cNvPr id="20" name="TextBox 19">
            <a:extLst>
              <a:ext uri="{FF2B5EF4-FFF2-40B4-BE49-F238E27FC236}">
                <a16:creationId xmlns:a16="http://schemas.microsoft.com/office/drawing/2014/main" id="{E8EA0DD4-0170-55AF-6CFD-BB40F2B54E8F}"/>
              </a:ext>
            </a:extLst>
          </p:cNvPr>
          <p:cNvSpPr txBox="1"/>
          <p:nvPr/>
        </p:nvSpPr>
        <p:spPr>
          <a:xfrm>
            <a:off x="4595572" y="115941"/>
            <a:ext cx="3834581" cy="369332"/>
          </a:xfrm>
          <a:prstGeom prst="rect">
            <a:avLst/>
          </a:prstGeom>
          <a:noFill/>
          <a:ln>
            <a:solidFill>
              <a:schemeClr val="tx1"/>
            </a:solidFill>
          </a:ln>
        </p:spPr>
        <p:txBody>
          <a:bodyPr wrap="square" rtlCol="0">
            <a:spAutoFit/>
          </a:bodyPr>
          <a:lstStyle/>
          <a:p>
            <a:pPr algn="ctr"/>
            <a:r>
              <a:rPr lang="en-IN" b="1">
                <a:latin typeface="Times New Roman" panose="02020603050405020304" pitchFamily="18" charset="0"/>
                <a:cs typeface="Times New Roman" panose="02020603050405020304" pitchFamily="18" charset="0"/>
              </a:rPr>
              <a:t>BLOCK DIAGRAM </a:t>
            </a:r>
          </a:p>
        </p:txBody>
      </p:sp>
      <p:sp>
        <p:nvSpPr>
          <p:cNvPr id="21" name="TextBox 20">
            <a:extLst>
              <a:ext uri="{FF2B5EF4-FFF2-40B4-BE49-F238E27FC236}">
                <a16:creationId xmlns:a16="http://schemas.microsoft.com/office/drawing/2014/main" id="{47996FDB-D50F-F888-2377-CE2CB251856E}"/>
              </a:ext>
            </a:extLst>
          </p:cNvPr>
          <p:cNvSpPr txBox="1"/>
          <p:nvPr/>
        </p:nvSpPr>
        <p:spPr>
          <a:xfrm>
            <a:off x="9025256" y="4229698"/>
            <a:ext cx="2459212" cy="738664"/>
          </a:xfrm>
          <a:prstGeom prst="rect">
            <a:avLst/>
          </a:prstGeom>
          <a:solidFill>
            <a:schemeClr val="accent5">
              <a:lumMod val="40000"/>
              <a:lumOff val="60000"/>
            </a:schemeClr>
          </a:solidFill>
          <a:ln>
            <a:solidFill>
              <a:schemeClr val="tx1"/>
            </a:solidFill>
          </a:ln>
        </p:spPr>
        <p:txBody>
          <a:bodyPr wrap="square" rtlCol="0">
            <a:spAutoFit/>
          </a:bodyPr>
          <a:lstStyle/>
          <a:p>
            <a:pPr marL="285750" indent="-285750">
              <a:buFont typeface="Wingdings" panose="05000000000000000000" pitchFamily="2" charset="2"/>
              <a:buChar char="Ø"/>
            </a:pPr>
            <a:r>
              <a:rPr lang="en-IN" sz="1400" b="1">
                <a:latin typeface="Times New Roman" panose="02020603050405020304" pitchFamily="18" charset="0"/>
                <a:cs typeface="Times New Roman" panose="02020603050405020304" pitchFamily="18" charset="0"/>
              </a:rPr>
              <a:t>5 V DC supply</a:t>
            </a:r>
          </a:p>
          <a:p>
            <a:pPr marL="285750" indent="-285750">
              <a:buFont typeface="Wingdings" panose="05000000000000000000" pitchFamily="2" charset="2"/>
              <a:buChar char="Ø"/>
            </a:pPr>
            <a:r>
              <a:rPr lang="en-IN" sz="1400" b="1">
                <a:latin typeface="Times New Roman" panose="02020603050405020304" pitchFamily="18" charset="0"/>
                <a:ea typeface="Cambria Math" panose="02040503050406030204" pitchFamily="18" charset="0"/>
                <a:cs typeface="Times New Roman" panose="02020603050405020304" pitchFamily="18" charset="0"/>
              </a:rPr>
              <a:t>Max 1 A current output</a:t>
            </a:r>
          </a:p>
          <a:p>
            <a:pPr marL="285750" indent="-285750">
              <a:buFont typeface="Wingdings" panose="05000000000000000000" pitchFamily="2" charset="2"/>
              <a:buChar char="Ø"/>
            </a:pPr>
            <a:r>
              <a:rPr lang="en-IN" sz="1400" b="1">
                <a:latin typeface="Times New Roman" panose="02020603050405020304" pitchFamily="18" charset="0"/>
                <a:ea typeface="Cambria Math" panose="02040503050406030204" pitchFamily="18" charset="0"/>
                <a:cs typeface="Times New Roman" panose="02020603050405020304" pitchFamily="18" charset="0"/>
              </a:rPr>
              <a:t>Max 5W power rating</a:t>
            </a:r>
          </a:p>
        </p:txBody>
      </p:sp>
      <p:sp>
        <p:nvSpPr>
          <p:cNvPr id="22" name="TextBox 21">
            <a:extLst>
              <a:ext uri="{FF2B5EF4-FFF2-40B4-BE49-F238E27FC236}">
                <a16:creationId xmlns:a16="http://schemas.microsoft.com/office/drawing/2014/main" id="{0BC1B9E7-A0C1-DD3F-7098-FFD39041D639}"/>
              </a:ext>
            </a:extLst>
          </p:cNvPr>
          <p:cNvSpPr txBox="1"/>
          <p:nvPr/>
        </p:nvSpPr>
        <p:spPr>
          <a:xfrm>
            <a:off x="5461618" y="3521812"/>
            <a:ext cx="2102487" cy="707886"/>
          </a:xfrm>
          <a:prstGeom prst="rect">
            <a:avLst/>
          </a:prstGeom>
          <a:solidFill>
            <a:schemeClr val="accent6">
              <a:lumMod val="40000"/>
              <a:lumOff val="60000"/>
            </a:schemeClr>
          </a:solidFill>
          <a:ln>
            <a:solidFill>
              <a:schemeClr val="tx1"/>
            </a:solidFill>
          </a:ln>
        </p:spPr>
        <p:txBody>
          <a:bodyPr wrap="square" rtlCol="0">
            <a:spAutoFit/>
          </a:bodyPr>
          <a:lstStyle/>
          <a:p>
            <a:pPr algn="ctr"/>
            <a:r>
              <a:rPr lang="en-IN" sz="2000" b="1">
                <a:latin typeface="Times New Roman" panose="02020603050405020304" pitchFamily="18" charset="0"/>
                <a:cs typeface="Times New Roman" panose="02020603050405020304" pitchFamily="18" charset="0"/>
              </a:rPr>
              <a:t>Short Circuit Protection</a:t>
            </a:r>
          </a:p>
        </p:txBody>
      </p:sp>
      <p:sp>
        <p:nvSpPr>
          <p:cNvPr id="23" name="Arrow: Right 22">
            <a:extLst>
              <a:ext uri="{FF2B5EF4-FFF2-40B4-BE49-F238E27FC236}">
                <a16:creationId xmlns:a16="http://schemas.microsoft.com/office/drawing/2014/main" id="{BFF8647B-69D8-A552-3D3A-3EC21B81D113}"/>
              </a:ext>
            </a:extLst>
          </p:cNvPr>
          <p:cNvSpPr/>
          <p:nvPr/>
        </p:nvSpPr>
        <p:spPr>
          <a:xfrm>
            <a:off x="7649995" y="3665755"/>
            <a:ext cx="1289370" cy="23177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5980C8A3-ED2C-CFD8-68BD-D11329F72960}"/>
              </a:ext>
            </a:extLst>
          </p:cNvPr>
          <p:cNvSpPr txBox="1"/>
          <p:nvPr/>
        </p:nvSpPr>
        <p:spPr>
          <a:xfrm>
            <a:off x="5268135" y="4260533"/>
            <a:ext cx="2459212" cy="954107"/>
          </a:xfrm>
          <a:prstGeom prst="rect">
            <a:avLst/>
          </a:prstGeom>
          <a:solidFill>
            <a:schemeClr val="accent4">
              <a:lumMod val="20000"/>
              <a:lumOff val="80000"/>
            </a:schemeClr>
          </a:solidFill>
          <a:ln>
            <a:solidFill>
              <a:schemeClr val="tx1"/>
            </a:solidFill>
          </a:ln>
        </p:spPr>
        <p:txBody>
          <a:bodyPr wrap="square" rtlCol="0">
            <a:spAutoFit/>
          </a:bodyPr>
          <a:lstStyle/>
          <a:p>
            <a:pPr marL="285750" indent="-285750">
              <a:buFont typeface="Wingdings" panose="05000000000000000000" pitchFamily="2" charset="2"/>
              <a:buChar char="Ø"/>
            </a:pPr>
            <a:r>
              <a:rPr lang="en-IN" sz="1400" b="1">
                <a:latin typeface="Times New Roman" panose="02020603050405020304" pitchFamily="18" charset="0"/>
                <a:cs typeface="Times New Roman" panose="02020603050405020304" pitchFamily="18" charset="0"/>
              </a:rPr>
              <a:t>BJT based Short Circuit Protection Unit.</a:t>
            </a:r>
          </a:p>
          <a:p>
            <a:pPr marL="285750" indent="-285750">
              <a:buFont typeface="Wingdings" panose="05000000000000000000" pitchFamily="2" charset="2"/>
              <a:buChar char="Ø"/>
            </a:pPr>
            <a:r>
              <a:rPr lang="en-IN" sz="1400" b="1">
                <a:latin typeface="Times New Roman" panose="02020603050405020304" pitchFamily="18" charset="0"/>
                <a:cs typeface="Times New Roman" panose="02020603050405020304" pitchFamily="18" charset="0"/>
              </a:rPr>
              <a:t>Used to protect the circuit.</a:t>
            </a:r>
          </a:p>
        </p:txBody>
      </p:sp>
    </p:spTree>
    <p:extLst>
      <p:ext uri="{BB962C8B-B14F-4D97-AF65-F5344CB8AC3E}">
        <p14:creationId xmlns:p14="http://schemas.microsoft.com/office/powerpoint/2010/main" val="2145328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86F7E-82F4-2D2D-3D70-624D1645098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69209D7-7E90-9175-3856-077E9F05BB06}"/>
              </a:ext>
            </a:extLst>
          </p:cNvPr>
          <p:cNvSpPr txBox="1"/>
          <p:nvPr/>
        </p:nvSpPr>
        <p:spPr>
          <a:xfrm>
            <a:off x="0" y="0"/>
            <a:ext cx="2644878" cy="338554"/>
          </a:xfrm>
          <a:prstGeom prst="rect">
            <a:avLst/>
          </a:prstGeom>
          <a:solidFill>
            <a:schemeClr val="tx2">
              <a:lumMod val="20000"/>
              <a:lumOff val="80000"/>
            </a:schemeClr>
          </a:solidFill>
        </p:spPr>
        <p:txBody>
          <a:bodyPr wrap="square">
            <a:spAutoFit/>
          </a:bodyPr>
          <a:lstStyle/>
          <a:p>
            <a:r>
              <a:rPr lang="en-US" sz="1600" b="1">
                <a:latin typeface="Times New Roman" panose="02020603050405020304" pitchFamily="18" charset="0"/>
                <a:cs typeface="Times New Roman" panose="02020603050405020304" pitchFamily="18" charset="0"/>
              </a:rPr>
              <a:t>Mini Project  (</a:t>
            </a:r>
            <a:r>
              <a:rPr lang="en-IN" sz="1600"/>
              <a:t>23EECW301</a:t>
            </a:r>
            <a:r>
              <a:rPr lang="en-US" sz="1600" b="1">
                <a:latin typeface="Times New Roman" panose="02020603050405020304" pitchFamily="18" charset="0"/>
                <a:cs typeface="Times New Roman" panose="02020603050405020304" pitchFamily="18" charset="0"/>
              </a:rPr>
              <a:t>)</a:t>
            </a:r>
            <a:endParaRPr lang="en-IN" sz="1600"/>
          </a:p>
        </p:txBody>
      </p:sp>
      <p:pic>
        <p:nvPicPr>
          <p:cNvPr id="5" name="Picture 4" descr="KLE Technological University in Hubballi">
            <a:extLst>
              <a:ext uri="{FF2B5EF4-FFF2-40B4-BE49-F238E27FC236}">
                <a16:creationId xmlns:a16="http://schemas.microsoft.com/office/drawing/2014/main" id="{E24335DD-2FBF-67EF-B126-0AC5CC7A0E05}"/>
              </a:ext>
            </a:extLst>
          </p:cNvPr>
          <p:cNvPicPr>
            <a:picLocks noChangeAspect="1"/>
          </p:cNvPicPr>
          <p:nvPr/>
        </p:nvPicPr>
        <p:blipFill rotWithShape="1">
          <a:blip r:embed="rId2">
            <a:extLst>
              <a:ext uri="{28A0092B-C50C-407E-A947-70E740481C1C}">
                <a14:useLocalDpi xmlns:a14="http://schemas.microsoft.com/office/drawing/2010/main" val="0"/>
              </a:ext>
            </a:extLst>
          </a:blip>
          <a:srcRect t="37713" b="37711"/>
          <a:stretch/>
        </p:blipFill>
        <p:spPr bwMode="auto">
          <a:xfrm>
            <a:off x="10569676" y="0"/>
            <a:ext cx="1622323" cy="381757"/>
          </a:xfrm>
          <a:prstGeom prst="rect">
            <a:avLst/>
          </a:prstGeom>
          <a:noFill/>
          <a:ln>
            <a:noFill/>
          </a:ln>
          <a:extLst>
            <a:ext uri="{53640926-AAD7-44D8-BBD7-CCE9431645EC}">
              <a14:shadowObscured xmlns:a14="http://schemas.microsoft.com/office/drawing/2010/main"/>
            </a:ext>
          </a:extLst>
        </p:spPr>
      </p:pic>
      <p:sp>
        <p:nvSpPr>
          <p:cNvPr id="2" name="TextBox 1">
            <a:extLst>
              <a:ext uri="{FF2B5EF4-FFF2-40B4-BE49-F238E27FC236}">
                <a16:creationId xmlns:a16="http://schemas.microsoft.com/office/drawing/2014/main" id="{77816662-FDFC-B8FA-F8C4-9DCC2F29E83D}"/>
              </a:ext>
            </a:extLst>
          </p:cNvPr>
          <p:cNvSpPr txBox="1"/>
          <p:nvPr/>
        </p:nvSpPr>
        <p:spPr>
          <a:xfrm>
            <a:off x="4407236" y="12425"/>
            <a:ext cx="3834581" cy="369332"/>
          </a:xfrm>
          <a:prstGeom prst="rect">
            <a:avLst/>
          </a:prstGeom>
          <a:noFill/>
          <a:ln>
            <a:solidFill>
              <a:schemeClr val="tx1"/>
            </a:solidFill>
          </a:ln>
        </p:spPr>
        <p:txBody>
          <a:bodyPr wrap="square" rtlCol="0">
            <a:spAutoFit/>
          </a:bodyPr>
          <a:lstStyle/>
          <a:p>
            <a:pPr algn="ctr"/>
            <a:r>
              <a:rPr lang="en-IN" b="1">
                <a:latin typeface="Times New Roman" panose="02020603050405020304" pitchFamily="18" charset="0"/>
                <a:cs typeface="Times New Roman" panose="02020603050405020304" pitchFamily="18" charset="0"/>
              </a:rPr>
              <a:t>Simulation Results</a:t>
            </a:r>
          </a:p>
        </p:txBody>
      </p:sp>
      <p:pic>
        <p:nvPicPr>
          <p:cNvPr id="12" name="Picture 11">
            <a:extLst>
              <a:ext uri="{FF2B5EF4-FFF2-40B4-BE49-F238E27FC236}">
                <a16:creationId xmlns:a16="http://schemas.microsoft.com/office/drawing/2014/main" id="{5C8CD00A-DFAC-35FA-0873-A4A139497084}"/>
              </a:ext>
            </a:extLst>
          </p:cNvPr>
          <p:cNvPicPr>
            <a:picLocks noChangeAspect="1"/>
          </p:cNvPicPr>
          <p:nvPr/>
        </p:nvPicPr>
        <p:blipFill>
          <a:blip r:embed="rId3"/>
          <a:srcRect t="10494" b="3733"/>
          <a:stretch>
            <a:fillRect/>
          </a:stretch>
        </p:blipFill>
        <p:spPr>
          <a:xfrm>
            <a:off x="707923" y="4269869"/>
            <a:ext cx="4650658" cy="2497714"/>
          </a:xfrm>
          <a:prstGeom prst="rect">
            <a:avLst/>
          </a:prstGeom>
          <a:ln w="12700">
            <a:solidFill>
              <a:srgbClr val="002C00"/>
            </a:solidFill>
          </a:ln>
        </p:spPr>
      </p:pic>
      <p:sp>
        <p:nvSpPr>
          <p:cNvPr id="13" name="Arrow: Right 12">
            <a:extLst>
              <a:ext uri="{FF2B5EF4-FFF2-40B4-BE49-F238E27FC236}">
                <a16:creationId xmlns:a16="http://schemas.microsoft.com/office/drawing/2014/main" id="{494685B8-C8C6-4991-5EA2-FE1FB0992FF4}"/>
              </a:ext>
            </a:extLst>
          </p:cNvPr>
          <p:cNvSpPr/>
          <p:nvPr/>
        </p:nvSpPr>
        <p:spPr>
          <a:xfrm>
            <a:off x="5358581" y="5204094"/>
            <a:ext cx="1931892" cy="294967"/>
          </a:xfrm>
          <a:prstGeom prst="rightArrow">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8" name="Picture 17">
            <a:extLst>
              <a:ext uri="{FF2B5EF4-FFF2-40B4-BE49-F238E27FC236}">
                <a16:creationId xmlns:a16="http://schemas.microsoft.com/office/drawing/2014/main" id="{791EAD04-B419-7B6B-F269-EA6F6C7A3810}"/>
              </a:ext>
            </a:extLst>
          </p:cNvPr>
          <p:cNvPicPr>
            <a:picLocks noChangeAspect="1"/>
          </p:cNvPicPr>
          <p:nvPr/>
        </p:nvPicPr>
        <p:blipFill>
          <a:blip r:embed="rId4"/>
          <a:stretch>
            <a:fillRect/>
          </a:stretch>
        </p:blipFill>
        <p:spPr>
          <a:xfrm>
            <a:off x="7290473" y="4262926"/>
            <a:ext cx="4152966" cy="2533946"/>
          </a:xfrm>
          <a:prstGeom prst="rect">
            <a:avLst/>
          </a:prstGeom>
        </p:spPr>
      </p:pic>
      <p:sp>
        <p:nvSpPr>
          <p:cNvPr id="19" name="TextBox 18">
            <a:extLst>
              <a:ext uri="{FF2B5EF4-FFF2-40B4-BE49-F238E27FC236}">
                <a16:creationId xmlns:a16="http://schemas.microsoft.com/office/drawing/2014/main" id="{06111381-3218-0B26-9B67-766F78E8F9AE}"/>
              </a:ext>
            </a:extLst>
          </p:cNvPr>
          <p:cNvSpPr txBox="1"/>
          <p:nvPr/>
        </p:nvSpPr>
        <p:spPr>
          <a:xfrm>
            <a:off x="2494937" y="4284790"/>
            <a:ext cx="668593" cy="307777"/>
          </a:xfrm>
          <a:prstGeom prst="rect">
            <a:avLst/>
          </a:prstGeom>
          <a:solidFill>
            <a:srgbClr val="92D050"/>
          </a:solidFill>
        </p:spPr>
        <p:txBody>
          <a:bodyPr wrap="square" rtlCol="0">
            <a:spAutoFit/>
          </a:bodyPr>
          <a:lstStyle/>
          <a:p>
            <a:r>
              <a:rPr lang="en-IN" sz="1400"/>
              <a:t>INPUT</a:t>
            </a:r>
          </a:p>
        </p:txBody>
      </p:sp>
      <p:sp>
        <p:nvSpPr>
          <p:cNvPr id="20" name="TextBox 19">
            <a:extLst>
              <a:ext uri="{FF2B5EF4-FFF2-40B4-BE49-F238E27FC236}">
                <a16:creationId xmlns:a16="http://schemas.microsoft.com/office/drawing/2014/main" id="{AC4AA4A2-A24C-09DD-C3C3-A7BEB2E3DD8A}"/>
              </a:ext>
            </a:extLst>
          </p:cNvPr>
          <p:cNvSpPr txBox="1"/>
          <p:nvPr/>
        </p:nvSpPr>
        <p:spPr>
          <a:xfrm>
            <a:off x="8895736" y="4284790"/>
            <a:ext cx="801327" cy="307777"/>
          </a:xfrm>
          <a:prstGeom prst="rect">
            <a:avLst/>
          </a:prstGeom>
          <a:solidFill>
            <a:srgbClr val="92D050"/>
          </a:solidFill>
        </p:spPr>
        <p:txBody>
          <a:bodyPr wrap="square" rtlCol="0">
            <a:spAutoFit/>
          </a:bodyPr>
          <a:lstStyle/>
          <a:p>
            <a:r>
              <a:rPr lang="en-IN" sz="1400"/>
              <a:t>OUTPUT</a:t>
            </a:r>
          </a:p>
        </p:txBody>
      </p:sp>
      <p:pic>
        <p:nvPicPr>
          <p:cNvPr id="6" name="Picture 5">
            <a:extLst>
              <a:ext uri="{FF2B5EF4-FFF2-40B4-BE49-F238E27FC236}">
                <a16:creationId xmlns:a16="http://schemas.microsoft.com/office/drawing/2014/main" id="{3B97464B-BDA7-A177-59BA-EDADBAE26D88}"/>
              </a:ext>
            </a:extLst>
          </p:cNvPr>
          <p:cNvPicPr>
            <a:picLocks noChangeAspect="1"/>
          </p:cNvPicPr>
          <p:nvPr/>
        </p:nvPicPr>
        <p:blipFill>
          <a:blip r:embed="rId5"/>
          <a:stretch>
            <a:fillRect/>
          </a:stretch>
        </p:blipFill>
        <p:spPr>
          <a:xfrm>
            <a:off x="707923" y="714272"/>
            <a:ext cx="10735516" cy="3548654"/>
          </a:xfrm>
          <a:prstGeom prst="rect">
            <a:avLst/>
          </a:prstGeom>
        </p:spPr>
      </p:pic>
    </p:spTree>
    <p:extLst>
      <p:ext uri="{BB962C8B-B14F-4D97-AF65-F5344CB8AC3E}">
        <p14:creationId xmlns:p14="http://schemas.microsoft.com/office/powerpoint/2010/main" val="13757037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5276C-EFA6-B269-7D27-C4A0F3360D24}"/>
            </a:ext>
          </a:extLst>
        </p:cNvPr>
        <p:cNvGrpSpPr/>
        <p:nvPr/>
      </p:nvGrpSpPr>
      <p:grpSpPr>
        <a:xfrm>
          <a:off x="0" y="0"/>
          <a:ext cx="0" cy="0"/>
          <a:chOff x="0" y="0"/>
          <a:chExt cx="0" cy="0"/>
        </a:xfrm>
      </p:grpSpPr>
      <p:pic>
        <p:nvPicPr>
          <p:cNvPr id="4" name="Picture 3" descr="KLE Technological University in Hubballi">
            <a:extLst>
              <a:ext uri="{FF2B5EF4-FFF2-40B4-BE49-F238E27FC236}">
                <a16:creationId xmlns:a16="http://schemas.microsoft.com/office/drawing/2014/main" id="{E3033D29-C1DD-AA08-2CAF-77D5140FEBE5}"/>
              </a:ext>
            </a:extLst>
          </p:cNvPr>
          <p:cNvPicPr>
            <a:picLocks noChangeAspect="1"/>
          </p:cNvPicPr>
          <p:nvPr/>
        </p:nvPicPr>
        <p:blipFill rotWithShape="1">
          <a:blip r:embed="rId2">
            <a:extLst>
              <a:ext uri="{28A0092B-C50C-407E-A947-70E740481C1C}">
                <a14:useLocalDpi xmlns:a14="http://schemas.microsoft.com/office/drawing/2010/main" val="0"/>
              </a:ext>
            </a:extLst>
          </a:blip>
          <a:srcRect t="37713" b="37711"/>
          <a:stretch/>
        </p:blipFill>
        <p:spPr bwMode="auto">
          <a:xfrm>
            <a:off x="9544414" y="0"/>
            <a:ext cx="2647586" cy="623017"/>
          </a:xfrm>
          <a:prstGeom prst="rect">
            <a:avLst/>
          </a:prstGeom>
          <a:noFill/>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9A907646-3A0E-422E-624A-D74BC7EAFE36}"/>
              </a:ext>
            </a:extLst>
          </p:cNvPr>
          <p:cNvSpPr txBox="1"/>
          <p:nvPr/>
        </p:nvSpPr>
        <p:spPr>
          <a:xfrm>
            <a:off x="-1" y="0"/>
            <a:ext cx="3647769" cy="369332"/>
          </a:xfrm>
          <a:prstGeom prst="rect">
            <a:avLst/>
          </a:prstGeom>
          <a:solidFill>
            <a:schemeClr val="tx2">
              <a:lumMod val="20000"/>
              <a:lumOff val="80000"/>
            </a:schemeClr>
          </a:solidFill>
        </p:spPr>
        <p:txBody>
          <a:bodyPr wrap="square">
            <a:spAutoFit/>
          </a:bodyPr>
          <a:lstStyle/>
          <a:p>
            <a:r>
              <a:rPr lang="en-US" sz="1800" b="1">
                <a:latin typeface="Times New Roman" panose="02020603050405020304" pitchFamily="18" charset="0"/>
                <a:cs typeface="Times New Roman" panose="02020603050405020304" pitchFamily="18" charset="0"/>
              </a:rPr>
              <a:t>Mini Project  (</a:t>
            </a:r>
            <a:r>
              <a:rPr lang="en-IN"/>
              <a:t>23EECW301</a:t>
            </a:r>
            <a:r>
              <a:rPr lang="en-US" sz="1800" b="1">
                <a:latin typeface="Times New Roman" panose="02020603050405020304" pitchFamily="18" charset="0"/>
                <a:cs typeface="Times New Roman" panose="02020603050405020304" pitchFamily="18" charset="0"/>
              </a:rPr>
              <a:t>)</a:t>
            </a:r>
            <a:endParaRPr lang="en-IN" sz="1800"/>
          </a:p>
        </p:txBody>
      </p:sp>
      <p:sp>
        <p:nvSpPr>
          <p:cNvPr id="7" name="TextBox 6">
            <a:extLst>
              <a:ext uri="{FF2B5EF4-FFF2-40B4-BE49-F238E27FC236}">
                <a16:creationId xmlns:a16="http://schemas.microsoft.com/office/drawing/2014/main" id="{5AEC1429-F186-71E3-6C5A-6CD780C29E8B}"/>
              </a:ext>
            </a:extLst>
          </p:cNvPr>
          <p:cNvSpPr txBox="1"/>
          <p:nvPr/>
        </p:nvSpPr>
        <p:spPr>
          <a:xfrm>
            <a:off x="4434348" y="126842"/>
            <a:ext cx="3834581" cy="369332"/>
          </a:xfrm>
          <a:prstGeom prst="rect">
            <a:avLst/>
          </a:prstGeom>
          <a:noFill/>
          <a:ln>
            <a:solidFill>
              <a:schemeClr val="tx1"/>
            </a:solidFill>
          </a:ln>
        </p:spPr>
        <p:txBody>
          <a:bodyPr wrap="square" rtlCol="0">
            <a:spAutoFit/>
          </a:bodyPr>
          <a:lstStyle/>
          <a:p>
            <a:pPr algn="ctr"/>
            <a:r>
              <a:rPr lang="en-IN" b="1">
                <a:latin typeface="Times New Roman" panose="02020603050405020304" pitchFamily="18" charset="0"/>
                <a:cs typeface="Times New Roman" panose="02020603050405020304" pitchFamily="18" charset="0"/>
              </a:rPr>
              <a:t>TRANSFORMER</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34805C2-FA0A-D657-99CF-DF8074C4186A}"/>
                  </a:ext>
                </a:extLst>
              </p:cNvPr>
              <p:cNvSpPr txBox="1"/>
              <p:nvPr/>
            </p:nvSpPr>
            <p:spPr>
              <a:xfrm>
                <a:off x="24581" y="623017"/>
                <a:ext cx="12167419" cy="3975191"/>
              </a:xfrm>
              <a:prstGeom prst="rect">
                <a:avLst/>
              </a:prstGeom>
              <a:noFill/>
              <a:ln>
                <a:solidFill>
                  <a:srgbClr val="002C00"/>
                </a:solidFill>
              </a:ln>
            </p:spPr>
            <p:txBody>
              <a:bodyPr wrap="square" rtlCol="0">
                <a:spAutoFit/>
              </a:bodyPr>
              <a:lstStyle/>
              <a:p>
                <a:pPr marL="285750" indent="-285750">
                  <a:buFont typeface="Wingdings" panose="05000000000000000000" pitchFamily="2" charset="2"/>
                  <a:buChar char="Ø"/>
                </a:pPr>
                <a:r>
                  <a:rPr lang="en-IN" sz="1600">
                    <a:latin typeface="Times New Roman" panose="02020603050405020304" pitchFamily="18" charset="0"/>
                    <a:cs typeface="Times New Roman" panose="02020603050405020304" pitchFamily="18" charset="0"/>
                  </a:rPr>
                  <a:t>We are using a centre tapped transformer , which has output at each end as12V – 0 – 12V </a:t>
                </a:r>
              </a:p>
              <a:p>
                <a:pPr marL="285750" indent="-285750">
                  <a:buFont typeface="Wingdings" panose="05000000000000000000" pitchFamily="2" charset="2"/>
                  <a:buChar char="Ø"/>
                </a:pPr>
                <a:r>
                  <a:rPr lang="en-IN" sz="1600">
                    <a:latin typeface="Times New Roman" panose="02020603050405020304" pitchFamily="18" charset="0"/>
                    <a:cs typeface="Times New Roman" panose="02020603050405020304" pitchFamily="18" charset="0"/>
                  </a:rPr>
                  <a:t>Here it is used to convert 230V AC input supply to 12 V AC supply.</a:t>
                </a:r>
              </a:p>
              <a:p>
                <a:pPr marL="285750" indent="-285750">
                  <a:buFont typeface="Wingdings" panose="05000000000000000000" pitchFamily="2" charset="2"/>
                  <a:buChar char="Ø"/>
                </a:pPr>
                <a:endParaRPr lang="en-IN" sz="1600">
                  <a:latin typeface="Times New Roman" panose="02020603050405020304" pitchFamily="18" charset="0"/>
                  <a:cs typeface="Times New Roman" panose="02020603050405020304" pitchFamily="18" charset="0"/>
                </a:endParaRPr>
              </a:p>
              <a:p>
                <a:pPr marL="285750" indent="-285750">
                  <a:spcAft>
                    <a:spcPts val="600"/>
                  </a:spcAft>
                  <a:buFont typeface="Wingdings" panose="05000000000000000000" pitchFamily="2" charset="2"/>
                  <a:buChar char="Ø"/>
                </a:pPr>
                <a:r>
                  <a:rPr lang="en-IN" b="1">
                    <a:latin typeface="Times New Roman" panose="02020603050405020304" pitchFamily="18" charset="0"/>
                    <a:cs typeface="Times New Roman" panose="02020603050405020304" pitchFamily="18" charset="0"/>
                  </a:rPr>
                  <a:t>Working  &amp; Specifications: </a:t>
                </a:r>
              </a:p>
              <a:p>
                <a:pPr marL="28575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The transformer works on mutual induction,</a:t>
                </a:r>
              </a:p>
              <a:p>
                <a:pPr marL="28575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It means that the primary coil creates changing magnetic field that induces AC in secondary coil.</a:t>
                </a:r>
              </a:p>
              <a:p>
                <a:pPr marL="28575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The induced AC is given by the below relation :</a:t>
                </a:r>
              </a:p>
              <a:p>
                <a:r>
                  <a:rPr lang="en-IN">
                    <a:latin typeface="Times New Roman" panose="02020603050405020304" pitchFamily="18" charset="0"/>
                    <a:cs typeface="Times New Roman" panose="02020603050405020304" pitchFamily="18" charset="0"/>
                  </a:rPr>
                  <a:t>	</a:t>
                </a:r>
                <a14:m>
                  <m:oMath xmlns:m="http://schemas.openxmlformats.org/officeDocument/2006/math">
                    <m:f>
                      <m:fPr>
                        <m:ctrlPr>
                          <a:rPr lang="en-IN" sz="2000" b="1" i="1" smtClean="0">
                            <a:latin typeface="Cambria Math" panose="02040503050406030204" pitchFamily="18" charset="0"/>
                            <a:cs typeface="Times New Roman" panose="02020603050405020304" pitchFamily="18" charset="0"/>
                          </a:rPr>
                        </m:ctrlPr>
                      </m:fPr>
                      <m:num>
                        <m:sSub>
                          <m:sSubPr>
                            <m:ctrlPr>
                              <a:rPr lang="en-IN" sz="2000" b="1" i="1" smtClean="0">
                                <a:latin typeface="Cambria Math" panose="02040503050406030204" pitchFamily="18" charset="0"/>
                                <a:cs typeface="Times New Roman" panose="02020603050405020304" pitchFamily="18" charset="0"/>
                              </a:rPr>
                            </m:ctrlPr>
                          </m:sSubPr>
                          <m:e>
                            <m:r>
                              <a:rPr lang="en-IN" sz="2000" b="1" i="1" smtClean="0">
                                <a:latin typeface="Cambria Math" panose="02040503050406030204" pitchFamily="18" charset="0"/>
                                <a:cs typeface="Times New Roman" panose="02020603050405020304" pitchFamily="18" charset="0"/>
                              </a:rPr>
                              <m:t>𝑽</m:t>
                            </m:r>
                          </m:e>
                          <m:sub>
                            <m:r>
                              <a:rPr lang="en-IN" sz="2000" b="1" i="1" smtClean="0">
                                <a:latin typeface="Cambria Math" panose="02040503050406030204" pitchFamily="18" charset="0"/>
                                <a:cs typeface="Times New Roman" panose="02020603050405020304" pitchFamily="18" charset="0"/>
                              </a:rPr>
                              <m:t>𝒑</m:t>
                            </m:r>
                          </m:sub>
                        </m:sSub>
                      </m:num>
                      <m:den>
                        <m:sSub>
                          <m:sSubPr>
                            <m:ctrlPr>
                              <a:rPr lang="en-IN" sz="2000" b="1" i="1" smtClean="0">
                                <a:latin typeface="Cambria Math" panose="02040503050406030204" pitchFamily="18" charset="0"/>
                                <a:cs typeface="Times New Roman" panose="02020603050405020304" pitchFamily="18" charset="0"/>
                              </a:rPr>
                            </m:ctrlPr>
                          </m:sSubPr>
                          <m:e>
                            <m:r>
                              <a:rPr lang="en-IN" sz="2000" b="1" i="1" smtClean="0">
                                <a:latin typeface="Cambria Math" panose="02040503050406030204" pitchFamily="18" charset="0"/>
                                <a:cs typeface="Times New Roman" panose="02020603050405020304" pitchFamily="18" charset="0"/>
                              </a:rPr>
                              <m:t>𝑽</m:t>
                            </m:r>
                          </m:e>
                          <m:sub>
                            <m:r>
                              <a:rPr lang="en-IN" sz="2000" b="1" i="1" smtClean="0">
                                <a:latin typeface="Cambria Math" panose="02040503050406030204" pitchFamily="18" charset="0"/>
                                <a:cs typeface="Times New Roman" panose="02020603050405020304" pitchFamily="18" charset="0"/>
                              </a:rPr>
                              <m:t>𝒔</m:t>
                            </m:r>
                          </m:sub>
                        </m:sSub>
                      </m:den>
                    </m:f>
                    <m:r>
                      <a:rPr lang="en-IN" sz="2000" b="1" i="1" smtClean="0">
                        <a:latin typeface="Cambria Math" panose="02040503050406030204" pitchFamily="18" charset="0"/>
                        <a:cs typeface="Times New Roman" panose="02020603050405020304" pitchFamily="18" charset="0"/>
                      </a:rPr>
                      <m:t>= </m:t>
                    </m:r>
                    <m:f>
                      <m:fPr>
                        <m:ctrlPr>
                          <a:rPr lang="en-IN" sz="2000" b="1" i="1" smtClean="0">
                            <a:latin typeface="Cambria Math" panose="02040503050406030204" pitchFamily="18" charset="0"/>
                            <a:cs typeface="Times New Roman" panose="02020603050405020304" pitchFamily="18" charset="0"/>
                          </a:rPr>
                        </m:ctrlPr>
                      </m:fPr>
                      <m:num>
                        <m:sSub>
                          <m:sSubPr>
                            <m:ctrlPr>
                              <a:rPr lang="en-IN" sz="2000" b="1" i="1" smtClean="0">
                                <a:latin typeface="Cambria Math" panose="02040503050406030204" pitchFamily="18" charset="0"/>
                                <a:cs typeface="Times New Roman" panose="02020603050405020304" pitchFamily="18" charset="0"/>
                              </a:rPr>
                            </m:ctrlPr>
                          </m:sSubPr>
                          <m:e>
                            <m:r>
                              <a:rPr lang="en-IN" sz="2000" b="1" i="1" smtClean="0">
                                <a:latin typeface="Cambria Math" panose="02040503050406030204" pitchFamily="18" charset="0"/>
                                <a:cs typeface="Times New Roman" panose="02020603050405020304" pitchFamily="18" charset="0"/>
                              </a:rPr>
                              <m:t>𝑵</m:t>
                            </m:r>
                          </m:e>
                          <m:sub>
                            <m:r>
                              <a:rPr lang="en-IN" sz="2000" b="1" i="1" smtClean="0">
                                <a:latin typeface="Cambria Math" panose="02040503050406030204" pitchFamily="18" charset="0"/>
                                <a:cs typeface="Times New Roman" panose="02020603050405020304" pitchFamily="18" charset="0"/>
                              </a:rPr>
                              <m:t>𝒑</m:t>
                            </m:r>
                          </m:sub>
                        </m:sSub>
                      </m:num>
                      <m:den>
                        <m:sSub>
                          <m:sSubPr>
                            <m:ctrlPr>
                              <a:rPr lang="en-IN" sz="2000" b="1" i="1" smtClean="0">
                                <a:latin typeface="Cambria Math" panose="02040503050406030204" pitchFamily="18" charset="0"/>
                                <a:cs typeface="Times New Roman" panose="02020603050405020304" pitchFamily="18" charset="0"/>
                              </a:rPr>
                            </m:ctrlPr>
                          </m:sSubPr>
                          <m:e>
                            <m:r>
                              <a:rPr lang="en-IN" sz="2000" b="1" i="1" smtClean="0">
                                <a:latin typeface="Cambria Math" panose="02040503050406030204" pitchFamily="18" charset="0"/>
                                <a:cs typeface="Times New Roman" panose="02020603050405020304" pitchFamily="18" charset="0"/>
                              </a:rPr>
                              <m:t>𝑵</m:t>
                            </m:r>
                          </m:e>
                          <m:sub>
                            <m:r>
                              <a:rPr lang="en-IN" sz="2000" b="1" i="1" smtClean="0">
                                <a:latin typeface="Cambria Math" panose="02040503050406030204" pitchFamily="18" charset="0"/>
                                <a:cs typeface="Times New Roman" panose="02020603050405020304" pitchFamily="18" charset="0"/>
                              </a:rPr>
                              <m:t>𝒔</m:t>
                            </m:r>
                          </m:sub>
                        </m:sSub>
                      </m:den>
                    </m:f>
                  </m:oMath>
                </a14:m>
                <a:r>
                  <a:rPr lang="en-IN" b="1">
                    <a:latin typeface="Times New Roman" panose="02020603050405020304" pitchFamily="18" charset="0"/>
                    <a:cs typeface="Times New Roman" panose="02020603050405020304" pitchFamily="18" charset="0"/>
                  </a:rPr>
                  <a:t>	</a:t>
                </a:r>
                <a:r>
                  <a:rPr lang="en-IN">
                    <a:latin typeface="Times New Roman" panose="02020603050405020304" pitchFamily="18" charset="0"/>
                    <a:cs typeface="Times New Roman" panose="02020603050405020304" pitchFamily="18" charset="0"/>
                  </a:rPr>
                  <a:t>where, </a:t>
                </a:r>
              </a:p>
              <a:p>
                <a:pPr marL="285750" indent="-285750">
                  <a:buFont typeface="Arial" panose="020B0604020202020204" pitchFamily="34" charset="0"/>
                  <a:buChar char="•"/>
                </a:pPr>
                <a14:m>
                  <m:oMath xmlns:m="http://schemas.openxmlformats.org/officeDocument/2006/math">
                    <m:sSub>
                      <m:sSubPr>
                        <m:ctrlPr>
                          <a:rPr lang="en-IN" b="1" i="1">
                            <a:latin typeface="Cambria Math" panose="02040503050406030204" pitchFamily="18" charset="0"/>
                            <a:cs typeface="Times New Roman" panose="02020603050405020304" pitchFamily="18" charset="0"/>
                          </a:rPr>
                        </m:ctrlPr>
                      </m:sSubPr>
                      <m:e>
                        <m:r>
                          <a:rPr lang="en-IN" b="1" i="1">
                            <a:latin typeface="Cambria Math" panose="02040503050406030204" pitchFamily="18" charset="0"/>
                            <a:cs typeface="Times New Roman" panose="02020603050405020304" pitchFamily="18" charset="0"/>
                          </a:rPr>
                          <m:t>𝑽</m:t>
                        </m:r>
                      </m:e>
                      <m:sub>
                        <m:r>
                          <a:rPr lang="en-IN" b="1" i="1">
                            <a:latin typeface="Cambria Math" panose="02040503050406030204" pitchFamily="18" charset="0"/>
                            <a:cs typeface="Times New Roman" panose="02020603050405020304" pitchFamily="18" charset="0"/>
                          </a:rPr>
                          <m:t>𝒑</m:t>
                        </m:r>
                      </m:sub>
                    </m:sSub>
                  </m:oMath>
                </a14:m>
                <a:r>
                  <a:rPr lang="en-IN" b="1">
                    <a:latin typeface="Times New Roman" panose="02020603050405020304" pitchFamily="18" charset="0"/>
                    <a:cs typeface="Times New Roman" panose="02020603050405020304" pitchFamily="18" charset="0"/>
                  </a:rPr>
                  <a:t> = </a:t>
                </a:r>
                <a:r>
                  <a:rPr lang="en-IN">
                    <a:latin typeface="Times New Roman" panose="02020603050405020304" pitchFamily="18" charset="0"/>
                    <a:cs typeface="Times New Roman" panose="02020603050405020304" pitchFamily="18" charset="0"/>
                  </a:rPr>
                  <a:t>primary voltage = 230 V , 50Hz . </a:t>
                </a:r>
                <a14:m>
                  <m:oMath xmlns:m="http://schemas.openxmlformats.org/officeDocument/2006/math">
                    <m:sSub>
                      <m:sSubPr>
                        <m:ctrlPr>
                          <a:rPr lang="en-IN" b="1" i="1">
                            <a:latin typeface="Cambria Math" panose="02040503050406030204" pitchFamily="18" charset="0"/>
                            <a:cs typeface="Times New Roman" panose="02020603050405020304" pitchFamily="18" charset="0"/>
                          </a:rPr>
                        </m:ctrlPr>
                      </m:sSubPr>
                      <m:e>
                        <m:r>
                          <a:rPr lang="en-IN" b="1" i="1">
                            <a:latin typeface="Cambria Math" panose="02040503050406030204" pitchFamily="18" charset="0"/>
                            <a:cs typeface="Times New Roman" panose="02020603050405020304" pitchFamily="18" charset="0"/>
                          </a:rPr>
                          <m:t>𝑽</m:t>
                        </m:r>
                      </m:e>
                      <m:sub>
                        <m:r>
                          <a:rPr lang="en-IN" b="1" i="1" smtClean="0">
                            <a:latin typeface="Cambria Math" panose="02040503050406030204" pitchFamily="18" charset="0"/>
                            <a:cs typeface="Times New Roman" panose="02020603050405020304" pitchFamily="18" charset="0"/>
                          </a:rPr>
                          <m:t>𝒔</m:t>
                        </m:r>
                      </m:sub>
                    </m:sSub>
                  </m:oMath>
                </a14:m>
                <a:r>
                  <a:rPr lang="en-IN" b="1">
                    <a:latin typeface="Times New Roman" panose="02020603050405020304" pitchFamily="18" charset="0"/>
                    <a:cs typeface="Times New Roman" panose="02020603050405020304" pitchFamily="18" charset="0"/>
                  </a:rPr>
                  <a:t> = </a:t>
                </a:r>
                <a:r>
                  <a:rPr lang="en-IN">
                    <a:latin typeface="Times New Roman" panose="02020603050405020304" pitchFamily="18" charset="0"/>
                    <a:cs typeface="Times New Roman" panose="02020603050405020304" pitchFamily="18" charset="0"/>
                  </a:rPr>
                  <a:t>Secondary voltage = 12 V , 50 Hz</a:t>
                </a:r>
              </a:p>
              <a:p>
                <a:pPr marL="285750" indent="-285750">
                  <a:buFont typeface="Arial" panose="020B0604020202020204" pitchFamily="34" charset="0"/>
                  <a:buChar char="•"/>
                </a:pPr>
                <a14:m>
                  <m:oMath xmlns:m="http://schemas.openxmlformats.org/officeDocument/2006/math">
                    <m:sSub>
                      <m:sSubPr>
                        <m:ctrlPr>
                          <a:rPr lang="en-IN" b="1" i="1">
                            <a:latin typeface="Cambria Math" panose="02040503050406030204" pitchFamily="18" charset="0"/>
                            <a:cs typeface="Times New Roman" panose="02020603050405020304" pitchFamily="18" charset="0"/>
                          </a:rPr>
                        </m:ctrlPr>
                      </m:sSubPr>
                      <m:e>
                        <m:r>
                          <a:rPr lang="en-IN" b="1" i="1" smtClean="0">
                            <a:latin typeface="Cambria Math" panose="02040503050406030204" pitchFamily="18" charset="0"/>
                            <a:cs typeface="Times New Roman" panose="02020603050405020304" pitchFamily="18" charset="0"/>
                          </a:rPr>
                          <m:t>𝑵</m:t>
                        </m:r>
                      </m:e>
                      <m:sub>
                        <m:r>
                          <a:rPr lang="en-IN" b="1" i="1">
                            <a:latin typeface="Cambria Math" panose="02040503050406030204" pitchFamily="18" charset="0"/>
                            <a:cs typeface="Times New Roman" panose="02020603050405020304" pitchFamily="18" charset="0"/>
                          </a:rPr>
                          <m:t>𝒑</m:t>
                        </m:r>
                      </m:sub>
                    </m:sSub>
                    <m:r>
                      <a:rPr lang="en-IN" b="1" i="1" smtClean="0">
                        <a:latin typeface="Cambria Math" panose="02040503050406030204" pitchFamily="18" charset="0"/>
                        <a:cs typeface="Times New Roman" panose="02020603050405020304" pitchFamily="18" charset="0"/>
                      </a:rPr>
                      <m:t> </m:t>
                    </m:r>
                  </m:oMath>
                </a14:m>
                <a:r>
                  <a:rPr lang="en-IN" b="1">
                    <a:latin typeface="Times New Roman" panose="02020603050405020304" pitchFamily="18" charset="0"/>
                    <a:cs typeface="Times New Roman" panose="02020603050405020304" pitchFamily="18" charset="0"/>
                  </a:rPr>
                  <a:t>= </a:t>
                </a:r>
                <a:r>
                  <a:rPr lang="en-IN">
                    <a:latin typeface="Times New Roman" panose="02020603050405020304" pitchFamily="18" charset="0"/>
                    <a:cs typeface="Times New Roman" panose="02020603050405020304" pitchFamily="18" charset="0"/>
                  </a:rPr>
                  <a:t>primary turns . </a:t>
                </a:r>
                <a14:m>
                  <m:oMath xmlns:m="http://schemas.openxmlformats.org/officeDocument/2006/math">
                    <m:sSub>
                      <m:sSubPr>
                        <m:ctrlPr>
                          <a:rPr lang="en-IN" b="1" i="1">
                            <a:latin typeface="Cambria Math" panose="02040503050406030204" pitchFamily="18" charset="0"/>
                            <a:cs typeface="Times New Roman" panose="02020603050405020304" pitchFamily="18" charset="0"/>
                          </a:rPr>
                        </m:ctrlPr>
                      </m:sSubPr>
                      <m:e>
                        <m:r>
                          <a:rPr lang="en-IN" b="1" i="1" smtClean="0">
                            <a:latin typeface="Cambria Math" panose="02040503050406030204" pitchFamily="18" charset="0"/>
                            <a:cs typeface="Times New Roman" panose="02020603050405020304" pitchFamily="18" charset="0"/>
                          </a:rPr>
                          <m:t>𝑵</m:t>
                        </m:r>
                      </m:e>
                      <m:sub>
                        <m:r>
                          <a:rPr lang="en-IN" b="1" i="1" smtClean="0">
                            <a:latin typeface="Cambria Math" panose="02040503050406030204" pitchFamily="18" charset="0"/>
                            <a:cs typeface="Times New Roman" panose="02020603050405020304" pitchFamily="18" charset="0"/>
                          </a:rPr>
                          <m:t>𝒔</m:t>
                        </m:r>
                      </m:sub>
                    </m:sSub>
                  </m:oMath>
                </a14:m>
                <a:r>
                  <a:rPr lang="en-IN" b="1">
                    <a:latin typeface="Times New Roman" panose="02020603050405020304" pitchFamily="18" charset="0"/>
                    <a:cs typeface="Times New Roman" panose="02020603050405020304" pitchFamily="18" charset="0"/>
                  </a:rPr>
                  <a:t> = </a:t>
                </a:r>
                <a:r>
                  <a:rPr lang="en-IN">
                    <a:latin typeface="Times New Roman" panose="02020603050405020304" pitchFamily="18" charset="0"/>
                    <a:cs typeface="Times New Roman" panose="02020603050405020304" pitchFamily="18" charset="0"/>
                  </a:rPr>
                  <a:t>Secondary turns </a:t>
                </a:r>
              </a:p>
              <a:p>
                <a:pPr marL="28575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Therefore , Here the </a:t>
                </a:r>
                <a14:m>
                  <m:oMath xmlns:m="http://schemas.openxmlformats.org/officeDocument/2006/math">
                    <m:sSub>
                      <m:sSubPr>
                        <m:ctrlPr>
                          <a:rPr lang="en-IN" b="1" i="1">
                            <a:latin typeface="Cambria Math" panose="02040503050406030204" pitchFamily="18" charset="0"/>
                            <a:cs typeface="Times New Roman" panose="02020603050405020304" pitchFamily="18" charset="0"/>
                          </a:rPr>
                        </m:ctrlPr>
                      </m:sSubPr>
                      <m:e>
                        <m:r>
                          <a:rPr lang="en-IN" b="1" i="1" smtClean="0">
                            <a:latin typeface="Cambria Math" panose="02040503050406030204" pitchFamily="18" charset="0"/>
                            <a:cs typeface="Times New Roman" panose="02020603050405020304" pitchFamily="18" charset="0"/>
                          </a:rPr>
                          <m:t>𝑵</m:t>
                        </m:r>
                      </m:e>
                      <m:sub>
                        <m:r>
                          <a:rPr lang="en-IN" b="1" i="1">
                            <a:latin typeface="Cambria Math" panose="02040503050406030204" pitchFamily="18" charset="0"/>
                            <a:cs typeface="Times New Roman" panose="02020603050405020304" pitchFamily="18" charset="0"/>
                          </a:rPr>
                          <m:t>𝒑</m:t>
                        </m:r>
                      </m:sub>
                    </m:sSub>
                  </m:oMath>
                </a14:m>
                <a:r>
                  <a:rPr lang="en-IN">
                    <a:latin typeface="Times New Roman" panose="02020603050405020304" pitchFamily="18" charset="0"/>
                    <a:cs typeface="Times New Roman" panose="02020603050405020304" pitchFamily="18" charset="0"/>
                  </a:rPr>
                  <a:t> : </a:t>
                </a:r>
                <a14:m>
                  <m:oMath xmlns:m="http://schemas.openxmlformats.org/officeDocument/2006/math">
                    <m:sSub>
                      <m:sSubPr>
                        <m:ctrlPr>
                          <a:rPr lang="en-IN" b="1" i="1">
                            <a:latin typeface="Cambria Math" panose="02040503050406030204" pitchFamily="18" charset="0"/>
                            <a:cs typeface="Times New Roman" panose="02020603050405020304" pitchFamily="18" charset="0"/>
                          </a:rPr>
                        </m:ctrlPr>
                      </m:sSubPr>
                      <m:e>
                        <m:r>
                          <a:rPr lang="en-IN" b="1" i="1" smtClean="0">
                            <a:latin typeface="Cambria Math" panose="02040503050406030204" pitchFamily="18" charset="0"/>
                            <a:cs typeface="Times New Roman" panose="02020603050405020304" pitchFamily="18" charset="0"/>
                          </a:rPr>
                          <m:t>𝑵</m:t>
                        </m:r>
                      </m:e>
                      <m:sub>
                        <m:r>
                          <a:rPr lang="en-IN" b="1" i="1" smtClean="0">
                            <a:latin typeface="Cambria Math" panose="02040503050406030204" pitchFamily="18" charset="0"/>
                            <a:cs typeface="Times New Roman" panose="02020603050405020304" pitchFamily="18" charset="0"/>
                          </a:rPr>
                          <m:t>𝒔</m:t>
                        </m:r>
                      </m:sub>
                    </m:sSub>
                    <m:r>
                      <a:rPr lang="en-IN" b="1" i="1" smtClean="0">
                        <a:latin typeface="Cambria Math" panose="02040503050406030204" pitchFamily="18" charset="0"/>
                        <a:cs typeface="Times New Roman" panose="02020603050405020304" pitchFamily="18" charset="0"/>
                      </a:rPr>
                      <m:t> </m:t>
                    </m:r>
                  </m:oMath>
                </a14:m>
                <a:r>
                  <a:rPr lang="en-IN">
                    <a:latin typeface="Times New Roman" panose="02020603050405020304" pitchFamily="18" charset="0"/>
                    <a:cs typeface="Times New Roman" panose="02020603050405020304" pitchFamily="18" charset="0"/>
                  </a:rPr>
                  <a:t> =  19 : 1 </a:t>
                </a:r>
              </a:p>
              <a:p>
                <a:pPr marL="28575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The current Rating of the transformer is 1A.</a:t>
                </a:r>
                <a:endParaRPr lang="en-IN" sz="16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The Power Rating of the transformer is 12AV.</a:t>
                </a:r>
              </a:p>
            </p:txBody>
          </p:sp>
        </mc:Choice>
        <mc:Fallback xmlns="">
          <p:sp>
            <p:nvSpPr>
              <p:cNvPr id="8" name="TextBox 7">
                <a:extLst>
                  <a:ext uri="{FF2B5EF4-FFF2-40B4-BE49-F238E27FC236}">
                    <a16:creationId xmlns:a16="http://schemas.microsoft.com/office/drawing/2014/main" id="{A34805C2-FA0A-D657-99CF-DF8074C4186A}"/>
                  </a:ext>
                </a:extLst>
              </p:cNvPr>
              <p:cNvSpPr txBox="1">
                <a:spLocks noRot="1" noChangeAspect="1" noMove="1" noResize="1" noEditPoints="1" noAdjustHandles="1" noChangeArrowheads="1" noChangeShapeType="1" noTextEdit="1"/>
              </p:cNvSpPr>
              <p:nvPr/>
            </p:nvSpPr>
            <p:spPr>
              <a:xfrm>
                <a:off x="24581" y="623017"/>
                <a:ext cx="12167419" cy="3975191"/>
              </a:xfrm>
              <a:prstGeom prst="rect">
                <a:avLst/>
              </a:prstGeom>
              <a:blipFill>
                <a:blip r:embed="rId3"/>
                <a:stretch>
                  <a:fillRect l="-250" t="-306" b="-1376"/>
                </a:stretch>
              </a:blipFill>
              <a:ln>
                <a:solidFill>
                  <a:srgbClr val="002C00"/>
                </a:solidFill>
              </a:ln>
            </p:spPr>
            <p:txBody>
              <a:bodyPr/>
              <a:lstStyle/>
              <a:p>
                <a:r>
                  <a:rPr lang="en-US">
                    <a:noFill/>
                  </a:rPr>
                  <a:t> </a:t>
                </a:r>
              </a:p>
            </p:txBody>
          </p:sp>
        </mc:Fallback>
      </mc:AlternateContent>
      <p:pic>
        <p:nvPicPr>
          <p:cNvPr id="2" name="Picture 1">
            <a:extLst>
              <a:ext uri="{FF2B5EF4-FFF2-40B4-BE49-F238E27FC236}">
                <a16:creationId xmlns:a16="http://schemas.microsoft.com/office/drawing/2014/main" id="{38CF7BC1-BA44-0792-0F31-7B2363854499}"/>
              </a:ext>
            </a:extLst>
          </p:cNvPr>
          <p:cNvPicPr>
            <a:picLocks noChangeAspect="1"/>
          </p:cNvPicPr>
          <p:nvPr/>
        </p:nvPicPr>
        <p:blipFill>
          <a:blip r:embed="rId4"/>
          <a:stretch>
            <a:fillRect/>
          </a:stretch>
        </p:blipFill>
        <p:spPr>
          <a:xfrm>
            <a:off x="2937883" y="4725051"/>
            <a:ext cx="5932740" cy="2072640"/>
          </a:xfrm>
          <a:prstGeom prst="rect">
            <a:avLst/>
          </a:prstGeom>
          <a:ln>
            <a:solidFill>
              <a:schemeClr val="tx1"/>
            </a:solidFill>
          </a:ln>
        </p:spPr>
      </p:pic>
    </p:spTree>
    <p:extLst>
      <p:ext uri="{BB962C8B-B14F-4D97-AF65-F5344CB8AC3E}">
        <p14:creationId xmlns:p14="http://schemas.microsoft.com/office/powerpoint/2010/main" val="4050388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29D0C-A5C6-BFB3-4082-19571FF86F63}"/>
            </a:ext>
          </a:extLst>
        </p:cNvPr>
        <p:cNvGrpSpPr/>
        <p:nvPr/>
      </p:nvGrpSpPr>
      <p:grpSpPr>
        <a:xfrm>
          <a:off x="0" y="0"/>
          <a:ext cx="0" cy="0"/>
          <a:chOff x="0" y="0"/>
          <a:chExt cx="0" cy="0"/>
        </a:xfrm>
      </p:grpSpPr>
      <p:pic>
        <p:nvPicPr>
          <p:cNvPr id="4" name="Picture 3" descr="KLE Technological University in Hubballi">
            <a:extLst>
              <a:ext uri="{FF2B5EF4-FFF2-40B4-BE49-F238E27FC236}">
                <a16:creationId xmlns:a16="http://schemas.microsoft.com/office/drawing/2014/main" id="{6DFF0873-45AA-9D21-3E88-62ACC3D5C78B}"/>
              </a:ext>
            </a:extLst>
          </p:cNvPr>
          <p:cNvPicPr>
            <a:picLocks noChangeAspect="1"/>
          </p:cNvPicPr>
          <p:nvPr/>
        </p:nvPicPr>
        <p:blipFill rotWithShape="1">
          <a:blip r:embed="rId2">
            <a:extLst>
              <a:ext uri="{28A0092B-C50C-407E-A947-70E740481C1C}">
                <a14:useLocalDpi xmlns:a14="http://schemas.microsoft.com/office/drawing/2010/main" val="0"/>
              </a:ext>
            </a:extLst>
          </a:blip>
          <a:srcRect t="37713" b="37711"/>
          <a:stretch/>
        </p:blipFill>
        <p:spPr bwMode="auto">
          <a:xfrm>
            <a:off x="9544414" y="0"/>
            <a:ext cx="2647586" cy="623017"/>
          </a:xfrm>
          <a:prstGeom prst="rect">
            <a:avLst/>
          </a:prstGeom>
          <a:noFill/>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A27FFA7D-55A3-DCB4-8DF0-00C2EF4CB774}"/>
              </a:ext>
            </a:extLst>
          </p:cNvPr>
          <p:cNvSpPr txBox="1"/>
          <p:nvPr/>
        </p:nvSpPr>
        <p:spPr>
          <a:xfrm>
            <a:off x="-1" y="0"/>
            <a:ext cx="3647769" cy="369332"/>
          </a:xfrm>
          <a:prstGeom prst="rect">
            <a:avLst/>
          </a:prstGeom>
          <a:solidFill>
            <a:schemeClr val="tx2">
              <a:lumMod val="20000"/>
              <a:lumOff val="80000"/>
            </a:schemeClr>
          </a:solidFill>
        </p:spPr>
        <p:txBody>
          <a:bodyPr wrap="square">
            <a:spAutoFit/>
          </a:bodyPr>
          <a:lstStyle/>
          <a:p>
            <a:r>
              <a:rPr lang="en-US" sz="1800" b="1">
                <a:latin typeface="Times New Roman" panose="02020603050405020304" pitchFamily="18" charset="0"/>
                <a:cs typeface="Times New Roman" panose="02020603050405020304" pitchFamily="18" charset="0"/>
              </a:rPr>
              <a:t>Mini Project  (</a:t>
            </a:r>
            <a:r>
              <a:rPr lang="en-IN"/>
              <a:t>23EECW301</a:t>
            </a:r>
            <a:r>
              <a:rPr lang="en-US" sz="1800" b="1">
                <a:latin typeface="Times New Roman" panose="02020603050405020304" pitchFamily="18" charset="0"/>
                <a:cs typeface="Times New Roman" panose="02020603050405020304" pitchFamily="18" charset="0"/>
              </a:rPr>
              <a:t>)</a:t>
            </a:r>
            <a:endParaRPr lang="en-IN" sz="1800"/>
          </a:p>
        </p:txBody>
      </p:sp>
      <p:sp>
        <p:nvSpPr>
          <p:cNvPr id="7" name="TextBox 6">
            <a:extLst>
              <a:ext uri="{FF2B5EF4-FFF2-40B4-BE49-F238E27FC236}">
                <a16:creationId xmlns:a16="http://schemas.microsoft.com/office/drawing/2014/main" id="{3854AAC7-1A73-63B2-8498-7F186F143ACA}"/>
              </a:ext>
            </a:extLst>
          </p:cNvPr>
          <p:cNvSpPr txBox="1"/>
          <p:nvPr/>
        </p:nvSpPr>
        <p:spPr>
          <a:xfrm>
            <a:off x="4473677" y="126842"/>
            <a:ext cx="3834581" cy="369332"/>
          </a:xfrm>
          <a:prstGeom prst="rect">
            <a:avLst/>
          </a:prstGeom>
          <a:noFill/>
          <a:ln>
            <a:solidFill>
              <a:schemeClr val="tx1"/>
            </a:solidFill>
          </a:ln>
        </p:spPr>
        <p:txBody>
          <a:bodyPr wrap="square" rtlCol="0">
            <a:spAutoFit/>
          </a:bodyPr>
          <a:lstStyle/>
          <a:p>
            <a:pPr algn="ctr"/>
            <a:r>
              <a:rPr lang="en-IN" b="1">
                <a:latin typeface="Times New Roman" panose="02020603050405020304" pitchFamily="18" charset="0"/>
                <a:cs typeface="Times New Roman" panose="02020603050405020304" pitchFamily="18" charset="0"/>
              </a:rPr>
              <a:t>BRIDGE RECTIFIER</a:t>
            </a:r>
          </a:p>
        </p:txBody>
      </p:sp>
      <p:sp>
        <p:nvSpPr>
          <p:cNvPr id="2" name="TextBox 1">
            <a:extLst>
              <a:ext uri="{FF2B5EF4-FFF2-40B4-BE49-F238E27FC236}">
                <a16:creationId xmlns:a16="http://schemas.microsoft.com/office/drawing/2014/main" id="{A16B019A-7189-733D-4E68-014208027A3F}"/>
              </a:ext>
            </a:extLst>
          </p:cNvPr>
          <p:cNvSpPr txBox="1"/>
          <p:nvPr/>
        </p:nvSpPr>
        <p:spPr>
          <a:xfrm>
            <a:off x="24582" y="623017"/>
            <a:ext cx="6602360" cy="3139321"/>
          </a:xfrm>
          <a:prstGeom prst="rect">
            <a:avLst/>
          </a:prstGeom>
          <a:solidFill>
            <a:srgbClr val="F7F2ED">
              <a:alpha val="1961"/>
            </a:srgbClr>
          </a:solidFill>
          <a:ln>
            <a:solidFill>
              <a:srgbClr val="002C00"/>
            </a:solidFill>
          </a:ln>
        </p:spPr>
        <p:txBody>
          <a:bodyPr wrap="square" rtlCol="0">
            <a:spAutoFit/>
          </a:bodyPr>
          <a:lstStyle/>
          <a:p>
            <a:pPr marL="285750" indent="-285750">
              <a:buFont typeface="Wingdings" panose="05000000000000000000" pitchFamily="2" charset="2"/>
              <a:buChar char="Ø"/>
            </a:pPr>
            <a:r>
              <a:rPr lang="en-IN" sz="1600">
                <a:latin typeface="Times New Roman" panose="02020603050405020304" pitchFamily="18" charset="0"/>
                <a:cs typeface="Times New Roman" panose="02020603050405020304" pitchFamily="18" charset="0"/>
              </a:rPr>
              <a:t>Here the bridge rectifier is used to convert the 12 V AC supply into DC .</a:t>
            </a:r>
          </a:p>
          <a:p>
            <a:endParaRPr lang="en-IN" sz="10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b="1">
                <a:latin typeface="Times New Roman" panose="02020603050405020304" pitchFamily="18" charset="0"/>
                <a:cs typeface="Times New Roman" panose="02020603050405020304" pitchFamily="18" charset="0"/>
              </a:rPr>
              <a:t>Why Bridge rectifier is Preferred over other rectifier circuits ?</a:t>
            </a:r>
          </a:p>
          <a:p>
            <a:pPr marL="285750" indent="-285750">
              <a:buFont typeface="Wingdings" panose="05000000000000000000" pitchFamily="2" charset="2"/>
              <a:buChar char="ü"/>
            </a:pPr>
            <a:r>
              <a:rPr lang="en-IN" sz="1600">
                <a:latin typeface="Times New Roman" panose="02020603050405020304" pitchFamily="18" charset="0"/>
                <a:cs typeface="Times New Roman" panose="02020603050405020304" pitchFamily="18" charset="0"/>
              </a:rPr>
              <a:t>It uses both half cycles of the AC signal , so that it increases the efficiency.</a:t>
            </a:r>
          </a:p>
          <a:p>
            <a:pPr marL="285750" indent="-285750">
              <a:buFont typeface="Wingdings" panose="05000000000000000000" pitchFamily="2" charset="2"/>
              <a:buChar char="ü"/>
            </a:pPr>
            <a:r>
              <a:rPr lang="en-IN" sz="1600">
                <a:latin typeface="Times New Roman" panose="02020603050405020304" pitchFamily="18" charset="0"/>
                <a:cs typeface="Times New Roman" panose="02020603050405020304" pitchFamily="18" charset="0"/>
              </a:rPr>
              <a:t>It</a:t>
            </a:r>
            <a:r>
              <a:rPr lang="en-IN" sz="1600" b="1">
                <a:latin typeface="Times New Roman" panose="02020603050405020304" pitchFamily="18" charset="0"/>
                <a:cs typeface="Times New Roman" panose="02020603050405020304" pitchFamily="18" charset="0"/>
              </a:rPr>
              <a:t> </a:t>
            </a:r>
            <a:r>
              <a:rPr lang="en-IN" sz="1600">
                <a:latin typeface="Times New Roman" panose="02020603050405020304" pitchFamily="18" charset="0"/>
                <a:cs typeface="Times New Roman" panose="02020603050405020304" pitchFamily="18" charset="0"/>
              </a:rPr>
              <a:t>provides Less ripples.</a:t>
            </a:r>
          </a:p>
          <a:p>
            <a:pPr marL="285750" indent="-285750">
              <a:buFont typeface="Wingdings" panose="05000000000000000000" pitchFamily="2" charset="2"/>
              <a:buChar char="ü"/>
            </a:pPr>
            <a:r>
              <a:rPr lang="en-IN" sz="1600">
                <a:latin typeface="Times New Roman" panose="02020603050405020304" pitchFamily="18" charset="0"/>
                <a:cs typeface="Times New Roman" panose="02020603050405020304" pitchFamily="18" charset="0"/>
              </a:rPr>
              <a:t>It is cheap and simple two wire input circuit.</a:t>
            </a:r>
          </a:p>
          <a:p>
            <a:endParaRPr lang="en-IN" sz="16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b="1">
                <a:latin typeface="Times New Roman" panose="02020603050405020304" pitchFamily="18" charset="0"/>
                <a:cs typeface="Times New Roman" panose="02020603050405020304" pitchFamily="18" charset="0"/>
              </a:rPr>
              <a:t>Working : </a:t>
            </a:r>
          </a:p>
          <a:p>
            <a:pPr marL="28575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In bridge Rectifier there are 4 diodes placed as shown below and for every cycle two diodes will be ON , providing output similar to the full wave rectifier.</a:t>
            </a:r>
          </a:p>
          <a:p>
            <a:pPr marL="28575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Here the output supply will be having 100 Hz as frequency.</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430D4F8-FD80-9CCA-07A5-1477078FE7C5}"/>
                  </a:ext>
                </a:extLst>
              </p:cNvPr>
              <p:cNvSpPr txBox="1"/>
              <p:nvPr/>
            </p:nvSpPr>
            <p:spPr>
              <a:xfrm>
                <a:off x="6794090" y="623017"/>
                <a:ext cx="5299587" cy="5521191"/>
              </a:xfrm>
              <a:prstGeom prst="rect">
                <a:avLst/>
              </a:prstGeom>
              <a:solidFill>
                <a:srgbClr val="F7F2ED">
                  <a:alpha val="20000"/>
                </a:srgbClr>
              </a:solidFill>
              <a:ln>
                <a:solidFill>
                  <a:srgbClr val="002C00"/>
                </a:solidFill>
              </a:ln>
            </p:spPr>
            <p:txBody>
              <a:bodyPr wrap="square" rtlCol="0">
                <a:spAutoFit/>
              </a:bodyPr>
              <a:lstStyle/>
              <a:p>
                <a:pPr algn="ctr"/>
                <a:r>
                  <a:rPr lang="en-IN" b="1">
                    <a:latin typeface="Times New Roman" panose="02020603050405020304" pitchFamily="18" charset="0"/>
                    <a:cs typeface="Times New Roman" panose="02020603050405020304" pitchFamily="18" charset="0"/>
                  </a:rPr>
                  <a:t>Diode Specifications and Selection</a:t>
                </a:r>
              </a:p>
              <a:p>
                <a:pPr marL="342900" indent="-342900">
                  <a:buFont typeface="+mj-lt"/>
                  <a:buAutoNum type="arabicPeriod"/>
                </a:pPr>
                <a:r>
                  <a:rPr lang="en-IN" sz="1600">
                    <a:latin typeface="Times New Roman" panose="02020603050405020304" pitchFamily="18" charset="0"/>
                    <a:cs typeface="Times New Roman" panose="02020603050405020304" pitchFamily="18" charset="0"/>
                  </a:rPr>
                  <a:t>PIV ( Peak Inverse Voltage ) :  When the AC reverses, the diode sees the reverse voltage .</a:t>
                </a:r>
              </a:p>
              <a:p>
                <a:pPr algn="ctr"/>
                <a:r>
                  <a:rPr lang="en-IN" sz="1600">
                    <a:latin typeface="Times New Roman" panose="02020603050405020304" pitchFamily="18" charset="0"/>
                    <a:cs typeface="Times New Roman" panose="02020603050405020304" pitchFamily="18" charset="0"/>
                  </a:rPr>
                  <a:t>i.e.     </a:t>
                </a:r>
                <a14:m>
                  <m:oMath xmlns:m="http://schemas.openxmlformats.org/officeDocument/2006/math">
                    <m:r>
                      <a:rPr lang="en-IN" b="1" i="1">
                        <a:latin typeface="Cambria Math" panose="02040503050406030204" pitchFamily="18" charset="0"/>
                        <a:ea typeface="Cambria Math" panose="02040503050406030204" pitchFamily="18" charset="0"/>
                        <a:cs typeface="Times New Roman" panose="02020603050405020304" pitchFamily="18" charset="0"/>
                      </a:rPr>
                      <m:t>𝐏</m:t>
                    </m:r>
                    <m:r>
                      <a:rPr lang="en-IN" b="1" i="0" smtClean="0">
                        <a:latin typeface="Cambria Math" panose="02040503050406030204" pitchFamily="18" charset="0"/>
                        <a:ea typeface="Cambria Math" panose="02040503050406030204" pitchFamily="18" charset="0"/>
                        <a:cs typeface="Times New Roman" panose="02020603050405020304" pitchFamily="18" charset="0"/>
                      </a:rPr>
                      <m:t>𝐈𝐕</m:t>
                    </m:r>
                    <m:r>
                      <a:rPr lang="en-IN" b="1" i="1" smtClean="0">
                        <a:latin typeface="Cambria Math" panose="02040503050406030204" pitchFamily="18" charset="0"/>
                        <a:ea typeface="Cambria Math" panose="02040503050406030204" pitchFamily="18" charset="0"/>
                        <a:cs typeface="Times New Roman" panose="02020603050405020304" pitchFamily="18" charset="0"/>
                      </a:rPr>
                      <m:t>≈  </m:t>
                    </m:r>
                    <m:r>
                      <a:rPr lang="en-IN" b="1" i="1" smtClean="0">
                        <a:latin typeface="Cambria Math" panose="02040503050406030204" pitchFamily="18" charset="0"/>
                        <a:ea typeface="Cambria Math" panose="02040503050406030204" pitchFamily="18" charset="0"/>
                        <a:cs typeface="Times New Roman" panose="02020603050405020304" pitchFamily="18" charset="0"/>
                      </a:rPr>
                      <m:t>𝟐</m:t>
                    </m:r>
                    <m:r>
                      <a:rPr lang="en-IN" b="1" i="1" smtClean="0">
                        <a:latin typeface="Cambria Math" panose="02040503050406030204" pitchFamily="18" charset="0"/>
                        <a:ea typeface="Cambria Math" panose="02040503050406030204" pitchFamily="18" charset="0"/>
                        <a:cs typeface="Times New Roman" panose="02020603050405020304" pitchFamily="18" charset="0"/>
                      </a:rPr>
                      <m:t> × </m:t>
                    </m:r>
                    <m:sSub>
                      <m:sSubPr>
                        <m:ctrlPr>
                          <a:rPr lang="en-IN"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b="1" i="1" smtClean="0">
                            <a:latin typeface="Cambria Math" panose="02040503050406030204" pitchFamily="18" charset="0"/>
                            <a:ea typeface="Cambria Math" panose="02040503050406030204" pitchFamily="18" charset="0"/>
                            <a:cs typeface="Times New Roman" panose="02020603050405020304" pitchFamily="18" charset="0"/>
                          </a:rPr>
                          <m:t>𝑽</m:t>
                        </m:r>
                      </m:e>
                      <m:sub>
                        <m:r>
                          <a:rPr lang="en-IN" b="1" i="1" smtClean="0">
                            <a:latin typeface="Cambria Math" panose="02040503050406030204" pitchFamily="18" charset="0"/>
                            <a:ea typeface="Cambria Math" panose="02040503050406030204" pitchFamily="18" charset="0"/>
                            <a:cs typeface="Times New Roman" panose="02020603050405020304" pitchFamily="18" charset="0"/>
                          </a:rPr>
                          <m:t>𝒑𝒆𝒂𝒌</m:t>
                        </m:r>
                      </m:sub>
                    </m:sSub>
                    <m:r>
                      <a:rPr lang="en-IN" b="1" i="1" smtClean="0">
                        <a:latin typeface="Cambria Math" panose="02040503050406030204" pitchFamily="18" charset="0"/>
                        <a:ea typeface="Cambria Math" panose="02040503050406030204" pitchFamily="18" charset="0"/>
                        <a:cs typeface="Times New Roman" panose="02020603050405020304" pitchFamily="18" charset="0"/>
                      </a:rPr>
                      <m:t> </m:t>
                    </m:r>
                  </m:oMath>
                </a14:m>
                <a:endParaRPr lang="en-IN" b="1">
                  <a:latin typeface="Times New Roman" panose="02020603050405020304" pitchFamily="18" charset="0"/>
                  <a:cs typeface="Times New Roman" panose="02020603050405020304" pitchFamily="18" charset="0"/>
                </a:endParaRPr>
              </a:p>
              <a:p>
                <a:pPr algn="ctr"/>
                <a:endParaRPr lang="en-IN" sz="8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a:latin typeface="Times New Roman" panose="02020603050405020304" pitchFamily="18" charset="0"/>
                    <a:cs typeface="Times New Roman" panose="02020603050405020304" pitchFamily="18" charset="0"/>
                  </a:rPr>
                  <a:t>Here </a:t>
                </a:r>
                <a14:m>
                  <m:oMath xmlns:m="http://schemas.openxmlformats.org/officeDocument/2006/math">
                    <m:sSub>
                      <m:sSubPr>
                        <m:ctrlPr>
                          <a:rPr lang="en-IN"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IN" sz="1600" b="0" i="1">
                            <a:latin typeface="Cambria Math" panose="02040503050406030204" pitchFamily="18" charset="0"/>
                            <a:ea typeface="Cambria Math" panose="02040503050406030204" pitchFamily="18" charset="0"/>
                            <a:cs typeface="Times New Roman" panose="02020603050405020304" pitchFamily="18" charset="0"/>
                          </a:rPr>
                          <m:t>𝑉</m:t>
                        </m:r>
                      </m:e>
                      <m:sub>
                        <m:r>
                          <a:rPr lang="en-IN" sz="1600" b="0" i="1">
                            <a:latin typeface="Cambria Math" panose="02040503050406030204" pitchFamily="18" charset="0"/>
                            <a:ea typeface="Cambria Math" panose="02040503050406030204" pitchFamily="18" charset="0"/>
                            <a:cs typeface="Times New Roman" panose="02020603050405020304" pitchFamily="18" charset="0"/>
                          </a:rPr>
                          <m:t>𝑝𝑒𝑎𝑘</m:t>
                        </m:r>
                      </m:sub>
                    </m:s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IN" sz="160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𝑉</m:t>
                        </m:r>
                      </m:e>
                      <m: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𝑅𝑀𝑆</m:t>
                        </m:r>
                      </m:sub>
                    </m:s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 × </m:t>
                    </m:r>
                    <m:rad>
                      <m:radPr>
                        <m:degHide m:val="on"/>
                        <m:ctrlPr>
                          <a:rPr lang="en-IN" sz="1600" i="1" smtClean="0">
                            <a:latin typeface="Cambria Math" panose="02040503050406030204" pitchFamily="18" charset="0"/>
                            <a:ea typeface="Cambria Math" panose="02040503050406030204" pitchFamily="18" charset="0"/>
                            <a:cs typeface="Times New Roman" panose="02020603050405020304" pitchFamily="18" charset="0"/>
                          </a:rPr>
                        </m:ctrlPr>
                      </m:radPr>
                      <m:deg/>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2</m:t>
                        </m:r>
                      </m:e>
                    </m:rad>
                    <m:r>
                      <a:rPr lang="en-IN" sz="1600" b="0" i="1" smtClean="0">
                        <a:latin typeface="Cambria Math" panose="02040503050406030204" pitchFamily="18" charset="0"/>
                        <a:ea typeface="Cambria Math" panose="02040503050406030204" pitchFamily="18" charset="0"/>
                        <a:cs typeface="Times New Roman" panose="02020603050405020304" pitchFamily="18" charset="0"/>
                      </a:rPr>
                      <m:t> =12 × </m:t>
                    </m:r>
                    <m:rad>
                      <m:radPr>
                        <m:degHide m:val="on"/>
                        <m:ctrlPr>
                          <a:rPr lang="en-IN" sz="1600" i="1" smtClean="0">
                            <a:latin typeface="Cambria Math" panose="02040503050406030204" pitchFamily="18" charset="0"/>
                            <a:ea typeface="Cambria Math" panose="02040503050406030204" pitchFamily="18" charset="0"/>
                            <a:cs typeface="Times New Roman" panose="02020603050405020304" pitchFamily="18" charset="0"/>
                          </a:rPr>
                        </m:ctrlPr>
                      </m:radPr>
                      <m:deg/>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2</m:t>
                        </m:r>
                      </m:e>
                    </m:rad>
                    <m:r>
                      <a:rPr lang="en-IN" sz="1600" b="0" i="0" smtClean="0">
                        <a:latin typeface="Cambria Math" panose="02040503050406030204" pitchFamily="18" charset="0"/>
                        <a:ea typeface="Cambria Math" panose="02040503050406030204" pitchFamily="18" charset="0"/>
                        <a:cs typeface="Times New Roman" panose="02020603050405020304" pitchFamily="18" charset="0"/>
                      </a:rPr>
                      <m:t>=16.97 </m:t>
                    </m:r>
                    <m:r>
                      <m:rPr>
                        <m:sty m:val="p"/>
                      </m:rPr>
                      <a:rPr lang="en-IN" sz="1600" b="0" i="0" smtClean="0">
                        <a:latin typeface="Cambria Math" panose="02040503050406030204" pitchFamily="18" charset="0"/>
                        <a:ea typeface="Cambria Math" panose="02040503050406030204" pitchFamily="18" charset="0"/>
                        <a:cs typeface="Times New Roman" panose="02020603050405020304" pitchFamily="18" charset="0"/>
                      </a:rPr>
                      <m:t>V</m:t>
                    </m:r>
                    <m:r>
                      <a:rPr lang="en-IN" sz="1600" b="0" i="0" smtClean="0">
                        <a:latin typeface="Cambria Math" panose="02040503050406030204" pitchFamily="18" charset="0"/>
                        <a:ea typeface="Cambria Math" panose="02040503050406030204" pitchFamily="18" charset="0"/>
                        <a:cs typeface="Times New Roman" panose="02020603050405020304" pitchFamily="18" charset="0"/>
                      </a:rPr>
                      <m:t> </m:t>
                    </m:r>
                  </m:oMath>
                </a14:m>
                <a:endParaRPr lang="en-IN" sz="16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a:latin typeface="Times New Roman" panose="02020603050405020304" pitchFamily="18" charset="0"/>
                    <a:cs typeface="Times New Roman" panose="02020603050405020304" pitchFamily="18" charset="0"/>
                  </a:rPr>
                  <a:t> PIV = 33.94</a:t>
                </a:r>
              </a:p>
              <a:p>
                <a:pPr marL="285750" indent="-285750">
                  <a:buFont typeface="Arial" panose="020B0604020202020204" pitchFamily="34" charset="0"/>
                  <a:buChar char="•"/>
                </a:pPr>
                <a:r>
                  <a:rPr lang="en-IN" sz="1600">
                    <a:latin typeface="Times New Roman" panose="02020603050405020304" pitchFamily="18" charset="0"/>
                    <a:cs typeface="Times New Roman" panose="02020603050405020304" pitchFamily="18" charset="0"/>
                  </a:rPr>
                  <a:t>Therefore Diode PIV should be at least greater the 34 V.</a:t>
                </a:r>
              </a:p>
              <a:p>
                <a:endParaRPr lang="en-IN" sz="1600">
                  <a:latin typeface="Times New Roman" panose="02020603050405020304" pitchFamily="18" charset="0"/>
                  <a:cs typeface="Times New Roman" panose="02020603050405020304" pitchFamily="18" charset="0"/>
                </a:endParaRPr>
              </a:p>
              <a:p>
                <a:r>
                  <a:rPr lang="en-IN" sz="1600">
                    <a:latin typeface="Times New Roman" panose="02020603050405020304" pitchFamily="18" charset="0"/>
                    <a:cs typeface="Times New Roman" panose="02020603050405020304" pitchFamily="18" charset="0"/>
                  </a:rPr>
                  <a:t>2. Forward Current (</a:t>
                </a:r>
                <a:r>
                  <a:rPr lang="en-IN" sz="1600" b="1">
                    <a:latin typeface="Times New Roman" panose="02020603050405020304" pitchFamily="18" charset="0"/>
                    <a:cs typeface="Times New Roman" panose="02020603050405020304" pitchFamily="18" charset="0"/>
                  </a:rPr>
                  <a:t>F_I </a:t>
                </a:r>
                <a:r>
                  <a:rPr lang="en-IN" sz="1600">
                    <a:latin typeface="Times New Roman" panose="02020603050405020304" pitchFamily="18" charset="0"/>
                    <a:cs typeface="Times New Roman" panose="02020603050405020304" pitchFamily="18" charset="0"/>
                  </a:rPr>
                  <a:t>) : It is the current that flows through the diodes while conducting.</a:t>
                </a:r>
              </a:p>
              <a:p>
                <a:pPr lvl="1"/>
                <a:r>
                  <a:rPr lang="en-IN" sz="1600">
                    <a:latin typeface="Times New Roman" panose="02020603050405020304" pitchFamily="18" charset="0"/>
                    <a:cs typeface="Times New Roman" panose="02020603050405020304" pitchFamily="18" charset="0"/>
                  </a:rPr>
                  <a:t>Here 1N4007 has current rating as 1A.</a:t>
                </a:r>
              </a:p>
              <a:p>
                <a:pPr lvl="1"/>
                <a:endParaRPr lang="en-IN" sz="1600">
                  <a:latin typeface="Times New Roman" panose="02020603050405020304" pitchFamily="18" charset="0"/>
                  <a:cs typeface="Times New Roman" panose="02020603050405020304" pitchFamily="18" charset="0"/>
                </a:endParaRPr>
              </a:p>
              <a:p>
                <a:r>
                  <a:rPr lang="en-IN" sz="1600">
                    <a:latin typeface="Times New Roman" panose="02020603050405020304" pitchFamily="18" charset="0"/>
                    <a:cs typeface="Times New Roman" panose="02020603050405020304" pitchFamily="18" charset="0"/>
                  </a:rPr>
                  <a:t>3. Forward Voltage Drop (</a:t>
                </a:r>
                <a:r>
                  <a:rPr lang="en-IN" sz="1600" b="1">
                    <a:latin typeface="Times New Roman" panose="02020603050405020304" pitchFamily="18" charset="0"/>
                    <a:cs typeface="Times New Roman" panose="02020603050405020304" pitchFamily="18" charset="0"/>
                  </a:rPr>
                  <a:t>F_V</a:t>
                </a:r>
                <a:r>
                  <a:rPr lang="en-IN" sz="1600">
                    <a:latin typeface="Times New Roman" panose="02020603050405020304" pitchFamily="18" charset="0"/>
                    <a:cs typeface="Times New Roman" panose="02020603050405020304" pitchFamily="18" charset="0"/>
                  </a:rPr>
                  <a:t>) : It is the minimum voltage that current needs to start conducting.</a:t>
                </a:r>
              </a:p>
              <a:p>
                <a:pPr marL="285750" indent="-285750">
                  <a:buFont typeface="Arial" panose="020B0604020202020204" pitchFamily="34" charset="0"/>
                  <a:buChar char="•"/>
                </a:pPr>
                <a:r>
                  <a:rPr lang="en-IN" sz="1600">
                    <a:latin typeface="Times New Roman" panose="02020603050405020304" pitchFamily="18" charset="0"/>
                    <a:cs typeface="Times New Roman" panose="02020603050405020304" pitchFamily="18" charset="0"/>
                  </a:rPr>
                  <a:t>For </a:t>
                </a:r>
                <a:r>
                  <a:rPr lang="en-IN" sz="1600" b="1">
                    <a:latin typeface="Times New Roman" panose="02020603050405020304" pitchFamily="18" charset="0"/>
                    <a:cs typeface="Times New Roman" panose="02020603050405020304" pitchFamily="18" charset="0"/>
                  </a:rPr>
                  <a:t>1N4007</a:t>
                </a:r>
                <a:r>
                  <a:rPr lang="en-IN" sz="1600">
                    <a:latin typeface="Times New Roman" panose="02020603050405020304" pitchFamily="18" charset="0"/>
                    <a:cs typeface="Times New Roman" panose="02020603050405020304" pitchFamily="18" charset="0"/>
                  </a:rPr>
                  <a:t> diode the F_V = 1V  , @1A  and typically it is 0.7 V.</a:t>
                </a:r>
              </a:p>
              <a:p>
                <a:pPr marL="285750" indent="-285750">
                  <a:buFont typeface="Arial" panose="020B0604020202020204" pitchFamily="34" charset="0"/>
                  <a:buChar char="•"/>
                </a:pPr>
                <a:r>
                  <a:rPr lang="en-IN" sz="1600">
                    <a:latin typeface="Times New Roman" panose="02020603050405020304" pitchFamily="18" charset="0"/>
                    <a:cs typeface="Times New Roman" panose="02020603050405020304" pitchFamily="18" charset="0"/>
                  </a:rPr>
                  <a:t>As for each cycle there will be only two diodes are ON , therefore the total voltage drop is 2V , @1A </a:t>
                </a:r>
              </a:p>
              <a:p>
                <a:pPr marL="285750" indent="-285750">
                  <a:buFont typeface="Arial" panose="020B0604020202020204" pitchFamily="34" charset="0"/>
                  <a:buChar char="•"/>
                </a:pPr>
                <a:r>
                  <a:rPr lang="en-IN" sz="1600">
                    <a:latin typeface="Times New Roman" panose="02020603050405020304" pitchFamily="18" charset="0"/>
                    <a:cs typeface="Times New Roman" panose="02020603050405020304" pitchFamily="18" charset="0"/>
                  </a:rPr>
                  <a:t>Therefore the bridge rectifier can provide the </a:t>
                </a:r>
                <a:r>
                  <a:rPr lang="en-IN" sz="1600" b="1">
                    <a:latin typeface="Times New Roman" panose="02020603050405020304" pitchFamily="18" charset="0"/>
                    <a:cs typeface="Times New Roman" panose="02020603050405020304" pitchFamily="18" charset="0"/>
                  </a:rPr>
                  <a:t>maximum DC output supply of 16.97 – 2 </a:t>
                </a:r>
                <a14:m>
                  <m:oMath xmlns:m="http://schemas.openxmlformats.org/officeDocument/2006/math">
                    <m:r>
                      <a:rPr lang="en-IN" sz="1600" b="1" i="1" smtClean="0">
                        <a:latin typeface="Cambria Math" panose="02040503050406030204" pitchFamily="18" charset="0"/>
                        <a:ea typeface="Cambria Math" panose="02040503050406030204" pitchFamily="18" charset="0"/>
                        <a:cs typeface="Times New Roman" panose="02020603050405020304" pitchFamily="18" charset="0"/>
                      </a:rPr>
                      <m:t>≈ </m:t>
                    </m:r>
                  </m:oMath>
                </a14:m>
                <a:r>
                  <a:rPr lang="en-IN" sz="1600" b="1">
                    <a:latin typeface="Times New Roman" panose="02020603050405020304" pitchFamily="18" charset="0"/>
                    <a:cs typeface="Times New Roman" panose="02020603050405020304" pitchFamily="18" charset="0"/>
                  </a:rPr>
                  <a:t>15V </a:t>
                </a:r>
              </a:p>
              <a:p>
                <a:pPr marL="285750" indent="-285750">
                  <a:buFont typeface="Arial" panose="020B0604020202020204" pitchFamily="34" charset="0"/>
                  <a:buChar char="•"/>
                </a:pPr>
                <a:r>
                  <a:rPr lang="en-IN" sz="1600">
                    <a:latin typeface="Times New Roman" panose="02020603050405020304" pitchFamily="18" charset="0"/>
                    <a:cs typeface="Times New Roman" panose="02020603050405020304" pitchFamily="18" charset="0"/>
                  </a:rPr>
                  <a:t>Typically it will in range of 15 to 15.5 V</a:t>
                </a:r>
              </a:p>
            </p:txBody>
          </p:sp>
        </mc:Choice>
        <mc:Fallback xmlns="">
          <p:sp>
            <p:nvSpPr>
              <p:cNvPr id="3" name="TextBox 2">
                <a:extLst>
                  <a:ext uri="{FF2B5EF4-FFF2-40B4-BE49-F238E27FC236}">
                    <a16:creationId xmlns:a16="http://schemas.microsoft.com/office/drawing/2014/main" id="{3430D4F8-FD80-9CCA-07A5-1477078FE7C5}"/>
                  </a:ext>
                </a:extLst>
              </p:cNvPr>
              <p:cNvSpPr txBox="1">
                <a:spLocks noRot="1" noChangeAspect="1" noMove="1" noResize="1" noEditPoints="1" noAdjustHandles="1" noChangeArrowheads="1" noChangeShapeType="1" noTextEdit="1"/>
              </p:cNvSpPr>
              <p:nvPr/>
            </p:nvSpPr>
            <p:spPr>
              <a:xfrm>
                <a:off x="6794090" y="623017"/>
                <a:ext cx="5299587" cy="5521191"/>
              </a:xfrm>
              <a:prstGeom prst="rect">
                <a:avLst/>
              </a:prstGeom>
              <a:blipFill>
                <a:blip r:embed="rId3"/>
                <a:stretch>
                  <a:fillRect l="-574" t="-441" r="-804" b="-330"/>
                </a:stretch>
              </a:blipFill>
              <a:ln>
                <a:solidFill>
                  <a:srgbClr val="002C00"/>
                </a:solidFill>
              </a:ln>
            </p:spPr>
            <p:txBody>
              <a:bodyPr/>
              <a:lstStyle/>
              <a:p>
                <a:r>
                  <a:rPr lang="en-US">
                    <a:noFill/>
                  </a:rPr>
                  <a:t> </a:t>
                </a:r>
              </a:p>
            </p:txBody>
          </p:sp>
        </mc:Fallback>
      </mc:AlternateContent>
      <p:pic>
        <p:nvPicPr>
          <p:cNvPr id="8" name="Picture 7">
            <a:extLst>
              <a:ext uri="{FF2B5EF4-FFF2-40B4-BE49-F238E27FC236}">
                <a16:creationId xmlns:a16="http://schemas.microsoft.com/office/drawing/2014/main" id="{0DB51BC9-B8F2-2737-683E-EC01CF672553}"/>
              </a:ext>
            </a:extLst>
          </p:cNvPr>
          <p:cNvPicPr>
            <a:picLocks noChangeAspect="1"/>
          </p:cNvPicPr>
          <p:nvPr/>
        </p:nvPicPr>
        <p:blipFill>
          <a:blip r:embed="rId4"/>
          <a:stretch>
            <a:fillRect/>
          </a:stretch>
        </p:blipFill>
        <p:spPr>
          <a:xfrm>
            <a:off x="386499" y="3889180"/>
            <a:ext cx="6240443" cy="2681301"/>
          </a:xfrm>
          <a:prstGeom prst="rect">
            <a:avLst/>
          </a:prstGeom>
        </p:spPr>
      </p:pic>
    </p:spTree>
    <p:extLst>
      <p:ext uri="{BB962C8B-B14F-4D97-AF65-F5344CB8AC3E}">
        <p14:creationId xmlns:p14="http://schemas.microsoft.com/office/powerpoint/2010/main" val="2554684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33ED5-9B30-41CF-DEB4-4CB6358F9AFE}"/>
            </a:ext>
          </a:extLst>
        </p:cNvPr>
        <p:cNvGrpSpPr/>
        <p:nvPr/>
      </p:nvGrpSpPr>
      <p:grpSpPr>
        <a:xfrm>
          <a:off x="0" y="0"/>
          <a:ext cx="0" cy="0"/>
          <a:chOff x="0" y="0"/>
          <a:chExt cx="0" cy="0"/>
        </a:xfrm>
      </p:grpSpPr>
      <p:pic>
        <p:nvPicPr>
          <p:cNvPr id="4" name="Picture 3" descr="KLE Technological University in Hubballi">
            <a:extLst>
              <a:ext uri="{FF2B5EF4-FFF2-40B4-BE49-F238E27FC236}">
                <a16:creationId xmlns:a16="http://schemas.microsoft.com/office/drawing/2014/main" id="{06E53A84-0A7A-E2F2-7C4B-95FA1E95C264}"/>
              </a:ext>
            </a:extLst>
          </p:cNvPr>
          <p:cNvPicPr>
            <a:picLocks noChangeAspect="1"/>
          </p:cNvPicPr>
          <p:nvPr/>
        </p:nvPicPr>
        <p:blipFill rotWithShape="1">
          <a:blip r:embed="rId2">
            <a:extLst>
              <a:ext uri="{28A0092B-C50C-407E-A947-70E740481C1C}">
                <a14:useLocalDpi xmlns:a14="http://schemas.microsoft.com/office/drawing/2010/main" val="0"/>
              </a:ext>
            </a:extLst>
          </a:blip>
          <a:srcRect t="37713" b="37711"/>
          <a:stretch/>
        </p:blipFill>
        <p:spPr bwMode="auto">
          <a:xfrm>
            <a:off x="9534254" y="0"/>
            <a:ext cx="2647586" cy="623017"/>
          </a:xfrm>
          <a:prstGeom prst="rect">
            <a:avLst/>
          </a:prstGeom>
          <a:noFill/>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6DDC7DB9-10F0-1BE7-3745-9020CBF14360}"/>
              </a:ext>
            </a:extLst>
          </p:cNvPr>
          <p:cNvSpPr txBox="1"/>
          <p:nvPr/>
        </p:nvSpPr>
        <p:spPr>
          <a:xfrm>
            <a:off x="-1" y="0"/>
            <a:ext cx="3647769" cy="369332"/>
          </a:xfrm>
          <a:prstGeom prst="rect">
            <a:avLst/>
          </a:prstGeom>
          <a:solidFill>
            <a:schemeClr val="tx2">
              <a:lumMod val="20000"/>
              <a:lumOff val="80000"/>
            </a:schemeClr>
          </a:solidFill>
        </p:spPr>
        <p:txBody>
          <a:bodyPr wrap="square">
            <a:spAutoFit/>
          </a:bodyPr>
          <a:lstStyle/>
          <a:p>
            <a:r>
              <a:rPr lang="en-US" sz="1800" b="1">
                <a:latin typeface="Times New Roman" panose="02020603050405020304" pitchFamily="18" charset="0"/>
                <a:cs typeface="Times New Roman" panose="02020603050405020304" pitchFamily="18" charset="0"/>
              </a:rPr>
              <a:t>Mini Project  (</a:t>
            </a:r>
            <a:r>
              <a:rPr lang="en-IN"/>
              <a:t>23EECW301</a:t>
            </a:r>
            <a:r>
              <a:rPr lang="en-US" sz="1800" b="1">
                <a:latin typeface="Times New Roman" panose="02020603050405020304" pitchFamily="18" charset="0"/>
                <a:cs typeface="Times New Roman" panose="02020603050405020304" pitchFamily="18" charset="0"/>
              </a:rPr>
              <a:t>)</a:t>
            </a:r>
            <a:endParaRPr lang="en-IN" sz="1800"/>
          </a:p>
        </p:txBody>
      </p:sp>
      <p:sp>
        <p:nvSpPr>
          <p:cNvPr id="7" name="TextBox 6">
            <a:extLst>
              <a:ext uri="{FF2B5EF4-FFF2-40B4-BE49-F238E27FC236}">
                <a16:creationId xmlns:a16="http://schemas.microsoft.com/office/drawing/2014/main" id="{A4A97602-7D52-5B95-89B3-D343CB3D737E}"/>
              </a:ext>
            </a:extLst>
          </p:cNvPr>
          <p:cNvSpPr txBox="1"/>
          <p:nvPr/>
        </p:nvSpPr>
        <p:spPr>
          <a:xfrm>
            <a:off x="4678800" y="126842"/>
            <a:ext cx="3834581" cy="369332"/>
          </a:xfrm>
          <a:prstGeom prst="rect">
            <a:avLst/>
          </a:prstGeom>
          <a:noFill/>
          <a:ln>
            <a:solidFill>
              <a:schemeClr val="tx1"/>
            </a:solidFill>
          </a:ln>
        </p:spPr>
        <p:txBody>
          <a:bodyPr wrap="square" rtlCol="0">
            <a:spAutoFit/>
          </a:bodyPr>
          <a:lstStyle/>
          <a:p>
            <a:pPr algn="ctr"/>
            <a:r>
              <a:rPr lang="en-IN" b="1">
                <a:latin typeface="Times New Roman" panose="02020603050405020304" pitchFamily="18" charset="0"/>
                <a:cs typeface="Times New Roman" panose="02020603050405020304" pitchFamily="18" charset="0"/>
              </a:rPr>
              <a:t>Filter Capacitor</a:t>
            </a:r>
          </a:p>
        </p:txBody>
      </p:sp>
      <p:sp>
        <p:nvSpPr>
          <p:cNvPr id="2" name="TextBox 1">
            <a:extLst>
              <a:ext uri="{FF2B5EF4-FFF2-40B4-BE49-F238E27FC236}">
                <a16:creationId xmlns:a16="http://schemas.microsoft.com/office/drawing/2014/main" id="{64BA5F37-01E2-4E21-08AB-1EC6B4F103D7}"/>
              </a:ext>
            </a:extLst>
          </p:cNvPr>
          <p:cNvSpPr txBox="1"/>
          <p:nvPr/>
        </p:nvSpPr>
        <p:spPr>
          <a:xfrm>
            <a:off x="24582" y="623017"/>
            <a:ext cx="6297560" cy="1077218"/>
          </a:xfrm>
          <a:prstGeom prst="rect">
            <a:avLst/>
          </a:prstGeom>
          <a:solidFill>
            <a:srgbClr val="F7F2ED">
              <a:alpha val="1961"/>
            </a:srgbClr>
          </a:solidFill>
          <a:ln>
            <a:solidFill>
              <a:srgbClr val="002C00"/>
            </a:solidFill>
          </a:ln>
        </p:spPr>
        <p:txBody>
          <a:bodyPr wrap="square" rtlCol="0">
            <a:spAutoFit/>
          </a:bodyPr>
          <a:lstStyle/>
          <a:p>
            <a:pPr marL="285750" indent="-285750">
              <a:buFont typeface="Wingdings" panose="05000000000000000000" pitchFamily="2" charset="2"/>
              <a:buChar char="Ø"/>
            </a:pPr>
            <a:r>
              <a:rPr lang="en-IN" sz="1600">
                <a:latin typeface="Times New Roman" panose="02020603050405020304" pitchFamily="18" charset="0"/>
                <a:cs typeface="Times New Roman" panose="02020603050405020304" pitchFamily="18" charset="0"/>
              </a:rPr>
              <a:t>The output from the Bridge Rectifier Still Contains some amount of ripples and to remove that ripples we need to have a capacitor as filter.</a:t>
            </a:r>
          </a:p>
          <a:p>
            <a:pPr marL="285750" indent="-285750">
              <a:buFont typeface="Wingdings" panose="05000000000000000000" pitchFamily="2" charset="2"/>
              <a:buChar char="Ø"/>
            </a:pPr>
            <a:r>
              <a:rPr lang="en-IN" sz="1600">
                <a:latin typeface="Times New Roman" panose="02020603050405020304" pitchFamily="18" charset="0"/>
                <a:cs typeface="Times New Roman" panose="02020603050405020304" pitchFamily="18" charset="0"/>
              </a:rPr>
              <a:t>The capacitor charges for peak voltage and discharges to fill or reduce the ripples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7A6A958-C826-426C-C5CA-335B6240EDC0}"/>
                  </a:ext>
                </a:extLst>
              </p:cNvPr>
              <p:cNvSpPr txBox="1"/>
              <p:nvPr/>
            </p:nvSpPr>
            <p:spPr>
              <a:xfrm>
                <a:off x="100414" y="1827078"/>
                <a:ext cx="6221728" cy="4466094"/>
              </a:xfrm>
              <a:prstGeom prst="rect">
                <a:avLst/>
              </a:prstGeom>
              <a:solidFill>
                <a:srgbClr val="F7F2ED">
                  <a:alpha val="20000"/>
                </a:srgbClr>
              </a:solidFill>
              <a:ln>
                <a:solidFill>
                  <a:srgbClr val="002C00"/>
                </a:solidFill>
              </a:ln>
            </p:spPr>
            <p:txBody>
              <a:bodyPr wrap="square" rtlCol="0">
                <a:spAutoFit/>
              </a:bodyPr>
              <a:lstStyle/>
              <a:p>
                <a:pPr algn="ctr"/>
                <a:r>
                  <a:rPr lang="en-IN" b="1">
                    <a:latin typeface="Times New Roman" panose="02020603050405020304" pitchFamily="18" charset="0"/>
                    <a:cs typeface="Times New Roman" panose="02020603050405020304" pitchFamily="18" charset="0"/>
                  </a:rPr>
                  <a:t>Filter Capacitor Sizing :</a:t>
                </a:r>
                <a:endParaRPr lang="en-IN" sz="1600" b="1">
                  <a:latin typeface="Times New Roman" panose="02020603050405020304" pitchFamily="18" charset="0"/>
                  <a:cs typeface="Times New Roman" panose="02020603050405020304" pitchFamily="18" charset="0"/>
                </a:endParaRPr>
              </a:p>
              <a:p>
                <a:pPr marL="342900" indent="-342900">
                  <a:buFont typeface="+mj-lt"/>
                  <a:buAutoNum type="arabicPeriod"/>
                </a:pPr>
                <a:r>
                  <a:rPr lang="en-IN" sz="1600">
                    <a:latin typeface="Times New Roman" panose="02020603050405020304" pitchFamily="18" charset="0"/>
                    <a:cs typeface="Times New Roman" panose="02020603050405020304" pitchFamily="18" charset="0"/>
                  </a:rPr>
                  <a:t>According to higher Load Current (I) choose the bulkier capacitor.</a:t>
                </a:r>
              </a:p>
              <a:p>
                <a:pPr marL="342900" indent="-342900">
                  <a:buFont typeface="+mj-lt"/>
                  <a:buAutoNum type="arabicPeriod"/>
                </a:pPr>
                <a:r>
                  <a:rPr lang="en-IN" sz="1600">
                    <a:latin typeface="Times New Roman" panose="02020603050405020304" pitchFamily="18" charset="0"/>
                    <a:cs typeface="Times New Roman" panose="02020603050405020304" pitchFamily="18" charset="0"/>
                  </a:rPr>
                  <a:t>The formulae we use to calculate capacitor values is , </a:t>
                </a:r>
              </a:p>
              <a:p>
                <a:pPr algn="ctr"/>
                <a:r>
                  <a:rPr lang="en-IN" sz="1600">
                    <a:latin typeface="Times New Roman" panose="02020603050405020304" pitchFamily="18" charset="0"/>
                    <a:cs typeface="Times New Roman" panose="02020603050405020304" pitchFamily="18" charset="0"/>
                  </a:rPr>
                  <a:t>	</a:t>
                </a:r>
                <a14:m>
                  <m:oMath xmlns:m="http://schemas.openxmlformats.org/officeDocument/2006/math">
                    <m:r>
                      <a:rPr lang="en-IN" b="1" i="1" smtClean="0">
                        <a:latin typeface="Cambria Math" panose="02040503050406030204" pitchFamily="18" charset="0"/>
                        <a:cs typeface="Times New Roman" panose="02020603050405020304" pitchFamily="18" charset="0"/>
                      </a:rPr>
                      <m:t>𝑪</m:t>
                    </m:r>
                    <m:r>
                      <a:rPr lang="en-IN" b="1" i="1" smtClean="0">
                        <a:latin typeface="Cambria Math" panose="02040503050406030204" pitchFamily="18" charset="0"/>
                        <a:cs typeface="Times New Roman" panose="02020603050405020304" pitchFamily="18" charset="0"/>
                      </a:rPr>
                      <m:t>= </m:t>
                    </m:r>
                    <m:f>
                      <m:fPr>
                        <m:ctrlPr>
                          <a:rPr lang="en-IN" b="1" i="1" smtClean="0">
                            <a:latin typeface="Cambria Math" panose="02040503050406030204" pitchFamily="18" charset="0"/>
                            <a:cs typeface="Times New Roman" panose="02020603050405020304" pitchFamily="18" charset="0"/>
                          </a:rPr>
                        </m:ctrlPr>
                      </m:fPr>
                      <m:num>
                        <m:r>
                          <a:rPr lang="en-IN" b="1" i="1" smtClean="0">
                            <a:latin typeface="Cambria Math" panose="02040503050406030204" pitchFamily="18" charset="0"/>
                            <a:cs typeface="Times New Roman" panose="02020603050405020304" pitchFamily="18" charset="0"/>
                          </a:rPr>
                          <m:t>𝑰</m:t>
                        </m:r>
                      </m:num>
                      <m:den>
                        <m:r>
                          <a:rPr lang="en-IN" b="1" i="1" smtClean="0">
                            <a:latin typeface="Cambria Math" panose="02040503050406030204" pitchFamily="18" charset="0"/>
                            <a:cs typeface="Times New Roman" panose="02020603050405020304" pitchFamily="18" charset="0"/>
                          </a:rPr>
                          <m:t>𝒇</m:t>
                        </m:r>
                        <m:r>
                          <a:rPr lang="en-IN" b="1" i="1" smtClean="0">
                            <a:latin typeface="Cambria Math" panose="02040503050406030204" pitchFamily="18" charset="0"/>
                            <a:ea typeface="Cambria Math" panose="02040503050406030204" pitchFamily="18" charset="0"/>
                            <a:cs typeface="Times New Roman" panose="02020603050405020304" pitchFamily="18" charset="0"/>
                          </a:rPr>
                          <m:t>∆</m:t>
                        </m:r>
                        <m:r>
                          <a:rPr lang="en-IN" b="1" i="1" smtClean="0">
                            <a:latin typeface="Cambria Math" panose="02040503050406030204" pitchFamily="18" charset="0"/>
                            <a:ea typeface="Cambria Math" panose="02040503050406030204" pitchFamily="18" charset="0"/>
                            <a:cs typeface="Times New Roman" panose="02020603050405020304" pitchFamily="18" charset="0"/>
                          </a:rPr>
                          <m:t>𝑽</m:t>
                        </m:r>
                      </m:den>
                    </m:f>
                  </m:oMath>
                </a14:m>
                <a:endParaRPr lang="en-IN"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a:latin typeface="Times New Roman" panose="02020603050405020304" pitchFamily="18" charset="0"/>
                    <a:cs typeface="Times New Roman" panose="02020603050405020304" pitchFamily="18" charset="0"/>
                  </a:rPr>
                  <a:t>Where </a:t>
                </a:r>
                <a14:m>
                  <m:oMath xmlns:m="http://schemas.openxmlformats.org/officeDocument/2006/math">
                    <m:r>
                      <a:rPr lang="en-IN" sz="1600" b="1" i="1">
                        <a:latin typeface="Cambria Math" panose="02040503050406030204" pitchFamily="18" charset="0"/>
                        <a:ea typeface="Cambria Math" panose="02040503050406030204" pitchFamily="18" charset="0"/>
                        <a:cs typeface="Times New Roman" panose="02020603050405020304" pitchFamily="18" charset="0"/>
                      </a:rPr>
                      <m:t>∆</m:t>
                    </m:r>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𝑽</m:t>
                    </m:r>
                  </m:oMath>
                </a14:m>
                <a:r>
                  <a:rPr lang="en-IN" sz="1600">
                    <a:latin typeface="Times New Roman" panose="02020603050405020304" pitchFamily="18" charset="0"/>
                    <a:cs typeface="Times New Roman" panose="02020603050405020304" pitchFamily="18" charset="0"/>
                  </a:rPr>
                  <a:t> = ripple range allowed</a:t>
                </a:r>
              </a:p>
              <a:p>
                <a:r>
                  <a:rPr lang="en-IN" sz="1600">
                    <a:latin typeface="Times New Roman" panose="02020603050405020304" pitchFamily="18" charset="0"/>
                    <a:cs typeface="Times New Roman" panose="02020603050405020304" pitchFamily="18" charset="0"/>
                  </a:rPr>
                  <a:t>	</a:t>
                </a:r>
                <a:r>
                  <a:rPr lang="en-IN" sz="1600" b="1" i="1">
                    <a:latin typeface="Times New Roman" panose="02020603050405020304" pitchFamily="18" charset="0"/>
                    <a:cs typeface="Times New Roman" panose="02020603050405020304" pitchFamily="18" charset="0"/>
                  </a:rPr>
                  <a:t>f = </a:t>
                </a:r>
                <a:r>
                  <a:rPr lang="en-IN" sz="1600">
                    <a:latin typeface="Times New Roman" panose="02020603050405020304" pitchFamily="18" charset="0"/>
                    <a:cs typeface="Times New Roman" panose="02020603050405020304" pitchFamily="18" charset="0"/>
                  </a:rPr>
                  <a:t>frequency , I = Load current</a:t>
                </a:r>
              </a:p>
              <a:p>
                <a:endParaRPr lang="en-IN" sz="140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1600">
                    <a:latin typeface="Times New Roman" panose="02020603050405020304" pitchFamily="18" charset="0"/>
                    <a:cs typeface="Times New Roman" panose="02020603050405020304" pitchFamily="18" charset="0"/>
                  </a:rPr>
                  <a:t>If we choose very lower </a:t>
                </a:r>
                <a14:m>
                  <m:oMath xmlns:m="http://schemas.openxmlformats.org/officeDocument/2006/math">
                    <m:r>
                      <a:rPr lang="en-IN" sz="1600" b="1" i="1">
                        <a:latin typeface="Cambria Math" panose="02040503050406030204" pitchFamily="18" charset="0"/>
                        <a:ea typeface="Cambria Math" panose="02040503050406030204" pitchFamily="18" charset="0"/>
                        <a:cs typeface="Times New Roman" panose="02020603050405020304" pitchFamily="18" charset="0"/>
                      </a:rPr>
                      <m:t>∆</m:t>
                    </m:r>
                    <m:r>
                      <a:rPr lang="en-IN" sz="1600" b="1" i="1">
                        <a:latin typeface="Cambria Math" panose="02040503050406030204" pitchFamily="18" charset="0"/>
                        <a:ea typeface="Cambria Math" panose="02040503050406030204" pitchFamily="18" charset="0"/>
                        <a:cs typeface="Times New Roman" panose="02020603050405020304" pitchFamily="18" charset="0"/>
                      </a:rPr>
                      <m:t>𝑽</m:t>
                    </m:r>
                  </m:oMath>
                </a14:m>
                <a:r>
                  <a:rPr lang="en-IN" sz="1600">
                    <a:latin typeface="Times New Roman" panose="02020603050405020304" pitchFamily="18" charset="0"/>
                    <a:cs typeface="Times New Roman" panose="02020603050405020304" pitchFamily="18" charset="0"/>
                  </a:rPr>
                  <a:t> then the capacitor will be very large and the input for regulator is very high , that causes higher power dissipation and increases heat and if we choose very high </a:t>
                </a:r>
                <a14:m>
                  <m:oMath xmlns:m="http://schemas.openxmlformats.org/officeDocument/2006/math">
                    <m:r>
                      <a:rPr lang="en-IN" sz="1600" b="1" i="1">
                        <a:latin typeface="Cambria Math" panose="02040503050406030204" pitchFamily="18" charset="0"/>
                        <a:ea typeface="Cambria Math" panose="02040503050406030204" pitchFamily="18" charset="0"/>
                        <a:cs typeface="Times New Roman" panose="02020603050405020304" pitchFamily="18" charset="0"/>
                      </a:rPr>
                      <m:t>∆</m:t>
                    </m:r>
                    <m:r>
                      <a:rPr lang="en-IN" sz="1600" b="1" i="1">
                        <a:latin typeface="Cambria Math" panose="02040503050406030204" pitchFamily="18" charset="0"/>
                        <a:ea typeface="Cambria Math" panose="02040503050406030204" pitchFamily="18" charset="0"/>
                        <a:cs typeface="Times New Roman" panose="02020603050405020304" pitchFamily="18" charset="0"/>
                      </a:rPr>
                      <m:t>𝑽</m:t>
                    </m:r>
                  </m:oMath>
                </a14:m>
                <a:r>
                  <a:rPr lang="en-IN" sz="1600">
                    <a:latin typeface="Times New Roman" panose="02020603050405020304" pitchFamily="18" charset="0"/>
                    <a:cs typeface="Times New Roman" panose="02020603050405020304" pitchFamily="18" charset="0"/>
                  </a:rPr>
                  <a:t> then the input for the regulator is not as required.</a:t>
                </a:r>
              </a:p>
              <a:p>
                <a:pPr marL="285750" indent="-285750" algn="just">
                  <a:buFont typeface="Arial" panose="020B0604020202020204" pitchFamily="34" charset="0"/>
                  <a:buChar char="•"/>
                </a:pPr>
                <a:r>
                  <a:rPr lang="en-IN" sz="1600">
                    <a:latin typeface="Times New Roman" panose="02020603050405020304" pitchFamily="18" charset="0"/>
                    <a:cs typeface="Times New Roman" panose="02020603050405020304" pitchFamily="18" charset="0"/>
                  </a:rPr>
                  <a:t>The input for regulator (7805 ) is from 7V to 30 V.</a:t>
                </a:r>
              </a:p>
              <a:p>
                <a:pPr marL="285750" indent="-285750" algn="just">
                  <a:buFont typeface="Arial" panose="020B0604020202020204" pitchFamily="34" charset="0"/>
                  <a:buChar char="•"/>
                </a:pPr>
                <a:r>
                  <a:rPr lang="en-IN" sz="1600">
                    <a:latin typeface="Times New Roman" panose="02020603050405020304" pitchFamily="18" charset="0"/>
                    <a:cs typeface="Times New Roman" panose="02020603050405020304" pitchFamily="18" charset="0"/>
                  </a:rPr>
                  <a:t>So we have to choose value of </a:t>
                </a:r>
                <a14:m>
                  <m:oMath xmlns:m="http://schemas.openxmlformats.org/officeDocument/2006/math">
                    <m:r>
                      <a:rPr lang="en-IN" sz="1600" b="1" i="1">
                        <a:latin typeface="Cambria Math" panose="02040503050406030204" pitchFamily="18" charset="0"/>
                        <a:ea typeface="Cambria Math" panose="02040503050406030204" pitchFamily="18" charset="0"/>
                        <a:cs typeface="Times New Roman" panose="02020603050405020304" pitchFamily="18" charset="0"/>
                      </a:rPr>
                      <m:t>∆</m:t>
                    </m:r>
                    <m:r>
                      <a:rPr lang="en-IN" sz="1600" b="1" i="1">
                        <a:latin typeface="Cambria Math" panose="02040503050406030204" pitchFamily="18" charset="0"/>
                        <a:ea typeface="Cambria Math" panose="02040503050406030204" pitchFamily="18" charset="0"/>
                        <a:cs typeface="Times New Roman" panose="02020603050405020304" pitchFamily="18" charset="0"/>
                      </a:rPr>
                      <m:t>𝑽</m:t>
                    </m:r>
                  </m:oMath>
                </a14:m>
                <a:r>
                  <a:rPr lang="en-IN" sz="1600">
                    <a:latin typeface="Times New Roman" panose="02020603050405020304" pitchFamily="18" charset="0"/>
                    <a:cs typeface="Times New Roman" panose="02020603050405020304" pitchFamily="18" charset="0"/>
                  </a:rPr>
                  <a:t> as to get input supply greater than 7V and Not near to 15 V , typically should be at 10 to 12 V.</a:t>
                </a:r>
              </a:p>
              <a:p>
                <a:pPr marL="285750" indent="-285750" algn="just">
                  <a:buFont typeface="Arial" panose="020B0604020202020204" pitchFamily="34" charset="0"/>
                  <a:buChar char="•"/>
                </a:pPr>
                <a:r>
                  <a:rPr lang="en-IN" sz="1600">
                    <a:latin typeface="Times New Roman" panose="02020603050405020304" pitchFamily="18" charset="0"/>
                    <a:cs typeface="Times New Roman" panose="02020603050405020304" pitchFamily="18" charset="0"/>
                  </a:rPr>
                  <a:t>Here the output of bridge rectifier will have 100 Hz frequency.</a:t>
                </a:r>
              </a:p>
              <a:p>
                <a:pPr marL="285750" indent="-285750">
                  <a:buFont typeface="Arial" panose="020B0604020202020204" pitchFamily="34" charset="0"/>
                  <a:buChar char="•"/>
                </a:pPr>
                <a:r>
                  <a:rPr lang="en-IN" sz="1600">
                    <a:latin typeface="Times New Roman" panose="02020603050405020304" pitchFamily="18" charset="0"/>
                    <a:cs typeface="Times New Roman" panose="02020603050405020304" pitchFamily="18" charset="0"/>
                  </a:rPr>
                  <a:t>Considering </a:t>
                </a:r>
                <a14:m>
                  <m:oMath xmlns:m="http://schemas.openxmlformats.org/officeDocument/2006/math">
                    <m:r>
                      <a:rPr lang="en-IN" sz="1600" b="1" i="1">
                        <a:latin typeface="Cambria Math" panose="02040503050406030204" pitchFamily="18" charset="0"/>
                        <a:ea typeface="Cambria Math" panose="02040503050406030204" pitchFamily="18" charset="0"/>
                        <a:cs typeface="Times New Roman" panose="02020603050405020304" pitchFamily="18" charset="0"/>
                      </a:rPr>
                      <m:t>∆</m:t>
                    </m:r>
                    <m:r>
                      <a:rPr lang="en-IN" sz="1600" b="1" i="1">
                        <a:latin typeface="Cambria Math" panose="02040503050406030204" pitchFamily="18" charset="0"/>
                        <a:ea typeface="Cambria Math" panose="02040503050406030204" pitchFamily="18" charset="0"/>
                        <a:cs typeface="Times New Roman" panose="02020603050405020304" pitchFamily="18" charset="0"/>
                      </a:rPr>
                      <m:t>𝑽</m:t>
                    </m:r>
                  </m:oMath>
                </a14:m>
                <a:r>
                  <a:rPr lang="en-IN" sz="1600">
                    <a:latin typeface="Times New Roman" panose="02020603050405020304" pitchFamily="18" charset="0"/>
                    <a:cs typeface="Times New Roman" panose="02020603050405020304" pitchFamily="18" charset="0"/>
                  </a:rPr>
                  <a:t> = 2 V as I = 1A , f = 100 Hz</a:t>
                </a:r>
              </a:p>
              <a:p>
                <a:r>
                  <a:rPr lang="en-IN" sz="1600">
                    <a:latin typeface="Times New Roman" panose="02020603050405020304" pitchFamily="18" charset="0"/>
                    <a:cs typeface="Times New Roman" panose="02020603050405020304" pitchFamily="18" charset="0"/>
                  </a:rPr>
                  <a:t>	C = 5000 </a:t>
                </a:r>
                <a:r>
                  <a:rPr lang="en-IN" sz="1600" err="1">
                    <a:latin typeface="Times New Roman" panose="02020603050405020304" pitchFamily="18" charset="0"/>
                    <a:cs typeface="Times New Roman" panose="02020603050405020304" pitchFamily="18" charset="0"/>
                  </a:rPr>
                  <a:t>uF</a:t>
                </a:r>
                <a:r>
                  <a:rPr lang="en-IN" sz="1600">
                    <a:latin typeface="Times New Roman" panose="02020603050405020304" pitchFamily="18" charset="0"/>
                    <a:cs typeface="Times New Roman" panose="02020603050405020304" pitchFamily="18" charset="0"/>
                  </a:rPr>
                  <a:t> </a:t>
                </a:r>
              </a:p>
            </p:txBody>
          </p:sp>
        </mc:Choice>
        <mc:Fallback xmlns="">
          <p:sp>
            <p:nvSpPr>
              <p:cNvPr id="3" name="TextBox 2">
                <a:extLst>
                  <a:ext uri="{FF2B5EF4-FFF2-40B4-BE49-F238E27FC236}">
                    <a16:creationId xmlns:a16="http://schemas.microsoft.com/office/drawing/2014/main" id="{17A6A958-C826-426C-C5CA-335B6240EDC0}"/>
                  </a:ext>
                </a:extLst>
              </p:cNvPr>
              <p:cNvSpPr txBox="1">
                <a:spLocks noRot="1" noChangeAspect="1" noMove="1" noResize="1" noEditPoints="1" noAdjustHandles="1" noChangeArrowheads="1" noChangeShapeType="1" noTextEdit="1"/>
              </p:cNvSpPr>
              <p:nvPr/>
            </p:nvSpPr>
            <p:spPr>
              <a:xfrm>
                <a:off x="100414" y="1827078"/>
                <a:ext cx="6221728" cy="4466094"/>
              </a:xfrm>
              <a:prstGeom prst="rect">
                <a:avLst/>
              </a:prstGeom>
              <a:blipFill>
                <a:blip r:embed="rId3"/>
                <a:stretch>
                  <a:fillRect l="-293" t="-681" r="-391" b="-817"/>
                </a:stretch>
              </a:blipFill>
              <a:ln>
                <a:solidFill>
                  <a:srgbClr val="002C00"/>
                </a:solidFill>
              </a:ln>
            </p:spPr>
            <p:txBody>
              <a:bodyPr/>
              <a:lstStyle/>
              <a:p>
                <a:r>
                  <a:rPr lang="en-US">
                    <a:noFill/>
                  </a:rPr>
                  <a:t> </a:t>
                </a:r>
              </a:p>
            </p:txBody>
          </p:sp>
        </mc:Fallback>
      </mc:AlternateContent>
      <p:grpSp>
        <p:nvGrpSpPr>
          <p:cNvPr id="61" name="Group 60">
            <a:extLst>
              <a:ext uri="{FF2B5EF4-FFF2-40B4-BE49-F238E27FC236}">
                <a16:creationId xmlns:a16="http://schemas.microsoft.com/office/drawing/2014/main" id="{93B255FE-A879-2817-571D-F12E7F5CB831}"/>
              </a:ext>
            </a:extLst>
          </p:cNvPr>
          <p:cNvGrpSpPr/>
          <p:nvPr/>
        </p:nvGrpSpPr>
        <p:grpSpPr>
          <a:xfrm>
            <a:off x="7031169" y="761788"/>
            <a:ext cx="4933702" cy="3978479"/>
            <a:chOff x="7157884" y="623017"/>
            <a:chExt cx="4933702" cy="3759424"/>
          </a:xfrm>
        </p:grpSpPr>
        <p:grpSp>
          <p:nvGrpSpPr>
            <p:cNvPr id="54" name="Group 53">
              <a:extLst>
                <a:ext uri="{FF2B5EF4-FFF2-40B4-BE49-F238E27FC236}">
                  <a16:creationId xmlns:a16="http://schemas.microsoft.com/office/drawing/2014/main" id="{9335A7C1-5CC8-39D9-53B6-C723557E7C0F}"/>
                </a:ext>
              </a:extLst>
            </p:cNvPr>
            <p:cNvGrpSpPr/>
            <p:nvPr/>
          </p:nvGrpSpPr>
          <p:grpSpPr>
            <a:xfrm>
              <a:off x="7157884" y="1621092"/>
              <a:ext cx="4324102" cy="2761349"/>
              <a:chOff x="7157884" y="1621092"/>
              <a:chExt cx="4324102" cy="2761349"/>
            </a:xfrm>
          </p:grpSpPr>
          <p:sp>
            <p:nvSpPr>
              <p:cNvPr id="44" name="Arc 43">
                <a:extLst>
                  <a:ext uri="{FF2B5EF4-FFF2-40B4-BE49-F238E27FC236}">
                    <a16:creationId xmlns:a16="http://schemas.microsoft.com/office/drawing/2014/main" id="{31595D12-883C-C0F5-4778-C38F180554A2}"/>
                  </a:ext>
                </a:extLst>
              </p:cNvPr>
              <p:cNvSpPr/>
              <p:nvPr/>
            </p:nvSpPr>
            <p:spPr>
              <a:xfrm>
                <a:off x="7157884" y="1642985"/>
                <a:ext cx="1081548" cy="2714161"/>
              </a:xfrm>
              <a:prstGeom prst="arc">
                <a:avLst>
                  <a:gd name="adj1" fmla="val 10873103"/>
                  <a:gd name="adj2" fmla="val 0"/>
                </a:avLst>
              </a:prstGeom>
              <a:noFill/>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1" name="Arc 50">
                <a:extLst>
                  <a:ext uri="{FF2B5EF4-FFF2-40B4-BE49-F238E27FC236}">
                    <a16:creationId xmlns:a16="http://schemas.microsoft.com/office/drawing/2014/main" id="{7565994C-E049-E5E7-B102-D710DDAFCC79}"/>
                  </a:ext>
                </a:extLst>
              </p:cNvPr>
              <p:cNvSpPr/>
              <p:nvPr/>
            </p:nvSpPr>
            <p:spPr>
              <a:xfrm>
                <a:off x="8238387" y="1642984"/>
                <a:ext cx="1081548" cy="2714161"/>
              </a:xfrm>
              <a:prstGeom prst="arc">
                <a:avLst>
                  <a:gd name="adj1" fmla="val 10873103"/>
                  <a:gd name="adj2" fmla="val 0"/>
                </a:avLst>
              </a:prstGeom>
              <a:noFill/>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2" name="Arc 51">
                <a:extLst>
                  <a:ext uri="{FF2B5EF4-FFF2-40B4-BE49-F238E27FC236}">
                    <a16:creationId xmlns:a16="http://schemas.microsoft.com/office/drawing/2014/main" id="{D754A20C-30C3-C398-04CF-AEB1EF4A081E}"/>
                  </a:ext>
                </a:extLst>
              </p:cNvPr>
              <p:cNvSpPr/>
              <p:nvPr/>
            </p:nvSpPr>
            <p:spPr>
              <a:xfrm>
                <a:off x="9319935" y="1621092"/>
                <a:ext cx="1081548" cy="2761349"/>
              </a:xfrm>
              <a:prstGeom prst="arc">
                <a:avLst>
                  <a:gd name="adj1" fmla="val 10873103"/>
                  <a:gd name="adj2" fmla="val 0"/>
                </a:avLst>
              </a:prstGeom>
              <a:noFill/>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3" name="Arc 52">
                <a:extLst>
                  <a:ext uri="{FF2B5EF4-FFF2-40B4-BE49-F238E27FC236}">
                    <a16:creationId xmlns:a16="http://schemas.microsoft.com/office/drawing/2014/main" id="{C52AF896-F39A-696A-8E0A-378D3EC91408}"/>
                  </a:ext>
                </a:extLst>
              </p:cNvPr>
              <p:cNvSpPr/>
              <p:nvPr/>
            </p:nvSpPr>
            <p:spPr>
              <a:xfrm>
                <a:off x="10400438" y="1642983"/>
                <a:ext cx="1081548" cy="2714161"/>
              </a:xfrm>
              <a:prstGeom prst="arc">
                <a:avLst>
                  <a:gd name="adj1" fmla="val 10873103"/>
                  <a:gd name="adj2" fmla="val 0"/>
                </a:avLst>
              </a:prstGeom>
              <a:noFill/>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cxnSp>
          <p:nvCxnSpPr>
            <p:cNvPr id="11" name="Connector: Elbow 10">
              <a:extLst>
                <a:ext uri="{FF2B5EF4-FFF2-40B4-BE49-F238E27FC236}">
                  <a16:creationId xmlns:a16="http://schemas.microsoft.com/office/drawing/2014/main" id="{EDEDE9C0-A552-A4AA-7512-F5A137DE21AD}"/>
                </a:ext>
              </a:extLst>
            </p:cNvPr>
            <p:cNvCxnSpPr>
              <a:cxnSpLocks/>
            </p:cNvCxnSpPr>
            <p:nvPr/>
          </p:nvCxnSpPr>
          <p:spPr>
            <a:xfrm>
              <a:off x="7157884" y="623017"/>
              <a:ext cx="4933702" cy="2395486"/>
            </a:xfrm>
            <a:prstGeom prst="bentConnector3">
              <a:avLst>
                <a:gd name="adj1" fmla="val -22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95" name="Group 94">
            <a:extLst>
              <a:ext uri="{FF2B5EF4-FFF2-40B4-BE49-F238E27FC236}">
                <a16:creationId xmlns:a16="http://schemas.microsoft.com/office/drawing/2014/main" id="{01501B9E-12B2-16FB-2B8D-4A775F59A5D0}"/>
              </a:ext>
            </a:extLst>
          </p:cNvPr>
          <p:cNvGrpSpPr/>
          <p:nvPr/>
        </p:nvGrpSpPr>
        <p:grpSpPr>
          <a:xfrm>
            <a:off x="7077563" y="3839497"/>
            <a:ext cx="4933702" cy="3765215"/>
            <a:chOff x="7077563" y="3839497"/>
            <a:chExt cx="4933702" cy="3765215"/>
          </a:xfrm>
        </p:grpSpPr>
        <p:cxnSp>
          <p:nvCxnSpPr>
            <p:cNvPr id="55" name="Connector: Elbow 54">
              <a:extLst>
                <a:ext uri="{FF2B5EF4-FFF2-40B4-BE49-F238E27FC236}">
                  <a16:creationId xmlns:a16="http://schemas.microsoft.com/office/drawing/2014/main" id="{1BE94A07-1EC2-0EC4-763A-27B4363E19F4}"/>
                </a:ext>
              </a:extLst>
            </p:cNvPr>
            <p:cNvCxnSpPr>
              <a:cxnSpLocks/>
            </p:cNvCxnSpPr>
            <p:nvPr/>
          </p:nvCxnSpPr>
          <p:spPr>
            <a:xfrm>
              <a:off x="7077563" y="3839497"/>
              <a:ext cx="4933702" cy="2395486"/>
            </a:xfrm>
            <a:prstGeom prst="bentConnector3">
              <a:avLst>
                <a:gd name="adj1" fmla="val -22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7" name="Arc 56">
              <a:extLst>
                <a:ext uri="{FF2B5EF4-FFF2-40B4-BE49-F238E27FC236}">
                  <a16:creationId xmlns:a16="http://schemas.microsoft.com/office/drawing/2014/main" id="{DBBE2122-166D-4280-3035-41FDCF08E81F}"/>
                </a:ext>
              </a:extLst>
            </p:cNvPr>
            <p:cNvSpPr/>
            <p:nvPr/>
          </p:nvSpPr>
          <p:spPr>
            <a:xfrm>
              <a:off x="7077563" y="4865256"/>
              <a:ext cx="1081548" cy="2714161"/>
            </a:xfrm>
            <a:prstGeom prst="arc">
              <a:avLst>
                <a:gd name="adj1" fmla="val 10873103"/>
                <a:gd name="adj2" fmla="val 0"/>
              </a:avLst>
            </a:prstGeom>
            <a:noFill/>
            <a:ln w="12700">
              <a:solidFill>
                <a:srgbClr val="FF00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8" name="Arc 57">
              <a:extLst>
                <a:ext uri="{FF2B5EF4-FFF2-40B4-BE49-F238E27FC236}">
                  <a16:creationId xmlns:a16="http://schemas.microsoft.com/office/drawing/2014/main" id="{14721F5B-B787-951A-9CF0-3CF583A8D660}"/>
                </a:ext>
              </a:extLst>
            </p:cNvPr>
            <p:cNvSpPr/>
            <p:nvPr/>
          </p:nvSpPr>
          <p:spPr>
            <a:xfrm>
              <a:off x="8158066" y="4865255"/>
              <a:ext cx="1081548" cy="2714161"/>
            </a:xfrm>
            <a:prstGeom prst="arc">
              <a:avLst>
                <a:gd name="adj1" fmla="val 10873103"/>
                <a:gd name="adj2" fmla="val 0"/>
              </a:avLst>
            </a:prstGeom>
            <a:noFill/>
            <a:ln w="12700">
              <a:solidFill>
                <a:srgbClr val="FF00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9" name="Arc 58">
              <a:extLst>
                <a:ext uri="{FF2B5EF4-FFF2-40B4-BE49-F238E27FC236}">
                  <a16:creationId xmlns:a16="http://schemas.microsoft.com/office/drawing/2014/main" id="{C59C9BB7-311A-B21E-A9D8-86B1F744C6E7}"/>
                </a:ext>
              </a:extLst>
            </p:cNvPr>
            <p:cNvSpPr/>
            <p:nvPr/>
          </p:nvSpPr>
          <p:spPr>
            <a:xfrm>
              <a:off x="9239614" y="4890551"/>
              <a:ext cx="1081548" cy="2714161"/>
            </a:xfrm>
            <a:prstGeom prst="arc">
              <a:avLst>
                <a:gd name="adj1" fmla="val 10873103"/>
                <a:gd name="adj2" fmla="val 0"/>
              </a:avLst>
            </a:prstGeom>
            <a:noFill/>
            <a:ln w="12700">
              <a:solidFill>
                <a:srgbClr val="FF00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60" name="Arc 59">
              <a:extLst>
                <a:ext uri="{FF2B5EF4-FFF2-40B4-BE49-F238E27FC236}">
                  <a16:creationId xmlns:a16="http://schemas.microsoft.com/office/drawing/2014/main" id="{1AF63000-821B-7638-1691-00B8CBED72DF}"/>
                </a:ext>
              </a:extLst>
            </p:cNvPr>
            <p:cNvSpPr/>
            <p:nvPr/>
          </p:nvSpPr>
          <p:spPr>
            <a:xfrm>
              <a:off x="10320117" y="4865254"/>
              <a:ext cx="1081548" cy="2714161"/>
            </a:xfrm>
            <a:prstGeom prst="arc">
              <a:avLst>
                <a:gd name="adj1" fmla="val 10873103"/>
                <a:gd name="adj2" fmla="val 0"/>
              </a:avLst>
            </a:prstGeom>
            <a:noFill/>
            <a:ln w="12700">
              <a:solidFill>
                <a:srgbClr val="FF00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pSp>
        <p:nvGrpSpPr>
          <p:cNvPr id="94" name="Group 93">
            <a:extLst>
              <a:ext uri="{FF2B5EF4-FFF2-40B4-BE49-F238E27FC236}">
                <a16:creationId xmlns:a16="http://schemas.microsoft.com/office/drawing/2014/main" id="{DFF8EBE5-AD13-B2E6-6DDB-4ECBFA815443}"/>
              </a:ext>
            </a:extLst>
          </p:cNvPr>
          <p:cNvGrpSpPr/>
          <p:nvPr/>
        </p:nvGrpSpPr>
        <p:grpSpPr>
          <a:xfrm>
            <a:off x="7076518" y="4865254"/>
            <a:ext cx="4426074" cy="2739459"/>
            <a:chOff x="7076518" y="4865254"/>
            <a:chExt cx="4426074" cy="2739459"/>
          </a:xfrm>
        </p:grpSpPr>
        <p:grpSp>
          <p:nvGrpSpPr>
            <p:cNvPr id="76" name="Group 75">
              <a:extLst>
                <a:ext uri="{FF2B5EF4-FFF2-40B4-BE49-F238E27FC236}">
                  <a16:creationId xmlns:a16="http://schemas.microsoft.com/office/drawing/2014/main" id="{BD4F2863-6B7D-E650-A1FB-98048D6A4AA9}"/>
                </a:ext>
              </a:extLst>
            </p:cNvPr>
            <p:cNvGrpSpPr/>
            <p:nvPr/>
          </p:nvGrpSpPr>
          <p:grpSpPr>
            <a:xfrm>
              <a:off x="7076518" y="4865255"/>
              <a:ext cx="1339895" cy="2739458"/>
              <a:chOff x="7076518" y="4865255"/>
              <a:chExt cx="1339895" cy="2739458"/>
            </a:xfrm>
          </p:grpSpPr>
          <p:sp>
            <p:nvSpPr>
              <p:cNvPr id="65" name="Arc 64">
                <a:extLst>
                  <a:ext uri="{FF2B5EF4-FFF2-40B4-BE49-F238E27FC236}">
                    <a16:creationId xmlns:a16="http://schemas.microsoft.com/office/drawing/2014/main" id="{FC2E622F-FA64-788B-618F-933E3F8EA2DB}"/>
                  </a:ext>
                </a:extLst>
              </p:cNvPr>
              <p:cNvSpPr/>
              <p:nvPr/>
            </p:nvSpPr>
            <p:spPr>
              <a:xfrm>
                <a:off x="7076518" y="4865255"/>
                <a:ext cx="1081548" cy="2739458"/>
              </a:xfrm>
              <a:prstGeom prst="arc">
                <a:avLst>
                  <a:gd name="adj1" fmla="val 10873103"/>
                  <a:gd name="adj2" fmla="val 16718021"/>
                </a:avLst>
              </a:prstGeom>
              <a:noFill/>
              <a:ln w="28575">
                <a:solidFill>
                  <a:schemeClr val="accent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73" name="Straight Connector 72">
                <a:extLst>
                  <a:ext uri="{FF2B5EF4-FFF2-40B4-BE49-F238E27FC236}">
                    <a16:creationId xmlns:a16="http://schemas.microsoft.com/office/drawing/2014/main" id="{580F0B2E-6199-5842-767D-DB6624B67AFD}"/>
                  </a:ext>
                </a:extLst>
              </p:cNvPr>
              <p:cNvCxnSpPr>
                <a:cxnSpLocks/>
                <a:stCxn id="65" idx="2"/>
              </p:cNvCxnSpPr>
              <p:nvPr/>
            </p:nvCxnSpPr>
            <p:spPr>
              <a:xfrm>
                <a:off x="7811407" y="4956542"/>
                <a:ext cx="605006" cy="116903"/>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pSp>
        <p:grpSp>
          <p:nvGrpSpPr>
            <p:cNvPr id="79" name="Group 78">
              <a:extLst>
                <a:ext uri="{FF2B5EF4-FFF2-40B4-BE49-F238E27FC236}">
                  <a16:creationId xmlns:a16="http://schemas.microsoft.com/office/drawing/2014/main" id="{EAF50E20-08BA-D0BA-EDDA-7F4852FF780C}"/>
                </a:ext>
              </a:extLst>
            </p:cNvPr>
            <p:cNvGrpSpPr/>
            <p:nvPr/>
          </p:nvGrpSpPr>
          <p:grpSpPr>
            <a:xfrm>
              <a:off x="8157021" y="4865254"/>
              <a:ext cx="1348793" cy="2714161"/>
              <a:chOff x="8157021" y="4865254"/>
              <a:chExt cx="1348793" cy="2714161"/>
            </a:xfrm>
          </p:grpSpPr>
          <p:sp>
            <p:nvSpPr>
              <p:cNvPr id="77" name="Arc 76">
                <a:extLst>
                  <a:ext uri="{FF2B5EF4-FFF2-40B4-BE49-F238E27FC236}">
                    <a16:creationId xmlns:a16="http://schemas.microsoft.com/office/drawing/2014/main" id="{A70D1DE2-2E91-0046-783A-BC8F7331A490}"/>
                  </a:ext>
                </a:extLst>
              </p:cNvPr>
              <p:cNvSpPr/>
              <p:nvPr/>
            </p:nvSpPr>
            <p:spPr>
              <a:xfrm>
                <a:off x="8157021" y="4865254"/>
                <a:ext cx="1081548" cy="2714161"/>
              </a:xfrm>
              <a:prstGeom prst="arc">
                <a:avLst>
                  <a:gd name="adj1" fmla="val 15295148"/>
                  <a:gd name="adj2" fmla="val 16775089"/>
                </a:avLst>
              </a:prstGeom>
              <a:noFill/>
              <a:ln w="28575">
                <a:solidFill>
                  <a:schemeClr val="accent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78" name="Straight Connector 77">
                <a:extLst>
                  <a:ext uri="{FF2B5EF4-FFF2-40B4-BE49-F238E27FC236}">
                    <a16:creationId xmlns:a16="http://schemas.microsoft.com/office/drawing/2014/main" id="{A5932027-1762-6528-37C1-14023561ECCD}"/>
                  </a:ext>
                </a:extLst>
              </p:cNvPr>
              <p:cNvCxnSpPr>
                <a:cxnSpLocks/>
              </p:cNvCxnSpPr>
              <p:nvPr/>
            </p:nvCxnSpPr>
            <p:spPr>
              <a:xfrm>
                <a:off x="8900808" y="4956541"/>
                <a:ext cx="605006" cy="116903"/>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pSp>
        <p:sp>
          <p:nvSpPr>
            <p:cNvPr id="83" name="Arc 82">
              <a:extLst>
                <a:ext uri="{FF2B5EF4-FFF2-40B4-BE49-F238E27FC236}">
                  <a16:creationId xmlns:a16="http://schemas.microsoft.com/office/drawing/2014/main" id="{3C8D3ACF-DEAA-2BFB-B680-D5778CFC4DA6}"/>
                </a:ext>
              </a:extLst>
            </p:cNvPr>
            <p:cNvSpPr/>
            <p:nvPr/>
          </p:nvSpPr>
          <p:spPr>
            <a:xfrm>
              <a:off x="9238046" y="4890550"/>
              <a:ext cx="1081548" cy="2714161"/>
            </a:xfrm>
            <a:prstGeom prst="arc">
              <a:avLst>
                <a:gd name="adj1" fmla="val 15379995"/>
                <a:gd name="adj2" fmla="val 16749741"/>
              </a:avLst>
            </a:prstGeom>
            <a:noFill/>
            <a:ln w="28575">
              <a:solidFill>
                <a:schemeClr val="accent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87" name="Straight Connector 86">
              <a:extLst>
                <a:ext uri="{FF2B5EF4-FFF2-40B4-BE49-F238E27FC236}">
                  <a16:creationId xmlns:a16="http://schemas.microsoft.com/office/drawing/2014/main" id="{04330EB5-CF40-4541-CA44-EA639F34F33E}"/>
                </a:ext>
              </a:extLst>
            </p:cNvPr>
            <p:cNvCxnSpPr>
              <a:cxnSpLocks/>
              <a:stCxn id="83" idx="2"/>
            </p:cNvCxnSpPr>
            <p:nvPr/>
          </p:nvCxnSpPr>
          <p:spPr>
            <a:xfrm>
              <a:off x="9981714" y="4989688"/>
              <a:ext cx="603035" cy="83756"/>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90" name="Arc 89">
              <a:extLst>
                <a:ext uri="{FF2B5EF4-FFF2-40B4-BE49-F238E27FC236}">
                  <a16:creationId xmlns:a16="http://schemas.microsoft.com/office/drawing/2014/main" id="{A539E55B-3ECE-40BD-433B-60DC95092622}"/>
                </a:ext>
              </a:extLst>
            </p:cNvPr>
            <p:cNvSpPr/>
            <p:nvPr/>
          </p:nvSpPr>
          <p:spPr>
            <a:xfrm>
              <a:off x="10327433" y="4865254"/>
              <a:ext cx="1081548" cy="2714161"/>
            </a:xfrm>
            <a:prstGeom prst="arc">
              <a:avLst>
                <a:gd name="adj1" fmla="val 15389308"/>
                <a:gd name="adj2" fmla="val 16852596"/>
              </a:avLst>
            </a:prstGeom>
            <a:noFill/>
            <a:ln w="28575">
              <a:solidFill>
                <a:schemeClr val="accent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92" name="Straight Connector 91">
              <a:extLst>
                <a:ext uri="{FF2B5EF4-FFF2-40B4-BE49-F238E27FC236}">
                  <a16:creationId xmlns:a16="http://schemas.microsoft.com/office/drawing/2014/main" id="{62432BBC-6540-9E13-A0D7-9D126DB944A4}"/>
                </a:ext>
              </a:extLst>
            </p:cNvPr>
            <p:cNvCxnSpPr>
              <a:cxnSpLocks/>
              <a:stCxn id="90" idx="2"/>
            </p:cNvCxnSpPr>
            <p:nvPr/>
          </p:nvCxnSpPr>
          <p:spPr>
            <a:xfrm>
              <a:off x="11103085" y="4999943"/>
              <a:ext cx="399507" cy="73501"/>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pSp>
      <p:sp>
        <p:nvSpPr>
          <p:cNvPr id="97" name="TextBox 96">
            <a:extLst>
              <a:ext uri="{FF2B5EF4-FFF2-40B4-BE49-F238E27FC236}">
                <a16:creationId xmlns:a16="http://schemas.microsoft.com/office/drawing/2014/main" id="{723D4229-FECD-411E-667E-9C32427AA87E}"/>
              </a:ext>
            </a:extLst>
          </p:cNvPr>
          <p:cNvSpPr txBox="1"/>
          <p:nvPr/>
        </p:nvSpPr>
        <p:spPr>
          <a:xfrm>
            <a:off x="8521064" y="3328263"/>
            <a:ext cx="2193329" cy="307777"/>
          </a:xfrm>
          <a:prstGeom prst="rect">
            <a:avLst/>
          </a:prstGeom>
          <a:noFill/>
          <a:ln>
            <a:solidFill>
              <a:schemeClr val="tx1"/>
            </a:solidFill>
          </a:ln>
        </p:spPr>
        <p:txBody>
          <a:bodyPr wrap="square" rtlCol="0">
            <a:spAutoFit/>
          </a:bodyPr>
          <a:lstStyle/>
          <a:p>
            <a:pPr algn="ctr"/>
            <a:r>
              <a:rPr lang="en-IN" sz="1400" b="1">
                <a:latin typeface="Times New Roman" panose="02020603050405020304" pitchFamily="18" charset="0"/>
                <a:cs typeface="Times New Roman" panose="02020603050405020304" pitchFamily="18" charset="0"/>
              </a:rPr>
              <a:t>Without Filter Capacitor</a:t>
            </a:r>
          </a:p>
        </p:txBody>
      </p:sp>
      <p:sp>
        <p:nvSpPr>
          <p:cNvPr id="100" name="TextBox 99">
            <a:extLst>
              <a:ext uri="{FF2B5EF4-FFF2-40B4-BE49-F238E27FC236}">
                <a16:creationId xmlns:a16="http://schemas.microsoft.com/office/drawing/2014/main" id="{B2B6BA00-9672-4C6D-B1B4-A84B9CC5CE0B}"/>
              </a:ext>
            </a:extLst>
          </p:cNvPr>
          <p:cNvSpPr txBox="1"/>
          <p:nvPr/>
        </p:nvSpPr>
        <p:spPr>
          <a:xfrm>
            <a:off x="8275005" y="6334120"/>
            <a:ext cx="2193329" cy="307777"/>
          </a:xfrm>
          <a:prstGeom prst="rect">
            <a:avLst/>
          </a:prstGeom>
          <a:noFill/>
          <a:ln>
            <a:solidFill>
              <a:schemeClr val="tx1"/>
            </a:solidFill>
          </a:ln>
        </p:spPr>
        <p:txBody>
          <a:bodyPr wrap="square" rtlCol="0">
            <a:spAutoFit/>
          </a:bodyPr>
          <a:lstStyle/>
          <a:p>
            <a:pPr algn="ctr"/>
            <a:r>
              <a:rPr lang="en-IN" sz="1400" b="1">
                <a:latin typeface="Times New Roman" panose="02020603050405020304" pitchFamily="18" charset="0"/>
                <a:cs typeface="Times New Roman" panose="02020603050405020304" pitchFamily="18" charset="0"/>
              </a:rPr>
              <a:t>With Filter Capacitor</a:t>
            </a:r>
          </a:p>
        </p:txBody>
      </p:sp>
      <p:cxnSp>
        <p:nvCxnSpPr>
          <p:cNvPr id="102" name="Straight Connector 101">
            <a:extLst>
              <a:ext uri="{FF2B5EF4-FFF2-40B4-BE49-F238E27FC236}">
                <a16:creationId xmlns:a16="http://schemas.microsoft.com/office/drawing/2014/main" id="{B6DDD66C-4EDF-18B2-7FC3-85608350DD93}"/>
              </a:ext>
            </a:extLst>
          </p:cNvPr>
          <p:cNvCxnSpPr>
            <a:cxnSpLocks/>
          </p:cNvCxnSpPr>
          <p:nvPr/>
        </p:nvCxnSpPr>
        <p:spPr>
          <a:xfrm>
            <a:off x="7076518" y="4857404"/>
            <a:ext cx="4741856" cy="1755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B727E51B-7241-0838-3D05-3798301A8F71}"/>
              </a:ext>
            </a:extLst>
          </p:cNvPr>
          <p:cNvCxnSpPr>
            <a:cxnSpLocks/>
          </p:cNvCxnSpPr>
          <p:nvPr/>
        </p:nvCxnSpPr>
        <p:spPr>
          <a:xfrm>
            <a:off x="7087250" y="5078744"/>
            <a:ext cx="4741856" cy="17554"/>
          </a:xfrm>
          <a:prstGeom prst="line">
            <a:avLst/>
          </a:prstGeom>
          <a:ln>
            <a:solidFill>
              <a:srgbClr val="002C00"/>
            </a:solidFill>
            <a:prstDash val="dash"/>
          </a:ln>
        </p:spPr>
        <p:style>
          <a:lnRef idx="1">
            <a:schemeClr val="accent1"/>
          </a:lnRef>
          <a:fillRef idx="0">
            <a:schemeClr val="accent1"/>
          </a:fillRef>
          <a:effectRef idx="0">
            <a:schemeClr val="accent1"/>
          </a:effectRef>
          <a:fontRef idx="minor">
            <a:schemeClr val="tx1"/>
          </a:fontRef>
        </p:style>
      </p:cxnSp>
      <p:sp>
        <p:nvSpPr>
          <p:cNvPr id="107" name="Left Brace 106">
            <a:extLst>
              <a:ext uri="{FF2B5EF4-FFF2-40B4-BE49-F238E27FC236}">
                <a16:creationId xmlns:a16="http://schemas.microsoft.com/office/drawing/2014/main" id="{89EF66D9-C991-A9FD-99FB-CF3949680D8C}"/>
              </a:ext>
            </a:extLst>
          </p:cNvPr>
          <p:cNvSpPr/>
          <p:nvPr/>
        </p:nvSpPr>
        <p:spPr>
          <a:xfrm>
            <a:off x="6883627" y="4866181"/>
            <a:ext cx="138266" cy="230117"/>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3BE294A4-2227-3BAC-C14E-B22D3E92B2A7}"/>
                  </a:ext>
                </a:extLst>
              </p:cNvPr>
              <p:cNvSpPr txBox="1"/>
              <p:nvPr/>
            </p:nvSpPr>
            <p:spPr>
              <a:xfrm>
                <a:off x="6489505" y="4805022"/>
                <a:ext cx="40485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r>
                        <a:rPr lang="en-IN" b="0" i="1" smtClean="0">
                          <a:latin typeface="Cambria Math" panose="02040503050406030204" pitchFamily="18" charset="0"/>
                          <a:ea typeface="Cambria Math" panose="02040503050406030204" pitchFamily="18" charset="0"/>
                        </a:rPr>
                        <m:t>𝑉</m:t>
                      </m:r>
                    </m:oMath>
                  </m:oMathPara>
                </a14:m>
                <a:endParaRPr lang="en-IN"/>
              </a:p>
            </p:txBody>
          </p:sp>
        </mc:Choice>
        <mc:Fallback xmlns="">
          <p:sp>
            <p:nvSpPr>
              <p:cNvPr id="110" name="TextBox 109">
                <a:extLst>
                  <a:ext uri="{FF2B5EF4-FFF2-40B4-BE49-F238E27FC236}">
                    <a16:creationId xmlns:a16="http://schemas.microsoft.com/office/drawing/2014/main" id="{3BE294A4-2227-3BAC-C14E-B22D3E92B2A7}"/>
                  </a:ext>
                </a:extLst>
              </p:cNvPr>
              <p:cNvSpPr txBox="1">
                <a:spLocks noRot="1" noChangeAspect="1" noMove="1" noResize="1" noEditPoints="1" noAdjustHandles="1" noChangeArrowheads="1" noChangeShapeType="1" noTextEdit="1"/>
              </p:cNvSpPr>
              <p:nvPr/>
            </p:nvSpPr>
            <p:spPr>
              <a:xfrm>
                <a:off x="6489505" y="4805022"/>
                <a:ext cx="404854" cy="369332"/>
              </a:xfrm>
              <a:prstGeom prst="rect">
                <a:avLst/>
              </a:prstGeom>
              <a:blipFill>
                <a:blip r:embed="rId4"/>
                <a:stretch>
                  <a:fillRect r="-13636"/>
                </a:stretch>
              </a:blipFill>
            </p:spPr>
            <p:txBody>
              <a:bodyPr/>
              <a:lstStyle/>
              <a:p>
                <a:r>
                  <a:rPr lang="en-US">
                    <a:noFill/>
                  </a:rPr>
                  <a:t> </a:t>
                </a:r>
              </a:p>
            </p:txBody>
          </p:sp>
        </mc:Fallback>
      </mc:AlternateContent>
      <p:sp>
        <p:nvSpPr>
          <p:cNvPr id="129" name="Flowchart: Connector 128">
            <a:extLst>
              <a:ext uri="{FF2B5EF4-FFF2-40B4-BE49-F238E27FC236}">
                <a16:creationId xmlns:a16="http://schemas.microsoft.com/office/drawing/2014/main" id="{797E9D28-EC58-C150-FD06-07FA460B6175}"/>
              </a:ext>
            </a:extLst>
          </p:cNvPr>
          <p:cNvSpPr/>
          <p:nvPr/>
        </p:nvSpPr>
        <p:spPr>
          <a:xfrm>
            <a:off x="7035437" y="2700812"/>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0" name="Flowchart: Connector 129">
            <a:extLst>
              <a:ext uri="{FF2B5EF4-FFF2-40B4-BE49-F238E27FC236}">
                <a16:creationId xmlns:a16="http://schemas.microsoft.com/office/drawing/2014/main" id="{0462A03C-BAD9-C7A7-D9C2-BFA8775576C0}"/>
              </a:ext>
            </a:extLst>
          </p:cNvPr>
          <p:cNvSpPr/>
          <p:nvPr/>
        </p:nvSpPr>
        <p:spPr>
          <a:xfrm>
            <a:off x="7217995" y="2070145"/>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1" name="Flowchart: Connector 130">
            <a:extLst>
              <a:ext uri="{FF2B5EF4-FFF2-40B4-BE49-F238E27FC236}">
                <a16:creationId xmlns:a16="http://schemas.microsoft.com/office/drawing/2014/main" id="{691F1D56-7DE6-B20E-4792-97F602C6E471}"/>
              </a:ext>
            </a:extLst>
          </p:cNvPr>
          <p:cNvSpPr/>
          <p:nvPr/>
        </p:nvSpPr>
        <p:spPr>
          <a:xfrm>
            <a:off x="7654979" y="1841865"/>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2" name="Flowchart: Connector 131">
            <a:extLst>
              <a:ext uri="{FF2B5EF4-FFF2-40B4-BE49-F238E27FC236}">
                <a16:creationId xmlns:a16="http://schemas.microsoft.com/office/drawing/2014/main" id="{1DD80EA9-8A68-D588-C470-8D23C8DFC4CD}"/>
              </a:ext>
            </a:extLst>
          </p:cNvPr>
          <p:cNvSpPr/>
          <p:nvPr/>
        </p:nvSpPr>
        <p:spPr>
          <a:xfrm>
            <a:off x="7883326" y="2127649"/>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3" name="Flowchart: Connector 132">
            <a:extLst>
              <a:ext uri="{FF2B5EF4-FFF2-40B4-BE49-F238E27FC236}">
                <a16:creationId xmlns:a16="http://schemas.microsoft.com/office/drawing/2014/main" id="{42F2D8DC-FE48-5C68-7716-1CA80C3E217A}"/>
              </a:ext>
            </a:extLst>
          </p:cNvPr>
          <p:cNvSpPr/>
          <p:nvPr/>
        </p:nvSpPr>
        <p:spPr>
          <a:xfrm>
            <a:off x="8015910" y="2556977"/>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4" name="Flowchart: Connector 133">
            <a:extLst>
              <a:ext uri="{FF2B5EF4-FFF2-40B4-BE49-F238E27FC236}">
                <a16:creationId xmlns:a16="http://schemas.microsoft.com/office/drawing/2014/main" id="{7561D790-0B71-6D23-75B2-0242F9F20EBF}"/>
              </a:ext>
            </a:extLst>
          </p:cNvPr>
          <p:cNvSpPr/>
          <p:nvPr/>
        </p:nvSpPr>
        <p:spPr>
          <a:xfrm>
            <a:off x="8056991" y="2927390"/>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5" name="Flowchart: Connector 134">
            <a:extLst>
              <a:ext uri="{FF2B5EF4-FFF2-40B4-BE49-F238E27FC236}">
                <a16:creationId xmlns:a16="http://schemas.microsoft.com/office/drawing/2014/main" id="{4C176F3A-C2AA-B1A5-1A59-C02905A14155}"/>
              </a:ext>
            </a:extLst>
          </p:cNvPr>
          <p:cNvSpPr/>
          <p:nvPr/>
        </p:nvSpPr>
        <p:spPr>
          <a:xfrm>
            <a:off x="8079728" y="3191506"/>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6" name="Flowchart: Connector 135">
            <a:extLst>
              <a:ext uri="{FF2B5EF4-FFF2-40B4-BE49-F238E27FC236}">
                <a16:creationId xmlns:a16="http://schemas.microsoft.com/office/drawing/2014/main" id="{AAF7DC8D-B44E-0598-07BD-87957E8040E6}"/>
              </a:ext>
            </a:extLst>
          </p:cNvPr>
          <p:cNvSpPr/>
          <p:nvPr/>
        </p:nvSpPr>
        <p:spPr>
          <a:xfrm>
            <a:off x="8107848" y="2747708"/>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7" name="Flowchart: Connector 136">
            <a:extLst>
              <a:ext uri="{FF2B5EF4-FFF2-40B4-BE49-F238E27FC236}">
                <a16:creationId xmlns:a16="http://schemas.microsoft.com/office/drawing/2014/main" id="{1B1F5321-34FD-5D28-DFED-D8036CB74050}"/>
              </a:ext>
            </a:extLst>
          </p:cNvPr>
          <p:cNvSpPr/>
          <p:nvPr/>
        </p:nvSpPr>
        <p:spPr>
          <a:xfrm>
            <a:off x="8196101" y="2356260"/>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8" name="Flowchart: Connector 137">
            <a:extLst>
              <a:ext uri="{FF2B5EF4-FFF2-40B4-BE49-F238E27FC236}">
                <a16:creationId xmlns:a16="http://schemas.microsoft.com/office/drawing/2014/main" id="{7883A41B-EADC-5996-242C-6571BC7AD2BC}"/>
              </a:ext>
            </a:extLst>
          </p:cNvPr>
          <p:cNvSpPr/>
          <p:nvPr/>
        </p:nvSpPr>
        <p:spPr>
          <a:xfrm>
            <a:off x="8335355" y="2007988"/>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9" name="Flowchart: Connector 138">
            <a:extLst>
              <a:ext uri="{FF2B5EF4-FFF2-40B4-BE49-F238E27FC236}">
                <a16:creationId xmlns:a16="http://schemas.microsoft.com/office/drawing/2014/main" id="{0057B907-5F21-3583-DA8F-13535470D61D}"/>
              </a:ext>
            </a:extLst>
          </p:cNvPr>
          <p:cNvSpPr/>
          <p:nvPr/>
        </p:nvSpPr>
        <p:spPr>
          <a:xfrm>
            <a:off x="8794969" y="1891431"/>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0" name="Flowchart: Connector 139">
            <a:extLst>
              <a:ext uri="{FF2B5EF4-FFF2-40B4-BE49-F238E27FC236}">
                <a16:creationId xmlns:a16="http://schemas.microsoft.com/office/drawing/2014/main" id="{03D74C7F-8AC5-D61F-651E-413E3D3265A8}"/>
              </a:ext>
            </a:extLst>
          </p:cNvPr>
          <p:cNvSpPr/>
          <p:nvPr/>
        </p:nvSpPr>
        <p:spPr>
          <a:xfrm>
            <a:off x="8994095" y="2256456"/>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1" name="Flowchart: Connector 140">
            <a:extLst>
              <a:ext uri="{FF2B5EF4-FFF2-40B4-BE49-F238E27FC236}">
                <a16:creationId xmlns:a16="http://schemas.microsoft.com/office/drawing/2014/main" id="{FD04113E-4894-208E-AEF3-A989A6D049C0}"/>
              </a:ext>
            </a:extLst>
          </p:cNvPr>
          <p:cNvSpPr/>
          <p:nvPr/>
        </p:nvSpPr>
        <p:spPr>
          <a:xfrm>
            <a:off x="8079728" y="3141018"/>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2" name="Flowchart: Connector 141">
            <a:extLst>
              <a:ext uri="{FF2B5EF4-FFF2-40B4-BE49-F238E27FC236}">
                <a16:creationId xmlns:a16="http://schemas.microsoft.com/office/drawing/2014/main" id="{1B1339FF-286D-F78F-BD0E-76008B97E2FF}"/>
              </a:ext>
            </a:extLst>
          </p:cNvPr>
          <p:cNvSpPr/>
          <p:nvPr/>
        </p:nvSpPr>
        <p:spPr>
          <a:xfrm>
            <a:off x="9096413" y="2598377"/>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3" name="Flowchart: Connector 142">
            <a:extLst>
              <a:ext uri="{FF2B5EF4-FFF2-40B4-BE49-F238E27FC236}">
                <a16:creationId xmlns:a16="http://schemas.microsoft.com/office/drawing/2014/main" id="{59E9DC8A-BD05-680F-20BC-83CCD7D7C1E5}"/>
              </a:ext>
            </a:extLst>
          </p:cNvPr>
          <p:cNvSpPr/>
          <p:nvPr/>
        </p:nvSpPr>
        <p:spPr>
          <a:xfrm>
            <a:off x="9135874" y="2911097"/>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4" name="Flowchart: Connector 143">
            <a:extLst>
              <a:ext uri="{FF2B5EF4-FFF2-40B4-BE49-F238E27FC236}">
                <a16:creationId xmlns:a16="http://schemas.microsoft.com/office/drawing/2014/main" id="{96623E9B-90DA-5C48-21FA-A60D0500A082}"/>
              </a:ext>
            </a:extLst>
          </p:cNvPr>
          <p:cNvSpPr/>
          <p:nvPr/>
        </p:nvSpPr>
        <p:spPr>
          <a:xfrm>
            <a:off x="9152139" y="3201125"/>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5" name="Flowchart: Connector 144">
            <a:extLst>
              <a:ext uri="{FF2B5EF4-FFF2-40B4-BE49-F238E27FC236}">
                <a16:creationId xmlns:a16="http://schemas.microsoft.com/office/drawing/2014/main" id="{FBE10FEB-FB7C-3F04-5ECB-0712546BAEA9}"/>
              </a:ext>
            </a:extLst>
          </p:cNvPr>
          <p:cNvSpPr/>
          <p:nvPr/>
        </p:nvSpPr>
        <p:spPr>
          <a:xfrm>
            <a:off x="9176955" y="2918948"/>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6" name="Flowchart: Connector 145">
            <a:extLst>
              <a:ext uri="{FF2B5EF4-FFF2-40B4-BE49-F238E27FC236}">
                <a16:creationId xmlns:a16="http://schemas.microsoft.com/office/drawing/2014/main" id="{A8969152-909F-32F7-69FE-4AD817F41C14}"/>
              </a:ext>
            </a:extLst>
          </p:cNvPr>
          <p:cNvSpPr/>
          <p:nvPr/>
        </p:nvSpPr>
        <p:spPr>
          <a:xfrm>
            <a:off x="9225164" y="2540102"/>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7" name="Flowchart: Connector 146">
            <a:extLst>
              <a:ext uri="{FF2B5EF4-FFF2-40B4-BE49-F238E27FC236}">
                <a16:creationId xmlns:a16="http://schemas.microsoft.com/office/drawing/2014/main" id="{DA0A44D3-2A0F-5CCD-1595-08A87A4D21A5}"/>
              </a:ext>
            </a:extLst>
          </p:cNvPr>
          <p:cNvSpPr/>
          <p:nvPr/>
        </p:nvSpPr>
        <p:spPr>
          <a:xfrm>
            <a:off x="9351265" y="2169049"/>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8" name="Flowchart: Connector 147">
            <a:extLst>
              <a:ext uri="{FF2B5EF4-FFF2-40B4-BE49-F238E27FC236}">
                <a16:creationId xmlns:a16="http://schemas.microsoft.com/office/drawing/2014/main" id="{15B1CB1D-3A60-6894-4C2E-7AB16BF07EF5}"/>
              </a:ext>
            </a:extLst>
          </p:cNvPr>
          <p:cNvSpPr/>
          <p:nvPr/>
        </p:nvSpPr>
        <p:spPr>
          <a:xfrm>
            <a:off x="9601165" y="1816525"/>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9" name="Flowchart: Connector 148">
            <a:extLst>
              <a:ext uri="{FF2B5EF4-FFF2-40B4-BE49-F238E27FC236}">
                <a16:creationId xmlns:a16="http://schemas.microsoft.com/office/drawing/2014/main" id="{1E9788D1-5148-7FB8-8C60-480432442511}"/>
              </a:ext>
            </a:extLst>
          </p:cNvPr>
          <p:cNvSpPr/>
          <p:nvPr/>
        </p:nvSpPr>
        <p:spPr>
          <a:xfrm>
            <a:off x="9951924" y="2007988"/>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0" name="Flowchart: Connector 149">
            <a:extLst>
              <a:ext uri="{FF2B5EF4-FFF2-40B4-BE49-F238E27FC236}">
                <a16:creationId xmlns:a16="http://schemas.microsoft.com/office/drawing/2014/main" id="{3FF0E11B-9D7C-B312-4E9C-07524B581208}"/>
              </a:ext>
            </a:extLst>
          </p:cNvPr>
          <p:cNvSpPr/>
          <p:nvPr/>
        </p:nvSpPr>
        <p:spPr>
          <a:xfrm>
            <a:off x="10121807" y="2390744"/>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1" name="Flowchart: Connector 150">
            <a:extLst>
              <a:ext uri="{FF2B5EF4-FFF2-40B4-BE49-F238E27FC236}">
                <a16:creationId xmlns:a16="http://schemas.microsoft.com/office/drawing/2014/main" id="{5BCC6F4B-791D-221F-2820-FF6BE7437472}"/>
              </a:ext>
            </a:extLst>
          </p:cNvPr>
          <p:cNvSpPr/>
          <p:nvPr/>
        </p:nvSpPr>
        <p:spPr>
          <a:xfrm>
            <a:off x="10196120" y="2706308"/>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2" name="Flowchart: Connector 151">
            <a:extLst>
              <a:ext uri="{FF2B5EF4-FFF2-40B4-BE49-F238E27FC236}">
                <a16:creationId xmlns:a16="http://schemas.microsoft.com/office/drawing/2014/main" id="{925AF655-D8FF-A5DB-56DD-E0542ECCE46E}"/>
              </a:ext>
            </a:extLst>
          </p:cNvPr>
          <p:cNvSpPr/>
          <p:nvPr/>
        </p:nvSpPr>
        <p:spPr>
          <a:xfrm>
            <a:off x="10303441" y="2504807"/>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3" name="Flowchart: Connector 152">
            <a:extLst>
              <a:ext uri="{FF2B5EF4-FFF2-40B4-BE49-F238E27FC236}">
                <a16:creationId xmlns:a16="http://schemas.microsoft.com/office/drawing/2014/main" id="{BD3C503C-A1A7-625E-1659-D47067692F91}"/>
              </a:ext>
            </a:extLst>
          </p:cNvPr>
          <p:cNvSpPr/>
          <p:nvPr/>
        </p:nvSpPr>
        <p:spPr>
          <a:xfrm>
            <a:off x="10451012" y="2090788"/>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4" name="Flowchart: Connector 153">
            <a:extLst>
              <a:ext uri="{FF2B5EF4-FFF2-40B4-BE49-F238E27FC236}">
                <a16:creationId xmlns:a16="http://schemas.microsoft.com/office/drawing/2014/main" id="{A45EAB85-0A6D-DFD2-52A4-C09967D2E4EF}"/>
              </a:ext>
            </a:extLst>
          </p:cNvPr>
          <p:cNvSpPr/>
          <p:nvPr/>
        </p:nvSpPr>
        <p:spPr>
          <a:xfrm>
            <a:off x="10232642" y="3190161"/>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5" name="Flowchart: Connector 154">
            <a:extLst>
              <a:ext uri="{FF2B5EF4-FFF2-40B4-BE49-F238E27FC236}">
                <a16:creationId xmlns:a16="http://schemas.microsoft.com/office/drawing/2014/main" id="{0F167EB6-505A-6137-43C0-690BB7D761D3}"/>
              </a:ext>
            </a:extLst>
          </p:cNvPr>
          <p:cNvSpPr/>
          <p:nvPr/>
        </p:nvSpPr>
        <p:spPr>
          <a:xfrm>
            <a:off x="10257458" y="2888245"/>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6" name="Flowchart: Connector 155">
            <a:extLst>
              <a:ext uri="{FF2B5EF4-FFF2-40B4-BE49-F238E27FC236}">
                <a16:creationId xmlns:a16="http://schemas.microsoft.com/office/drawing/2014/main" id="{452D661D-CD19-1E7E-1A14-E1CF828B5598}"/>
              </a:ext>
            </a:extLst>
          </p:cNvPr>
          <p:cNvSpPr/>
          <p:nvPr/>
        </p:nvSpPr>
        <p:spPr>
          <a:xfrm>
            <a:off x="10754903" y="1800465"/>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7" name="Flowchart: Connector 156">
            <a:extLst>
              <a:ext uri="{FF2B5EF4-FFF2-40B4-BE49-F238E27FC236}">
                <a16:creationId xmlns:a16="http://schemas.microsoft.com/office/drawing/2014/main" id="{A6A3F951-8075-3AD8-8487-7F97426BB188}"/>
              </a:ext>
            </a:extLst>
          </p:cNvPr>
          <p:cNvSpPr/>
          <p:nvPr/>
        </p:nvSpPr>
        <p:spPr>
          <a:xfrm>
            <a:off x="11060854" y="2028745"/>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8" name="Flowchart: Connector 157">
            <a:extLst>
              <a:ext uri="{FF2B5EF4-FFF2-40B4-BE49-F238E27FC236}">
                <a16:creationId xmlns:a16="http://schemas.microsoft.com/office/drawing/2014/main" id="{ACF0D0A5-8EA8-C70A-4934-C7C2C42C767F}"/>
              </a:ext>
            </a:extLst>
          </p:cNvPr>
          <p:cNvSpPr/>
          <p:nvPr/>
        </p:nvSpPr>
        <p:spPr>
          <a:xfrm>
            <a:off x="11189725" y="2307944"/>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9" name="Flowchart: Connector 158">
            <a:extLst>
              <a:ext uri="{FF2B5EF4-FFF2-40B4-BE49-F238E27FC236}">
                <a16:creationId xmlns:a16="http://schemas.microsoft.com/office/drawing/2014/main" id="{F691A7EE-FC02-3117-C8EA-1A6F499A031E}"/>
              </a:ext>
            </a:extLst>
          </p:cNvPr>
          <p:cNvSpPr/>
          <p:nvPr/>
        </p:nvSpPr>
        <p:spPr>
          <a:xfrm>
            <a:off x="11261757" y="2608020"/>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0" name="Flowchart: Connector 159">
            <a:extLst>
              <a:ext uri="{FF2B5EF4-FFF2-40B4-BE49-F238E27FC236}">
                <a16:creationId xmlns:a16="http://schemas.microsoft.com/office/drawing/2014/main" id="{2BA6B7C4-5D0B-2E58-32DA-224941166D33}"/>
              </a:ext>
            </a:extLst>
          </p:cNvPr>
          <p:cNvSpPr/>
          <p:nvPr/>
        </p:nvSpPr>
        <p:spPr>
          <a:xfrm>
            <a:off x="11296880" y="2918948"/>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1" name="Flowchart: Connector 160">
            <a:extLst>
              <a:ext uri="{FF2B5EF4-FFF2-40B4-BE49-F238E27FC236}">
                <a16:creationId xmlns:a16="http://schemas.microsoft.com/office/drawing/2014/main" id="{3EBA5847-586A-45B0-50D8-AADE3E8C7CED}"/>
              </a:ext>
            </a:extLst>
          </p:cNvPr>
          <p:cNvSpPr/>
          <p:nvPr/>
        </p:nvSpPr>
        <p:spPr>
          <a:xfrm>
            <a:off x="7040978" y="6000013"/>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2" name="Flowchart: Connector 161">
            <a:extLst>
              <a:ext uri="{FF2B5EF4-FFF2-40B4-BE49-F238E27FC236}">
                <a16:creationId xmlns:a16="http://schemas.microsoft.com/office/drawing/2014/main" id="{9A06586E-C354-3FB9-B84D-18229DC78DB4}"/>
              </a:ext>
            </a:extLst>
          </p:cNvPr>
          <p:cNvSpPr/>
          <p:nvPr/>
        </p:nvSpPr>
        <p:spPr>
          <a:xfrm>
            <a:off x="7135833" y="5422974"/>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3" name="Flowchart: Connector 162">
            <a:extLst>
              <a:ext uri="{FF2B5EF4-FFF2-40B4-BE49-F238E27FC236}">
                <a16:creationId xmlns:a16="http://schemas.microsoft.com/office/drawing/2014/main" id="{7C0E449E-B2C7-1464-9687-586DDC2CDA02}"/>
              </a:ext>
            </a:extLst>
          </p:cNvPr>
          <p:cNvSpPr/>
          <p:nvPr/>
        </p:nvSpPr>
        <p:spPr>
          <a:xfrm>
            <a:off x="7318050" y="4996896"/>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4" name="Flowchart: Connector 163">
            <a:extLst>
              <a:ext uri="{FF2B5EF4-FFF2-40B4-BE49-F238E27FC236}">
                <a16:creationId xmlns:a16="http://schemas.microsoft.com/office/drawing/2014/main" id="{254DBF65-421B-F6F0-F281-484DAF1947A1}"/>
              </a:ext>
            </a:extLst>
          </p:cNvPr>
          <p:cNvSpPr/>
          <p:nvPr/>
        </p:nvSpPr>
        <p:spPr>
          <a:xfrm>
            <a:off x="7657829" y="4849150"/>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5" name="Flowchart: Connector 164">
            <a:extLst>
              <a:ext uri="{FF2B5EF4-FFF2-40B4-BE49-F238E27FC236}">
                <a16:creationId xmlns:a16="http://schemas.microsoft.com/office/drawing/2014/main" id="{8A8A0999-B092-2C18-F288-94F16A8D7B78}"/>
              </a:ext>
            </a:extLst>
          </p:cNvPr>
          <p:cNvSpPr/>
          <p:nvPr/>
        </p:nvSpPr>
        <p:spPr>
          <a:xfrm>
            <a:off x="8055774" y="4963947"/>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6" name="Flowchart: Connector 165">
            <a:extLst>
              <a:ext uri="{FF2B5EF4-FFF2-40B4-BE49-F238E27FC236}">
                <a16:creationId xmlns:a16="http://schemas.microsoft.com/office/drawing/2014/main" id="{9A8B262D-B0E7-85CA-7CCB-D24EBA1C4D88}"/>
              </a:ext>
            </a:extLst>
          </p:cNvPr>
          <p:cNvSpPr/>
          <p:nvPr/>
        </p:nvSpPr>
        <p:spPr>
          <a:xfrm>
            <a:off x="8472804" y="4904976"/>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7" name="Flowchart: Connector 166">
            <a:extLst>
              <a:ext uri="{FF2B5EF4-FFF2-40B4-BE49-F238E27FC236}">
                <a16:creationId xmlns:a16="http://schemas.microsoft.com/office/drawing/2014/main" id="{F5DB3BF7-BE6E-255C-29F5-83CF5D2B8938}"/>
              </a:ext>
            </a:extLst>
          </p:cNvPr>
          <p:cNvSpPr/>
          <p:nvPr/>
        </p:nvSpPr>
        <p:spPr>
          <a:xfrm>
            <a:off x="8768681" y="4865252"/>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8" name="Flowchart: Connector 167">
            <a:extLst>
              <a:ext uri="{FF2B5EF4-FFF2-40B4-BE49-F238E27FC236}">
                <a16:creationId xmlns:a16="http://schemas.microsoft.com/office/drawing/2014/main" id="{3FEACEEA-84E5-77E9-F518-3BF467991B77}"/>
              </a:ext>
            </a:extLst>
          </p:cNvPr>
          <p:cNvSpPr/>
          <p:nvPr/>
        </p:nvSpPr>
        <p:spPr>
          <a:xfrm>
            <a:off x="9080026" y="4961892"/>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9" name="Flowchart: Connector 168">
            <a:extLst>
              <a:ext uri="{FF2B5EF4-FFF2-40B4-BE49-F238E27FC236}">
                <a16:creationId xmlns:a16="http://schemas.microsoft.com/office/drawing/2014/main" id="{9786725F-32DE-4830-8B4D-F4E76FC91F54}"/>
              </a:ext>
            </a:extLst>
          </p:cNvPr>
          <p:cNvSpPr/>
          <p:nvPr/>
        </p:nvSpPr>
        <p:spPr>
          <a:xfrm>
            <a:off x="9429942" y="5014992"/>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0" name="Flowchart: Connector 169">
            <a:extLst>
              <a:ext uri="{FF2B5EF4-FFF2-40B4-BE49-F238E27FC236}">
                <a16:creationId xmlns:a16="http://schemas.microsoft.com/office/drawing/2014/main" id="{DD2734D0-1B4B-CC9A-B803-38D5C5CE469A}"/>
              </a:ext>
            </a:extLst>
          </p:cNvPr>
          <p:cNvSpPr/>
          <p:nvPr/>
        </p:nvSpPr>
        <p:spPr>
          <a:xfrm>
            <a:off x="9793466" y="4863576"/>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2" name="Flowchart: Connector 171">
            <a:extLst>
              <a:ext uri="{FF2B5EF4-FFF2-40B4-BE49-F238E27FC236}">
                <a16:creationId xmlns:a16="http://schemas.microsoft.com/office/drawing/2014/main" id="{0C501FF7-94A0-D240-0EEB-03402383DFBE}"/>
              </a:ext>
            </a:extLst>
          </p:cNvPr>
          <p:cNvSpPr/>
          <p:nvPr/>
        </p:nvSpPr>
        <p:spPr>
          <a:xfrm>
            <a:off x="10105272" y="4965001"/>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3" name="Flowchart: Connector 172">
            <a:extLst>
              <a:ext uri="{FF2B5EF4-FFF2-40B4-BE49-F238E27FC236}">
                <a16:creationId xmlns:a16="http://schemas.microsoft.com/office/drawing/2014/main" id="{ABF3AB8E-F496-9B87-8012-1C6573ABAA8B}"/>
              </a:ext>
            </a:extLst>
          </p:cNvPr>
          <p:cNvSpPr/>
          <p:nvPr/>
        </p:nvSpPr>
        <p:spPr>
          <a:xfrm>
            <a:off x="10500801" y="5031566"/>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4" name="Flowchart: Connector 173">
            <a:extLst>
              <a:ext uri="{FF2B5EF4-FFF2-40B4-BE49-F238E27FC236}">
                <a16:creationId xmlns:a16="http://schemas.microsoft.com/office/drawing/2014/main" id="{39ED9EFD-A4B7-CE6F-215E-7BF125CCF85D}"/>
              </a:ext>
            </a:extLst>
          </p:cNvPr>
          <p:cNvSpPr/>
          <p:nvPr/>
        </p:nvSpPr>
        <p:spPr>
          <a:xfrm>
            <a:off x="10837065" y="4823852"/>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5" name="Flowchart: Connector 174">
            <a:extLst>
              <a:ext uri="{FF2B5EF4-FFF2-40B4-BE49-F238E27FC236}">
                <a16:creationId xmlns:a16="http://schemas.microsoft.com/office/drawing/2014/main" id="{F73F45B5-3D6E-AB91-3D5B-0C2830E21C2A}"/>
              </a:ext>
            </a:extLst>
          </p:cNvPr>
          <p:cNvSpPr/>
          <p:nvPr/>
        </p:nvSpPr>
        <p:spPr>
          <a:xfrm>
            <a:off x="11075015" y="4970647"/>
            <a:ext cx="82162" cy="82800"/>
          </a:xfrm>
          <a:prstGeom prst="flowChartConnector">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5B0202C7-F17B-CC3E-9519-DB96A1BB0119}"/>
              </a:ext>
            </a:extLst>
          </p:cNvPr>
          <p:cNvSpPr txBox="1"/>
          <p:nvPr/>
        </p:nvSpPr>
        <p:spPr>
          <a:xfrm>
            <a:off x="11533496" y="3261910"/>
            <a:ext cx="647751" cy="369332"/>
          </a:xfrm>
          <a:prstGeom prst="rect">
            <a:avLst/>
          </a:prstGeom>
          <a:noFill/>
        </p:spPr>
        <p:txBody>
          <a:bodyPr wrap="square" rtlCol="0">
            <a:spAutoFit/>
          </a:bodyPr>
          <a:lstStyle/>
          <a:p>
            <a:r>
              <a:rPr lang="en-IN">
                <a:latin typeface="Times New Roman" panose="02020603050405020304" pitchFamily="18" charset="0"/>
                <a:cs typeface="Times New Roman" panose="02020603050405020304" pitchFamily="18" charset="0"/>
              </a:rPr>
              <a:t>time</a:t>
            </a:r>
          </a:p>
        </p:txBody>
      </p:sp>
      <p:sp>
        <p:nvSpPr>
          <p:cNvPr id="9" name="TextBox 8">
            <a:extLst>
              <a:ext uri="{FF2B5EF4-FFF2-40B4-BE49-F238E27FC236}">
                <a16:creationId xmlns:a16="http://schemas.microsoft.com/office/drawing/2014/main" id="{1A384431-021C-A671-6A89-8CF1ECE5EA3F}"/>
              </a:ext>
            </a:extLst>
          </p:cNvPr>
          <p:cNvSpPr txBox="1"/>
          <p:nvPr/>
        </p:nvSpPr>
        <p:spPr>
          <a:xfrm>
            <a:off x="7026545" y="587142"/>
            <a:ext cx="1210637" cy="369332"/>
          </a:xfrm>
          <a:prstGeom prst="rect">
            <a:avLst/>
          </a:prstGeom>
          <a:noFill/>
        </p:spPr>
        <p:txBody>
          <a:bodyPr wrap="square" rtlCol="0">
            <a:spAutoFit/>
          </a:bodyPr>
          <a:lstStyle/>
          <a:p>
            <a:r>
              <a:rPr lang="en-IN">
                <a:latin typeface="Times New Roman" panose="02020603050405020304" pitchFamily="18" charset="0"/>
                <a:cs typeface="Times New Roman" panose="02020603050405020304" pitchFamily="18" charset="0"/>
              </a:rPr>
              <a:t>Amplitude</a:t>
            </a:r>
          </a:p>
        </p:txBody>
      </p:sp>
      <p:cxnSp>
        <p:nvCxnSpPr>
          <p:cNvPr id="12" name="Straight Connector 11">
            <a:extLst>
              <a:ext uri="{FF2B5EF4-FFF2-40B4-BE49-F238E27FC236}">
                <a16:creationId xmlns:a16="http://schemas.microsoft.com/office/drawing/2014/main" id="{FE1F5580-2E0B-7C6E-C918-DCE6A3C4E2E1}"/>
              </a:ext>
            </a:extLst>
          </p:cNvPr>
          <p:cNvCxnSpPr>
            <a:cxnSpLocks/>
          </p:cNvCxnSpPr>
          <p:nvPr/>
        </p:nvCxnSpPr>
        <p:spPr>
          <a:xfrm>
            <a:off x="7021893" y="1841186"/>
            <a:ext cx="4835478" cy="5886"/>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0A38194-33B3-2E3C-5C5A-90FFCF4A3A64}"/>
                  </a:ext>
                </a:extLst>
              </p:cNvPr>
              <p:cNvSpPr txBox="1"/>
              <p:nvPr/>
            </p:nvSpPr>
            <p:spPr>
              <a:xfrm>
                <a:off x="6393663" y="1679397"/>
                <a:ext cx="404854" cy="3907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𝑉</m:t>
                          </m:r>
                        </m:e>
                        <m:sub>
                          <m:r>
                            <a:rPr lang="en-IN" b="0" i="1" smtClean="0">
                              <a:latin typeface="Cambria Math" panose="02040503050406030204" pitchFamily="18" charset="0"/>
                            </a:rPr>
                            <m:t>𝑝𝑒𝑎𝑘</m:t>
                          </m:r>
                        </m:sub>
                      </m:sSub>
                    </m:oMath>
                  </m:oMathPara>
                </a14:m>
                <a:endParaRPr lang="en-IN"/>
              </a:p>
            </p:txBody>
          </p:sp>
        </mc:Choice>
        <mc:Fallback xmlns="">
          <p:sp>
            <p:nvSpPr>
              <p:cNvPr id="14" name="TextBox 13">
                <a:extLst>
                  <a:ext uri="{FF2B5EF4-FFF2-40B4-BE49-F238E27FC236}">
                    <a16:creationId xmlns:a16="http://schemas.microsoft.com/office/drawing/2014/main" id="{00A38194-33B3-2E3C-5C5A-90FFCF4A3A64}"/>
                  </a:ext>
                </a:extLst>
              </p:cNvPr>
              <p:cNvSpPr txBox="1">
                <a:spLocks noRot="1" noChangeAspect="1" noMove="1" noResize="1" noEditPoints="1" noAdjustHandles="1" noChangeArrowheads="1" noChangeShapeType="1" noTextEdit="1"/>
              </p:cNvSpPr>
              <p:nvPr/>
            </p:nvSpPr>
            <p:spPr>
              <a:xfrm>
                <a:off x="6393663" y="1679397"/>
                <a:ext cx="404854" cy="390748"/>
              </a:xfrm>
              <a:prstGeom prst="rect">
                <a:avLst/>
              </a:prstGeom>
              <a:blipFill>
                <a:blip r:embed="rId5"/>
                <a:stretch>
                  <a:fillRect r="-68182" b="-6154"/>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08415A3B-B4CC-9549-19C5-E8F0E9A71900}"/>
              </a:ext>
            </a:extLst>
          </p:cNvPr>
          <p:cNvSpPr txBox="1"/>
          <p:nvPr/>
        </p:nvSpPr>
        <p:spPr>
          <a:xfrm>
            <a:off x="7040978" y="3640596"/>
            <a:ext cx="1210637" cy="369332"/>
          </a:xfrm>
          <a:prstGeom prst="rect">
            <a:avLst/>
          </a:prstGeom>
          <a:noFill/>
        </p:spPr>
        <p:txBody>
          <a:bodyPr wrap="square" rtlCol="0">
            <a:spAutoFit/>
          </a:bodyPr>
          <a:lstStyle/>
          <a:p>
            <a:r>
              <a:rPr lang="en-IN">
                <a:latin typeface="Times New Roman" panose="02020603050405020304" pitchFamily="18" charset="0"/>
                <a:cs typeface="Times New Roman" panose="02020603050405020304" pitchFamily="18" charset="0"/>
              </a:rPr>
              <a:t>Amplitude</a:t>
            </a:r>
          </a:p>
        </p:txBody>
      </p:sp>
      <p:sp>
        <p:nvSpPr>
          <p:cNvPr id="16" name="TextBox 15">
            <a:extLst>
              <a:ext uri="{FF2B5EF4-FFF2-40B4-BE49-F238E27FC236}">
                <a16:creationId xmlns:a16="http://schemas.microsoft.com/office/drawing/2014/main" id="{AA5A1AB0-E846-B8AE-25E2-5CAFE4AC44CF}"/>
              </a:ext>
            </a:extLst>
          </p:cNvPr>
          <p:cNvSpPr txBox="1"/>
          <p:nvPr/>
        </p:nvSpPr>
        <p:spPr>
          <a:xfrm>
            <a:off x="11640440" y="6188128"/>
            <a:ext cx="647751" cy="369332"/>
          </a:xfrm>
          <a:prstGeom prst="rect">
            <a:avLst/>
          </a:prstGeom>
          <a:noFill/>
        </p:spPr>
        <p:txBody>
          <a:bodyPr wrap="square" rtlCol="0">
            <a:spAutoFit/>
          </a:bodyPr>
          <a:lstStyle/>
          <a:p>
            <a:r>
              <a:rPr lang="en-IN">
                <a:latin typeface="Times New Roman" panose="02020603050405020304" pitchFamily="18" charset="0"/>
                <a:cs typeface="Times New Roman" panose="02020603050405020304" pitchFamily="18" charset="0"/>
              </a:rPr>
              <a:t>time</a:t>
            </a:r>
          </a:p>
        </p:txBody>
      </p:sp>
    </p:spTree>
    <p:extLst>
      <p:ext uri="{BB962C8B-B14F-4D97-AF65-F5344CB8AC3E}">
        <p14:creationId xmlns:p14="http://schemas.microsoft.com/office/powerpoint/2010/main" val="1313349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indefinite" fill="hold" grpId="0" nodeType="withEffect">
                                  <p:stCondLst>
                                    <p:cond delay="0"/>
                                  </p:stCondLst>
                                  <p:childTnLst>
                                    <p:animMotion origin="layout" path="M -0.00104 -0.0007 L 0.00377 -0.04005 L 0.00872 -0.06783 L 0.01276 -0.08519 L 0.01536 -0.09398 " pathEditMode="fixed" ptsTypes="AAAAA">
                                      <p:cBhvr>
                                        <p:cTn id="6" dur="2000" fill="hold"/>
                                        <p:tgtEl>
                                          <p:spTgt spid="129"/>
                                        </p:tgtEl>
                                        <p:attrNameLst>
                                          <p:attrName>ppt_x</p:attrName>
                                          <p:attrName>ppt_y</p:attrName>
                                        </p:attrNameLst>
                                      </p:cBhvr>
                                    </p:animMotion>
                                  </p:childTnLst>
                                </p:cTn>
                              </p:par>
                              <p:par>
                                <p:cTn id="7" presetID="0" presetClass="path" presetSubtype="0" repeatCount="indefinite" fill="hold" grpId="0" nodeType="withEffect">
                                  <p:stCondLst>
                                    <p:cond delay="0"/>
                                  </p:stCondLst>
                                  <p:childTnLst>
                                    <p:animMotion origin="layout" path="M 0.00013 -3.7037E-7 L 0.00287 -0.01065 L 0.00664 -0.01968 L 0.01133 -0.02824 L 0.01589 -0.03449 L 0.02136 -0.03912 L 0.02709 -0.03958 L 0.03112 -0.03796 L 0.03386 -0.03588 L 0.03594 -0.03333 " pathEditMode="fixed" ptsTypes="AAAAAAAAAA">
                                      <p:cBhvr>
                                        <p:cTn id="8" dur="2000" fill="hold"/>
                                        <p:tgtEl>
                                          <p:spTgt spid="130"/>
                                        </p:tgtEl>
                                        <p:attrNameLst>
                                          <p:attrName>ppt_x</p:attrName>
                                          <p:attrName>ppt_y</p:attrName>
                                        </p:attrNameLst>
                                      </p:cBhvr>
                                    </p:animMotion>
                                  </p:childTnLst>
                                </p:cTn>
                              </p:par>
                              <p:par>
                                <p:cTn id="9" presetID="0" presetClass="path" presetSubtype="0" repeatCount="indefinite" fill="hold" grpId="0" nodeType="withEffect">
                                  <p:stCondLst>
                                    <p:cond delay="0"/>
                                  </p:stCondLst>
                                  <p:childTnLst>
                                    <p:animMotion origin="layout" path="M 1.11022E-16 2.96296E-6 L 0.0056 0.0074 L 0.00911 0.01527 L 0.01276 0.02407 L 0.01497 0.03102 L 0.01732 0.03842 L 0.01758 0.0412 L 0.01875 0.04305 " pathEditMode="fixed" ptsTypes="AAAAAAAA">
                                      <p:cBhvr>
                                        <p:cTn id="10" dur="2000" fill="hold"/>
                                        <p:tgtEl>
                                          <p:spTgt spid="131"/>
                                        </p:tgtEl>
                                        <p:attrNameLst>
                                          <p:attrName>ppt_x</p:attrName>
                                          <p:attrName>ppt_y</p:attrName>
                                        </p:attrNameLst>
                                      </p:cBhvr>
                                    </p:animMotion>
                                  </p:childTnLst>
                                </p:cTn>
                              </p:par>
                              <p:par>
                                <p:cTn id="11" presetID="0" presetClass="path" presetSubtype="0" repeatCount="indefinite" fill="hold" grpId="0" nodeType="withEffect">
                                  <p:stCondLst>
                                    <p:cond delay="0"/>
                                  </p:stCondLst>
                                  <p:childTnLst>
                                    <p:animMotion origin="layout" path="M -0.00065 -0.00092 L 0.00482 0.02547 L 0.00781 0.04491 L 0.00951 0.05579 L 0.01068 0.06389 " pathEditMode="fixed" ptsTypes="AAAAA">
                                      <p:cBhvr>
                                        <p:cTn id="12" dur="2000" fill="hold"/>
                                        <p:tgtEl>
                                          <p:spTgt spid="132"/>
                                        </p:tgtEl>
                                        <p:attrNameLst>
                                          <p:attrName>ppt_x</p:attrName>
                                          <p:attrName>ppt_y</p:attrName>
                                        </p:attrNameLst>
                                      </p:cBhvr>
                                    </p:animMotion>
                                  </p:childTnLst>
                                </p:cTn>
                              </p:par>
                              <p:par>
                                <p:cTn id="13" presetID="0" presetClass="path" presetSubtype="0" repeatCount="indefinite" fill="hold" grpId="0" nodeType="withEffect">
                                  <p:stCondLst>
                                    <p:cond delay="0"/>
                                  </p:stCondLst>
                                  <p:childTnLst>
                                    <p:animMotion origin="layout" path="M 2.70833E-6 -0.00093 L 0.00247 0.03125 L 0.00377 0.05601 " pathEditMode="fixed" ptsTypes="AAA">
                                      <p:cBhvr>
                                        <p:cTn id="14" dur="2000" fill="hold"/>
                                        <p:tgtEl>
                                          <p:spTgt spid="133"/>
                                        </p:tgtEl>
                                        <p:attrNameLst>
                                          <p:attrName>ppt_x</p:attrName>
                                          <p:attrName>ppt_y</p:attrName>
                                        </p:attrNameLst>
                                      </p:cBhvr>
                                    </p:animMotion>
                                  </p:childTnLst>
                                </p:cTn>
                              </p:par>
                              <p:par>
                                <p:cTn id="15" presetID="0" presetClass="path" presetSubtype="0" repeatCount="indefinite" fill="hold" grpId="0" nodeType="withEffect">
                                  <p:stCondLst>
                                    <p:cond delay="0"/>
                                  </p:stCondLst>
                                  <p:childTnLst>
                                    <p:animMotion origin="layout" path="M -0.00013 0.00046 L 0.00065 0.01713 L 0.00078 0.02755 L 0.0013 0.04074 " pathEditMode="fixed" ptsTypes="AAAA">
                                      <p:cBhvr>
                                        <p:cTn id="16" dur="2000" fill="hold"/>
                                        <p:tgtEl>
                                          <p:spTgt spid="134"/>
                                        </p:tgtEl>
                                        <p:attrNameLst>
                                          <p:attrName>ppt_x</p:attrName>
                                          <p:attrName>ppt_y</p:attrName>
                                        </p:attrNameLst>
                                      </p:cBhvr>
                                    </p:animMotion>
                                  </p:childTnLst>
                                </p:cTn>
                              </p:par>
                              <p:par>
                                <p:cTn id="17" presetID="0" presetClass="path" presetSubtype="0" repeatCount="indefinite" fill="hold" grpId="0" nodeType="withEffect">
                                  <p:stCondLst>
                                    <p:cond delay="0"/>
                                  </p:stCondLst>
                                  <p:childTnLst>
                                    <p:animMotion origin="layout" path="M -0.00026 -3.7037E-7 L 4.375E-6 -0.02685 L 0.00104 -0.04838 L 0.00195 -0.05856 " pathEditMode="fixed" ptsTypes="AAAA">
                                      <p:cBhvr>
                                        <p:cTn id="18" dur="2000" fill="hold"/>
                                        <p:tgtEl>
                                          <p:spTgt spid="141"/>
                                        </p:tgtEl>
                                        <p:attrNameLst>
                                          <p:attrName>ppt_x</p:attrName>
                                          <p:attrName>ppt_y</p:attrName>
                                        </p:attrNameLst>
                                      </p:cBhvr>
                                    </p:animMotion>
                                  </p:childTnLst>
                                </p:cTn>
                              </p:par>
                              <p:par>
                                <p:cTn id="19" presetID="0" presetClass="path" presetSubtype="0" repeatCount="indefinite" fill="hold" grpId="0" nodeType="withEffect">
                                  <p:stCondLst>
                                    <p:cond delay="0"/>
                                  </p:stCondLst>
                                  <p:childTnLst>
                                    <p:animMotion origin="layout" path="M -0.00026 -0.00069 L 0.00247 -0.03356 L 0.00547 -0.05046 L 0.00638 -0.05694 " pathEditMode="fixed" ptsTypes="AAAA">
                                      <p:cBhvr>
                                        <p:cTn id="20" dur="2000" fill="hold"/>
                                        <p:tgtEl>
                                          <p:spTgt spid="136"/>
                                        </p:tgtEl>
                                        <p:attrNameLst>
                                          <p:attrName>ppt_x</p:attrName>
                                          <p:attrName>ppt_y</p:attrName>
                                        </p:attrNameLst>
                                      </p:cBhvr>
                                    </p:animMotion>
                                  </p:childTnLst>
                                </p:cTn>
                              </p:par>
                              <p:par>
                                <p:cTn id="21" presetID="0" presetClass="path" presetSubtype="0" repeatCount="indefinite" fill="hold" grpId="0" nodeType="withEffect">
                                  <p:stCondLst>
                                    <p:cond delay="0"/>
                                  </p:stCondLst>
                                  <p:childTnLst>
                                    <p:animMotion origin="layout" path="M -0.00039 -0.00255 L 0.00508 -0.03148 L 0.0112 -0.05093 " pathEditMode="fixed" ptsTypes="AAA">
                                      <p:cBhvr>
                                        <p:cTn id="22" dur="2000" fill="hold"/>
                                        <p:tgtEl>
                                          <p:spTgt spid="137"/>
                                        </p:tgtEl>
                                        <p:attrNameLst>
                                          <p:attrName>ppt_x</p:attrName>
                                          <p:attrName>ppt_y</p:attrName>
                                        </p:attrNameLst>
                                      </p:cBhvr>
                                    </p:animMotion>
                                  </p:childTnLst>
                                </p:cTn>
                              </p:par>
                              <p:par>
                                <p:cTn id="23" presetID="0" presetClass="path" presetSubtype="0" repeatCount="indefinite" fill="hold" grpId="0" nodeType="withEffect">
                                  <p:stCondLst>
                                    <p:cond delay="0"/>
                                  </p:stCondLst>
                                  <p:childTnLst>
                                    <p:animMotion origin="layout" path="M -0.00078 -2.59259E-6 L 0.00911 -0.02153 L 0.01732 -0.0294 L 0.02487 -0.03032 L 0.0319 -0.02615 L 0.0345 -0.02268 L 0.03802 -0.0169 " pathEditMode="fixed" ptsTypes="AAAAAAA">
                                      <p:cBhvr>
                                        <p:cTn id="24" dur="2000" fill="hold"/>
                                        <p:tgtEl>
                                          <p:spTgt spid="138"/>
                                        </p:tgtEl>
                                        <p:attrNameLst>
                                          <p:attrName>ppt_x</p:attrName>
                                          <p:attrName>ppt_y</p:attrName>
                                        </p:attrNameLst>
                                      </p:cBhvr>
                                    </p:animMotion>
                                  </p:childTnLst>
                                </p:cTn>
                              </p:par>
                              <p:par>
                                <p:cTn id="25" presetID="0" presetClass="path" presetSubtype="0" repeatCount="indefinite" fill="hold" grpId="0" nodeType="withEffect">
                                  <p:stCondLst>
                                    <p:cond delay="0"/>
                                  </p:stCondLst>
                                  <p:childTnLst>
                                    <p:animMotion origin="layout" path="M -0.00065 -0.00115 L 0.0056 0.01088 L 0.01094 0.02709 L 0.01471 0.04074 L 0.01693 0.05255 " pathEditMode="fixed" ptsTypes="AAAAA">
                                      <p:cBhvr>
                                        <p:cTn id="26" dur="2000" fill="hold"/>
                                        <p:tgtEl>
                                          <p:spTgt spid="139"/>
                                        </p:tgtEl>
                                        <p:attrNameLst>
                                          <p:attrName>ppt_x</p:attrName>
                                          <p:attrName>ppt_y</p:attrName>
                                        </p:attrNameLst>
                                      </p:cBhvr>
                                    </p:animMotion>
                                  </p:childTnLst>
                                </p:cTn>
                              </p:par>
                              <p:par>
                                <p:cTn id="27" presetID="0" presetClass="path" presetSubtype="0" repeatCount="indefinite" fill="hold" grpId="0" nodeType="withEffect">
                                  <p:stCondLst>
                                    <p:cond delay="0"/>
                                  </p:stCondLst>
                                  <p:childTnLst>
                                    <p:animMotion origin="layout" path="M 0.00052 0.00139 L 0.00364 0.01366 L 0.0052 0.02477 L 0.00638 0.03519 L 0.00703 0.03912 L 0.00833 0.05024 " pathEditMode="fixed" ptsTypes="AAAAAA">
                                      <p:cBhvr>
                                        <p:cTn id="28" dur="2000" fill="hold"/>
                                        <p:tgtEl>
                                          <p:spTgt spid="140"/>
                                        </p:tgtEl>
                                        <p:attrNameLst>
                                          <p:attrName>ppt_x</p:attrName>
                                          <p:attrName>ppt_y</p:attrName>
                                        </p:attrNameLst>
                                      </p:cBhvr>
                                    </p:animMotion>
                                  </p:childTnLst>
                                </p:cTn>
                              </p:par>
                              <p:par>
                                <p:cTn id="29" presetID="0" presetClass="path" presetSubtype="0" repeatCount="indefinite" fill="hold" grpId="0" nodeType="withEffect">
                                  <p:stCondLst>
                                    <p:cond delay="0"/>
                                  </p:stCondLst>
                                  <p:childTnLst>
                                    <p:animMotion origin="layout" path="M -0.00026 -0.00069 L 0.00156 0.01968 L 0.00299 0.0338 L 0.00338 0.04699 " pathEditMode="fixed" ptsTypes="AAAA">
                                      <p:cBhvr>
                                        <p:cTn id="30" dur="2000" fill="hold"/>
                                        <p:tgtEl>
                                          <p:spTgt spid="142"/>
                                        </p:tgtEl>
                                        <p:attrNameLst>
                                          <p:attrName>ppt_x</p:attrName>
                                          <p:attrName>ppt_y</p:attrName>
                                        </p:attrNameLst>
                                      </p:cBhvr>
                                    </p:animMotion>
                                  </p:childTnLst>
                                </p:cTn>
                              </p:par>
                              <p:par>
                                <p:cTn id="31" presetID="0" presetClass="path" presetSubtype="0" repeatCount="indefinite" fill="hold" grpId="0" nodeType="withEffect">
                                  <p:stCondLst>
                                    <p:cond delay="0"/>
                                  </p:stCondLst>
                                  <p:childTnLst>
                                    <p:animMotion origin="layout" path="M -0.00013 -0.00024 L 0.00183 0.04282 " pathEditMode="fixed" rAng="0" ptsTypes="AA">
                                      <p:cBhvr>
                                        <p:cTn id="32" dur="2000" fill="hold"/>
                                        <p:tgtEl>
                                          <p:spTgt spid="143"/>
                                        </p:tgtEl>
                                        <p:attrNameLst>
                                          <p:attrName>ppt_x</p:attrName>
                                          <p:attrName>ppt_y</p:attrName>
                                        </p:attrNameLst>
                                      </p:cBhvr>
                                      <p:rCtr x="91" y="2153"/>
                                    </p:animMotion>
                                  </p:childTnLst>
                                </p:cTn>
                              </p:par>
                              <p:par>
                                <p:cTn id="33" presetID="0" presetClass="path" presetSubtype="0" repeatCount="indefinite" fill="hold" grpId="0" nodeType="withEffect">
                                  <p:stCondLst>
                                    <p:cond delay="0"/>
                                  </p:stCondLst>
                                  <p:childTnLst>
                                    <p:animMotion origin="layout" path="M -0.00013 0.00046 L 0.00156 -0.04167 " pathEditMode="fixed" ptsTypes="AA">
                                      <p:cBhvr>
                                        <p:cTn id="34" dur="2000" fill="hold"/>
                                        <p:tgtEl>
                                          <p:spTgt spid="144"/>
                                        </p:tgtEl>
                                        <p:attrNameLst>
                                          <p:attrName>ppt_x</p:attrName>
                                          <p:attrName>ppt_y</p:attrName>
                                        </p:attrNameLst>
                                      </p:cBhvr>
                                    </p:animMotion>
                                  </p:childTnLst>
                                </p:cTn>
                              </p:par>
                              <p:par>
                                <p:cTn id="35" presetID="0" presetClass="path" presetSubtype="0" repeatCount="indefinite" fill="hold" grpId="0" nodeType="withEffect">
                                  <p:stCondLst>
                                    <p:cond delay="0"/>
                                  </p:stCondLst>
                                  <p:childTnLst>
                                    <p:animMotion origin="layout" path="M 2.08333E-7 0.0007 L 0.00039 -0.02291 L 0.00247 -0.0412 L 0.00404 -0.05555 " pathEditMode="fixed" ptsTypes="AAAA">
                                      <p:cBhvr>
                                        <p:cTn id="36" dur="2000" fill="hold"/>
                                        <p:tgtEl>
                                          <p:spTgt spid="145"/>
                                        </p:tgtEl>
                                        <p:attrNameLst>
                                          <p:attrName>ppt_x</p:attrName>
                                          <p:attrName>ppt_y</p:attrName>
                                        </p:attrNameLst>
                                      </p:cBhvr>
                                    </p:animMotion>
                                  </p:childTnLst>
                                </p:cTn>
                              </p:par>
                              <p:par>
                                <p:cTn id="37" presetID="0" presetClass="path" presetSubtype="0" repeatCount="indefinite" fill="hold" grpId="0" nodeType="withEffect">
                                  <p:stCondLst>
                                    <p:cond delay="0"/>
                                  </p:stCondLst>
                                  <p:childTnLst>
                                    <p:animMotion origin="layout" path="M 0.00013 0.00255 L 0.00351 -0.02408 L 0.00638 -0.03935 L 0.00976 -0.05394 " pathEditMode="fixed" ptsTypes="AAAA">
                                      <p:cBhvr>
                                        <p:cTn id="38" dur="2000" fill="hold"/>
                                        <p:tgtEl>
                                          <p:spTgt spid="146"/>
                                        </p:tgtEl>
                                        <p:attrNameLst>
                                          <p:attrName>ppt_x</p:attrName>
                                          <p:attrName>ppt_y</p:attrName>
                                        </p:attrNameLst>
                                      </p:cBhvr>
                                    </p:animMotion>
                                  </p:childTnLst>
                                </p:cTn>
                              </p:par>
                              <p:par>
                                <p:cTn id="39" presetID="0" presetClass="path" presetSubtype="0" repeatCount="indefinite" fill="hold" grpId="0" nodeType="withEffect">
                                  <p:stCondLst>
                                    <p:cond delay="0"/>
                                  </p:stCondLst>
                                  <p:childTnLst>
                                    <p:animMotion origin="layout" path="M -0.00078 -0.00092 L 0.00808 -0.02824 L 0.01576 -0.04097 L 0.0211 -0.04722 " pathEditMode="fixed" ptsTypes="AAAA">
                                      <p:cBhvr>
                                        <p:cTn id="40" dur="2000" fill="hold"/>
                                        <p:tgtEl>
                                          <p:spTgt spid="147"/>
                                        </p:tgtEl>
                                        <p:attrNameLst>
                                          <p:attrName>ppt_x</p:attrName>
                                          <p:attrName>ppt_y</p:attrName>
                                        </p:attrNameLst>
                                      </p:cBhvr>
                                    </p:animMotion>
                                  </p:childTnLst>
                                </p:cTn>
                              </p:par>
                              <p:par>
                                <p:cTn id="41" presetID="0" presetClass="path" presetSubtype="0" repeatCount="indefinite" fill="hold" grpId="0" nodeType="withEffect">
                                  <p:stCondLst>
                                    <p:cond delay="0"/>
                                  </p:stCondLst>
                                  <p:childTnLst>
                                    <p:animMotion origin="layout" path="M -0.00091 1.11111E-6 L 0.00625 -0.00324 L 0.01289 -0.00208 L 0.01953 0.00463 L 0.02604 0.01643 L 0.02851 0.02245 " pathEditMode="fixed" ptsTypes="AAAAAA">
                                      <p:cBhvr>
                                        <p:cTn id="42" dur="2000" fill="hold"/>
                                        <p:tgtEl>
                                          <p:spTgt spid="148"/>
                                        </p:tgtEl>
                                        <p:attrNameLst>
                                          <p:attrName>ppt_x</p:attrName>
                                          <p:attrName>ppt_y</p:attrName>
                                        </p:attrNameLst>
                                      </p:cBhvr>
                                    </p:animMotion>
                                  </p:childTnLst>
                                </p:cTn>
                              </p:par>
                              <p:par>
                                <p:cTn id="43" presetID="0" presetClass="path" presetSubtype="0" repeatCount="indefinite" fill="hold" grpId="0" nodeType="withEffect">
                                  <p:stCondLst>
                                    <p:cond delay="0"/>
                                  </p:stCondLst>
                                  <p:childTnLst>
                                    <p:animMotion origin="layout" path="M -0.00013 -0.00115 L 0.00651 0.02014 L 0.01185 0.0426 L 0.01406 0.05579 " pathEditMode="fixed" ptsTypes="AAAA">
                                      <p:cBhvr>
                                        <p:cTn id="44" dur="2000" fill="hold"/>
                                        <p:tgtEl>
                                          <p:spTgt spid="149"/>
                                        </p:tgtEl>
                                        <p:attrNameLst>
                                          <p:attrName>ppt_x</p:attrName>
                                          <p:attrName>ppt_y</p:attrName>
                                        </p:attrNameLst>
                                      </p:cBhvr>
                                    </p:animMotion>
                                  </p:childTnLst>
                                </p:cTn>
                              </p:par>
                              <p:par>
                                <p:cTn id="45" presetID="0" presetClass="path" presetSubtype="0" repeatCount="indefinite" fill="hold" grpId="0" nodeType="withEffect">
                                  <p:stCondLst>
                                    <p:cond delay="0"/>
                                  </p:stCondLst>
                                  <p:childTnLst>
                                    <p:animMotion origin="layout" path="M -0.00013 -0.00023 L 0.00365 0.02222 L 0.00547 0.0463 " pathEditMode="fixed" ptsTypes="AAA">
                                      <p:cBhvr>
                                        <p:cTn id="46" dur="2000" fill="hold"/>
                                        <p:tgtEl>
                                          <p:spTgt spid="150"/>
                                        </p:tgtEl>
                                        <p:attrNameLst>
                                          <p:attrName>ppt_x</p:attrName>
                                          <p:attrName>ppt_y</p:attrName>
                                        </p:attrNameLst>
                                      </p:cBhvr>
                                    </p:animMotion>
                                  </p:childTnLst>
                                </p:cTn>
                              </p:par>
                              <p:par>
                                <p:cTn id="47" presetID="0" presetClass="path" presetSubtype="0" repeatCount="indefinite" fill="hold" grpId="0" nodeType="withEffect">
                                  <p:stCondLst>
                                    <p:cond delay="0"/>
                                  </p:stCondLst>
                                  <p:childTnLst>
                                    <p:animMotion origin="layout" path="M -0.00091 -0.00092 L 0.00118 0.01783 L 0.00222 0.04028 L 0.00261 0.07107 " pathEditMode="fixed" ptsTypes="AAAA">
                                      <p:cBhvr>
                                        <p:cTn id="48" dur="2000" fill="hold"/>
                                        <p:tgtEl>
                                          <p:spTgt spid="151"/>
                                        </p:tgtEl>
                                        <p:attrNameLst>
                                          <p:attrName>ppt_x</p:attrName>
                                          <p:attrName>ppt_y</p:attrName>
                                        </p:attrNameLst>
                                      </p:cBhvr>
                                    </p:animMotion>
                                  </p:childTnLst>
                                </p:cTn>
                              </p:par>
                              <p:par>
                                <p:cTn id="49" presetID="0" presetClass="path" presetSubtype="0" repeatCount="indefinite" fill="hold" grpId="0" nodeType="withEffect">
                                  <p:stCondLst>
                                    <p:cond delay="0"/>
                                  </p:stCondLst>
                                  <p:childTnLst>
                                    <p:animMotion origin="layout" path="M 0.00078 -0.0007 L 0.00091 -0.03218 L 0.0013 -0.04491 " pathEditMode="fixed" ptsTypes="AAA">
                                      <p:cBhvr>
                                        <p:cTn id="50" dur="2000" fill="hold"/>
                                        <p:tgtEl>
                                          <p:spTgt spid="154"/>
                                        </p:tgtEl>
                                        <p:attrNameLst>
                                          <p:attrName>ppt_x</p:attrName>
                                          <p:attrName>ppt_y</p:attrName>
                                        </p:attrNameLst>
                                      </p:cBhvr>
                                    </p:animMotion>
                                  </p:childTnLst>
                                </p:cTn>
                              </p:par>
                              <p:par>
                                <p:cTn id="51" presetID="0" presetClass="path" presetSubtype="0" repeatCount="indefinite" fill="hold" grpId="0" nodeType="withEffect">
                                  <p:stCondLst>
                                    <p:cond delay="0"/>
                                  </p:stCondLst>
                                  <p:childTnLst>
                                    <p:animMotion origin="layout" path="M -0.00078 -0.00069 L 0.00117 -0.02662 L 0.003 -0.04676 L 0.00404 -0.05717 " pathEditMode="fixed" ptsTypes="AAAA">
                                      <p:cBhvr>
                                        <p:cTn id="52" dur="2000" fill="hold"/>
                                        <p:tgtEl>
                                          <p:spTgt spid="155"/>
                                        </p:tgtEl>
                                        <p:attrNameLst>
                                          <p:attrName>ppt_x</p:attrName>
                                          <p:attrName>ppt_y</p:attrName>
                                        </p:attrNameLst>
                                      </p:cBhvr>
                                    </p:animMotion>
                                  </p:childTnLst>
                                </p:cTn>
                              </p:par>
                              <p:par>
                                <p:cTn id="53" presetID="0" presetClass="path" presetSubtype="0" repeatCount="indefinite" fill="hold" grpId="0" nodeType="withEffect">
                                  <p:stCondLst>
                                    <p:cond delay="0"/>
                                  </p:stCondLst>
                                  <p:childTnLst>
                                    <p:animMotion origin="layout" path="M 2.5E-6 0.00208 L 0.00482 -0.02801 L 0.00846 -0.04769 L 0.01198 -0.06065 " pathEditMode="fixed" ptsTypes="AAAA">
                                      <p:cBhvr>
                                        <p:cTn id="54" dur="2000" fill="hold"/>
                                        <p:tgtEl>
                                          <p:spTgt spid="152"/>
                                        </p:tgtEl>
                                        <p:attrNameLst>
                                          <p:attrName>ppt_x</p:attrName>
                                          <p:attrName>ppt_y</p:attrName>
                                        </p:attrNameLst>
                                      </p:cBhvr>
                                    </p:animMotion>
                                  </p:childTnLst>
                                </p:cTn>
                              </p:par>
                              <p:par>
                                <p:cTn id="55" presetID="0" presetClass="path" presetSubtype="0" repeatCount="indefinite" fill="hold" grpId="0" nodeType="withEffect">
                                  <p:stCondLst>
                                    <p:cond delay="0"/>
                                  </p:stCondLst>
                                  <p:childTnLst>
                                    <p:animMotion origin="layout" path="M -0.00052 0.00023 L 0.00612 -0.01898 L 0.01133 -0.03102 L 0.01758 -0.03866 L 0.02448 -0.04236 " pathEditMode="fixed" ptsTypes="AAAAA">
                                      <p:cBhvr>
                                        <p:cTn id="56" dur="2000" fill="hold"/>
                                        <p:tgtEl>
                                          <p:spTgt spid="153"/>
                                        </p:tgtEl>
                                        <p:attrNameLst>
                                          <p:attrName>ppt_x</p:attrName>
                                          <p:attrName>ppt_y</p:attrName>
                                        </p:attrNameLst>
                                      </p:cBhvr>
                                    </p:animMotion>
                                  </p:childTnLst>
                                </p:cTn>
                              </p:par>
                              <p:par>
                                <p:cTn id="57" presetID="0" presetClass="path" presetSubtype="0" repeatCount="indefinite" fill="hold" grpId="0" nodeType="withEffect">
                                  <p:stCondLst>
                                    <p:cond delay="0"/>
                                  </p:stCondLst>
                                  <p:childTnLst>
                                    <p:animMotion origin="layout" path="M -0.00026 -0.00139 L 0.00924 0.00278 L 0.01562 0.01111 L 0.01966 0.01852 L 0.02278 0.02592 L 0.02552 0.03403 " pathEditMode="fixed" ptsTypes="AAAAAA">
                                      <p:cBhvr>
                                        <p:cTn id="58" dur="2000" fill="hold"/>
                                        <p:tgtEl>
                                          <p:spTgt spid="156"/>
                                        </p:tgtEl>
                                        <p:attrNameLst>
                                          <p:attrName>ppt_x</p:attrName>
                                          <p:attrName>ppt_y</p:attrName>
                                        </p:attrNameLst>
                                      </p:cBhvr>
                                    </p:animMotion>
                                  </p:childTnLst>
                                </p:cTn>
                              </p:par>
                              <p:par>
                                <p:cTn id="59" presetID="0" presetClass="path" presetSubtype="0" repeatCount="indefinite" fill="hold" grpId="0" nodeType="withEffect">
                                  <p:stCondLst>
                                    <p:cond delay="0"/>
                                  </p:stCondLst>
                                  <p:childTnLst>
                                    <p:animMotion origin="layout" path="M 0.00026 -0.00162 L 0.00638 0.02014 L 0.01067 0.04144 " pathEditMode="fixed" ptsTypes="AAA">
                                      <p:cBhvr>
                                        <p:cTn id="60" dur="2000" fill="hold"/>
                                        <p:tgtEl>
                                          <p:spTgt spid="157"/>
                                        </p:tgtEl>
                                        <p:attrNameLst>
                                          <p:attrName>ppt_x</p:attrName>
                                          <p:attrName>ppt_y</p:attrName>
                                        </p:attrNameLst>
                                      </p:cBhvr>
                                    </p:animMotion>
                                  </p:childTnLst>
                                </p:cTn>
                              </p:par>
                              <p:par>
                                <p:cTn id="61" presetID="0" presetClass="path" presetSubtype="0" repeatCount="indefinite" fill="hold" grpId="0" nodeType="withEffect">
                                  <p:stCondLst>
                                    <p:cond delay="0"/>
                                  </p:stCondLst>
                                  <p:childTnLst>
                                    <p:animMotion origin="layout" path="M -0.00013 -0.00092 L 0.00339 0.02014 L 0.00443 0.03056 L 0.00573 0.04398 " pathEditMode="fixed" ptsTypes="AAAA">
                                      <p:cBhvr>
                                        <p:cTn id="62" dur="2000" fill="hold"/>
                                        <p:tgtEl>
                                          <p:spTgt spid="158"/>
                                        </p:tgtEl>
                                        <p:attrNameLst>
                                          <p:attrName>ppt_x</p:attrName>
                                          <p:attrName>ppt_y</p:attrName>
                                        </p:attrNameLst>
                                      </p:cBhvr>
                                    </p:animMotion>
                                  </p:childTnLst>
                                </p:cTn>
                              </p:par>
                              <p:par>
                                <p:cTn id="63" presetID="0" presetClass="path" presetSubtype="0" repeatCount="indefinite" fill="hold" grpId="0" nodeType="withEffect">
                                  <p:stCondLst>
                                    <p:cond delay="0"/>
                                  </p:stCondLst>
                                  <p:childTnLst>
                                    <p:animMotion origin="layout" path="M -0.00039 -0.00046 L 0.00183 0.01852 L 0.00261 0.02917 L 0.00287 0.03727 L 0.00326 0.04676 " pathEditMode="fixed" ptsTypes="AAAAA">
                                      <p:cBhvr>
                                        <p:cTn id="64" dur="2000" fill="hold"/>
                                        <p:tgtEl>
                                          <p:spTgt spid="159"/>
                                        </p:tgtEl>
                                        <p:attrNameLst>
                                          <p:attrName>ppt_x</p:attrName>
                                          <p:attrName>ppt_y</p:attrName>
                                        </p:attrNameLst>
                                      </p:cBhvr>
                                    </p:animMotion>
                                  </p:childTnLst>
                                </p:cTn>
                              </p:par>
                              <p:par>
                                <p:cTn id="65" presetID="0" presetClass="path" presetSubtype="0" repeatCount="indefinite" fill="hold" grpId="0" nodeType="withEffect">
                                  <p:stCondLst>
                                    <p:cond delay="0"/>
                                  </p:stCondLst>
                                  <p:childTnLst>
                                    <p:animMotion origin="layout" path="M 0.00026 0.00047 L 0.00156 0.03195 L 0.00182 0.0463 " pathEditMode="fixed" ptsTypes="AAA">
                                      <p:cBhvr>
                                        <p:cTn id="66" dur="2000" fill="hold"/>
                                        <p:tgtEl>
                                          <p:spTgt spid="160"/>
                                        </p:tgtEl>
                                        <p:attrNameLst>
                                          <p:attrName>ppt_x</p:attrName>
                                          <p:attrName>ppt_y</p:attrName>
                                        </p:attrNameLst>
                                      </p:cBhvr>
                                    </p:animMotion>
                                  </p:childTnLst>
                                </p:cTn>
                              </p:par>
                              <p:par>
                                <p:cTn id="67" presetID="0" presetClass="path" presetSubtype="0" repeatCount="indefinite" fill="hold" grpId="0" nodeType="withEffect">
                                  <p:stCondLst>
                                    <p:cond delay="0"/>
                                  </p:stCondLst>
                                  <p:childTnLst>
                                    <p:animMotion origin="layout" path="M -0.00026 0.00092 L 0.00312 -0.05139 L 0.00755 -0.0838 " pathEditMode="relative" ptsTypes="AAA">
                                      <p:cBhvr>
                                        <p:cTn id="68" dur="2000" fill="hold"/>
                                        <p:tgtEl>
                                          <p:spTgt spid="161"/>
                                        </p:tgtEl>
                                        <p:attrNameLst>
                                          <p:attrName>ppt_x</p:attrName>
                                          <p:attrName>ppt_y</p:attrName>
                                        </p:attrNameLst>
                                      </p:cBhvr>
                                    </p:animMotion>
                                  </p:childTnLst>
                                </p:cTn>
                              </p:par>
                              <p:par>
                                <p:cTn id="69" presetID="0" presetClass="path" presetSubtype="0" repeatCount="indefinite" fill="hold" grpId="0" nodeType="withEffect">
                                  <p:stCondLst>
                                    <p:cond delay="0"/>
                                  </p:stCondLst>
                                  <p:childTnLst>
                                    <p:animMotion origin="layout" path="M -0.00052 0.00023 L 0.00352 -0.02245 L 0.00807 -0.04329 L 0.01498 -0.0632 " pathEditMode="relative" ptsTypes="AAAA">
                                      <p:cBhvr>
                                        <p:cTn id="70" dur="2000" fill="hold"/>
                                        <p:tgtEl>
                                          <p:spTgt spid="162"/>
                                        </p:tgtEl>
                                        <p:attrNameLst>
                                          <p:attrName>ppt_x</p:attrName>
                                          <p:attrName>ppt_y</p:attrName>
                                        </p:attrNameLst>
                                      </p:cBhvr>
                                    </p:animMotion>
                                  </p:childTnLst>
                                </p:cTn>
                              </p:par>
                              <p:par>
                                <p:cTn id="71" presetID="0" presetClass="path" presetSubtype="0" repeatCount="indefinite" fill="hold" grpId="0" nodeType="withEffect">
                                  <p:stCondLst>
                                    <p:cond delay="0"/>
                                  </p:stCondLst>
                                  <p:childTnLst>
                                    <p:animMotion origin="layout" path="M -0.00066 -0.00046 L 0.00924 -0.01875 L 0.01653 -0.02453 L 0.02539 -0.02592 L 0.02825 -0.02315 " pathEditMode="relative" ptsTypes="AAAAA">
                                      <p:cBhvr>
                                        <p:cTn id="72" dur="2000" fill="hold"/>
                                        <p:tgtEl>
                                          <p:spTgt spid="163"/>
                                        </p:tgtEl>
                                        <p:attrNameLst>
                                          <p:attrName>ppt_x</p:attrName>
                                          <p:attrName>ppt_y</p:attrName>
                                        </p:attrNameLst>
                                      </p:cBhvr>
                                    </p:animMotion>
                                  </p:childTnLst>
                                </p:cTn>
                              </p:par>
                              <p:par>
                                <p:cTn id="73" presetID="0" presetClass="path" presetSubtype="0" repeatCount="indefinite" fill="hold" grpId="0" nodeType="withEffect">
                                  <p:stCondLst>
                                    <p:cond delay="0"/>
                                  </p:stCondLst>
                                  <p:childTnLst>
                                    <p:animMotion origin="layout" path="M -0.00039 -0.00162 L 0.00638 0.00556 L 0.01094 0.01135 L 0.01537 0.01135 L 0.01914 0.01389 L 0.02162 0.01389 L 0.03099 0.01737 L 0.03385 0.01737 " pathEditMode="relative" ptsTypes="AAAAAAAA">
                                      <p:cBhvr>
                                        <p:cTn id="74" dur="2000" fill="hold"/>
                                        <p:tgtEl>
                                          <p:spTgt spid="164"/>
                                        </p:tgtEl>
                                        <p:attrNameLst>
                                          <p:attrName>ppt_x</p:attrName>
                                          <p:attrName>ppt_y</p:attrName>
                                        </p:attrNameLst>
                                      </p:cBhvr>
                                    </p:animMotion>
                                  </p:childTnLst>
                                </p:cTn>
                              </p:par>
                              <p:par>
                                <p:cTn id="75" presetID="0" presetClass="path" presetSubtype="0" repeatCount="indefinite" fill="hold" grpId="0" nodeType="withEffect">
                                  <p:stCondLst>
                                    <p:cond delay="0"/>
                                  </p:stCondLst>
                                  <p:childTnLst>
                                    <p:animMotion origin="layout" path="M 0.00026 -0.00046 L 0.0155 0.00602 L 0.02383 0.00833 L 0.02617 0.00995 L 0.02995 -0.00023 L 0.03412 -0.00856 L 0.03529 -0.01042 " pathEditMode="relative" ptsTypes="AAAAAAA">
                                      <p:cBhvr>
                                        <p:cTn id="76" dur="2000" fill="hold"/>
                                        <p:tgtEl>
                                          <p:spTgt spid="165"/>
                                        </p:tgtEl>
                                        <p:attrNameLst>
                                          <p:attrName>ppt_x</p:attrName>
                                          <p:attrName>ppt_y</p:attrName>
                                        </p:attrNameLst>
                                      </p:cBhvr>
                                    </p:animMotion>
                                  </p:childTnLst>
                                </p:cTn>
                              </p:par>
                              <p:par>
                                <p:cTn id="77" presetID="0" presetClass="path" presetSubtype="0" repeatCount="indefinite" fill="hold" grpId="0" nodeType="withEffect">
                                  <p:stCondLst>
                                    <p:cond delay="0"/>
                                  </p:stCondLst>
                                  <p:childTnLst>
                                    <p:animMotion origin="layout" path="M 2.70833E-6 0.00069 L 0.00885 -0.01111 L 0.01562 -0.01181 L 0.02109 -0.01019 L 0.02539 -0.00625 " pathEditMode="relative" ptsTypes="AAAAA">
                                      <p:cBhvr>
                                        <p:cTn id="78" dur="2000" fill="hold"/>
                                        <p:tgtEl>
                                          <p:spTgt spid="166"/>
                                        </p:tgtEl>
                                        <p:attrNameLst>
                                          <p:attrName>ppt_x</p:attrName>
                                          <p:attrName>ppt_y</p:attrName>
                                        </p:attrNameLst>
                                      </p:cBhvr>
                                    </p:animMotion>
                                  </p:childTnLst>
                                </p:cTn>
                              </p:par>
                              <p:par>
                                <p:cTn id="79" presetID="0" presetClass="path" presetSubtype="0" repeatCount="indefinite" fill="hold" grpId="0" nodeType="withEffect">
                                  <p:stCondLst>
                                    <p:cond delay="0"/>
                                  </p:stCondLst>
                                  <p:childTnLst>
                                    <p:animMotion origin="layout" path="M 3.95833E-6 0.00023 L 0.00599 0.00486 L 0.00742 0.00833 L 0.01302 0.00856 L 0.02174 0.01227 L 0.02604 0.01343 " pathEditMode="relative" ptsTypes="AAAAAA">
                                      <p:cBhvr>
                                        <p:cTn id="80" dur="2000" fill="hold"/>
                                        <p:tgtEl>
                                          <p:spTgt spid="167"/>
                                        </p:tgtEl>
                                        <p:attrNameLst>
                                          <p:attrName>ppt_x</p:attrName>
                                          <p:attrName>ppt_y</p:attrName>
                                        </p:attrNameLst>
                                      </p:cBhvr>
                                    </p:animMotion>
                                  </p:childTnLst>
                                </p:cTn>
                              </p:par>
                              <p:par>
                                <p:cTn id="81" presetID="0" presetClass="path" presetSubtype="0" repeatCount="indefinite" fill="hold" grpId="0" nodeType="withEffect">
                                  <p:stCondLst>
                                    <p:cond delay="0"/>
                                  </p:stCondLst>
                                  <p:childTnLst>
                                    <p:animMotion origin="layout" path="M -0.00104 -0.00093 L 0.01041 0.00255 L 0.01901 0.00579 L 0.02435 0.0081 L 0.02864 0.0081 " pathEditMode="relative" ptsTypes="AAAAA">
                                      <p:cBhvr>
                                        <p:cTn id="82" dur="2000" fill="hold"/>
                                        <p:tgtEl>
                                          <p:spTgt spid="168"/>
                                        </p:tgtEl>
                                        <p:attrNameLst>
                                          <p:attrName>ppt_x</p:attrName>
                                          <p:attrName>ppt_y</p:attrName>
                                        </p:attrNameLst>
                                      </p:cBhvr>
                                    </p:animMotion>
                                  </p:childTnLst>
                                </p:cTn>
                              </p:par>
                              <p:par>
                                <p:cTn id="83" presetID="0" presetClass="path" presetSubtype="0" repeatCount="indefinite" fill="hold" grpId="0" nodeType="withEffect">
                                  <p:stCondLst>
                                    <p:cond delay="0"/>
                                  </p:stCondLst>
                                  <p:childTnLst>
                                    <p:animMotion origin="layout" path="M -2.91667E-6 0.00185 L 0.00599 -0.00371 L 0.00886 -0.01134 L 0.01888 -0.02292 L 0.02617 -0.02454 L 0.03047 -0.02292 " pathEditMode="relative" ptsTypes="AAAAAA">
                                      <p:cBhvr>
                                        <p:cTn id="84" dur="2000" fill="hold"/>
                                        <p:tgtEl>
                                          <p:spTgt spid="169"/>
                                        </p:tgtEl>
                                        <p:attrNameLst>
                                          <p:attrName>ppt_x</p:attrName>
                                          <p:attrName>ppt_y</p:attrName>
                                        </p:attrNameLst>
                                      </p:cBhvr>
                                    </p:animMotion>
                                  </p:childTnLst>
                                </p:cTn>
                              </p:par>
                              <p:par>
                                <p:cTn id="85" presetID="0" presetClass="path" presetSubtype="0" repeatCount="indefinite" fill="hold" grpId="0" nodeType="withEffect">
                                  <p:stCondLst>
                                    <p:cond delay="0"/>
                                  </p:stCondLst>
                                  <p:childTnLst>
                                    <p:animMotion origin="layout" path="M -0.00091 -0.00093 L 0.00625 0.00324 L 0.01159 0.01157 L 0.02057 0.01435 L 0.02669 0.01551 " pathEditMode="relative" ptsTypes="AAAAA">
                                      <p:cBhvr>
                                        <p:cTn id="86" dur="2000" fill="hold"/>
                                        <p:tgtEl>
                                          <p:spTgt spid="170"/>
                                        </p:tgtEl>
                                        <p:attrNameLst>
                                          <p:attrName>ppt_x</p:attrName>
                                          <p:attrName>ppt_y</p:attrName>
                                        </p:attrNameLst>
                                      </p:cBhvr>
                                    </p:animMotion>
                                  </p:childTnLst>
                                </p:cTn>
                              </p:par>
                              <p:par>
                                <p:cTn id="87" presetID="0" presetClass="path" presetSubtype="0" repeatCount="indefinite" fill="hold" grpId="0" nodeType="withEffect">
                                  <p:stCondLst>
                                    <p:cond delay="0"/>
                                  </p:stCondLst>
                                  <p:childTnLst>
                                    <p:animMotion origin="layout" path="M 0.00013 -0.00046 L 0.01836 0.0051 L 0.03294 0.0088 " pathEditMode="relative" ptsTypes="AAA">
                                      <p:cBhvr>
                                        <p:cTn id="88" dur="2000" fill="hold"/>
                                        <p:tgtEl>
                                          <p:spTgt spid="172"/>
                                        </p:tgtEl>
                                        <p:attrNameLst>
                                          <p:attrName>ppt_x</p:attrName>
                                          <p:attrName>ppt_y</p:attrName>
                                        </p:attrNameLst>
                                      </p:cBhvr>
                                    </p:animMotion>
                                  </p:childTnLst>
                                </p:cTn>
                              </p:par>
                              <p:par>
                                <p:cTn id="89" presetID="0" presetClass="path" presetSubtype="0" repeatCount="indefinite" fill="hold" grpId="0" nodeType="withEffect">
                                  <p:stCondLst>
                                    <p:cond delay="0"/>
                                  </p:stCondLst>
                                  <p:childTnLst>
                                    <p:animMotion origin="layout" path="M 0.00026 0.00023 L 0.00456 -0.00324 L 0.00899 -0.01273 L 0.01446 -0.02245 L 0.02188 -0.02893 L 0.02774 -0.03102 L 0.02839 -0.03078 " pathEditMode="relative" ptsTypes="AAAAAAA">
                                      <p:cBhvr>
                                        <p:cTn id="90" dur="2000" fill="hold"/>
                                        <p:tgtEl>
                                          <p:spTgt spid="173"/>
                                        </p:tgtEl>
                                        <p:attrNameLst>
                                          <p:attrName>ppt_x</p:attrName>
                                          <p:attrName>ppt_y</p:attrName>
                                        </p:attrNameLst>
                                      </p:cBhvr>
                                    </p:animMotion>
                                  </p:childTnLst>
                                </p:cTn>
                              </p:par>
                              <p:par>
                                <p:cTn id="91" presetID="0" presetClass="path" presetSubtype="0" repeatCount="indefinite" fill="hold" grpId="0" nodeType="withEffect">
                                  <p:stCondLst>
                                    <p:cond delay="0"/>
                                  </p:stCondLst>
                                  <p:childTnLst>
                                    <p:animMotion origin="layout" path="M 2.5E-6 0.00046 L 0.00638 0.00255 L 0.01224 0.00764 L 0.01692 0.0169 L 0.01953 0.02083 " pathEditMode="relative" ptsTypes="AAAAA">
                                      <p:cBhvr>
                                        <p:cTn id="92" dur="2000" fill="hold"/>
                                        <p:tgtEl>
                                          <p:spTgt spid="174"/>
                                        </p:tgtEl>
                                        <p:attrNameLst>
                                          <p:attrName>ppt_x</p:attrName>
                                          <p:attrName>ppt_y</p:attrName>
                                        </p:attrNameLst>
                                      </p:cBhvr>
                                    </p:animMotion>
                                  </p:childTnLst>
                                </p:cTn>
                              </p:par>
                              <p:par>
                                <p:cTn id="93" presetID="0" presetClass="path" presetSubtype="0" repeatCount="indefinite" fill="hold" grpId="0" nodeType="withEffect">
                                  <p:stCondLst>
                                    <p:cond delay="0"/>
                                  </p:stCondLst>
                                  <p:childTnLst>
                                    <p:animMotion origin="layout" path="M 1.25E-6 -0.00116 L 0.01654 0.00393 L 0.0319 0.00902 " pathEditMode="relative" ptsTypes="AAA">
                                      <p:cBhvr>
                                        <p:cTn id="94" dur="2000" fill="hold"/>
                                        <p:tgtEl>
                                          <p:spTgt spid="17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animBg="1"/>
      <p:bldP spid="130" grpId="0" animBg="1"/>
      <p:bldP spid="131" grpId="0" animBg="1"/>
      <p:bldP spid="132" grpId="0" animBg="1"/>
      <p:bldP spid="133" grpId="0" animBg="1"/>
      <p:bldP spid="134" grpId="0" animBg="1"/>
      <p:bldP spid="136" grpId="0" animBg="1"/>
      <p:bldP spid="137" grpId="0" animBg="1"/>
      <p:bldP spid="138" grpId="0" animBg="1"/>
      <p:bldP spid="139" grpId="0" animBg="1"/>
      <p:bldP spid="140" grpId="0" animBg="1"/>
      <p:bldP spid="141" grpId="0" animBg="1"/>
      <p:bldP spid="142" grpId="0" animBg="1"/>
      <p:bldP spid="143" grpId="0" animBg="1"/>
      <p:bldP spid="144" grpId="0" animBg="1"/>
      <p:bldP spid="145" grpId="0" animBg="1"/>
      <p:bldP spid="146" grpId="0" animBg="1"/>
      <p:bldP spid="147" grpId="0" animBg="1"/>
      <p:bldP spid="148" grpId="0" animBg="1"/>
      <p:bldP spid="149" grpId="0" animBg="1"/>
      <p:bldP spid="150" grpId="0" animBg="1"/>
      <p:bldP spid="151" grpId="0" animBg="1"/>
      <p:bldP spid="152" grpId="0" animBg="1"/>
      <p:bldP spid="153" grpId="0" animBg="1"/>
      <p:bldP spid="154" grpId="0" animBg="1"/>
      <p:bldP spid="155" grpId="0" animBg="1"/>
      <p:bldP spid="156" grpId="0" animBg="1"/>
      <p:bldP spid="157" grpId="0" animBg="1"/>
      <p:bldP spid="158" grpId="0" animBg="1"/>
      <p:bldP spid="159" grpId="0" animBg="1"/>
      <p:bldP spid="160" grpId="0" animBg="1"/>
      <p:bldP spid="161" grpId="0" animBg="1"/>
      <p:bldP spid="162" grpId="0" animBg="1"/>
      <p:bldP spid="163" grpId="0" animBg="1"/>
      <p:bldP spid="164" grpId="0" animBg="1"/>
      <p:bldP spid="165" grpId="0" animBg="1"/>
      <p:bldP spid="166" grpId="0" animBg="1"/>
      <p:bldP spid="167" grpId="0" animBg="1"/>
      <p:bldP spid="168" grpId="0" animBg="1"/>
      <p:bldP spid="169" grpId="0" animBg="1"/>
      <p:bldP spid="170" grpId="0" animBg="1"/>
      <p:bldP spid="172" grpId="0" animBg="1"/>
      <p:bldP spid="173" grpId="0" animBg="1"/>
      <p:bldP spid="174" grpId="0" animBg="1"/>
      <p:bldP spid="17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44513-8E5C-AD08-5768-8DEE7B644699}"/>
            </a:ext>
          </a:extLst>
        </p:cNvPr>
        <p:cNvGrpSpPr/>
        <p:nvPr/>
      </p:nvGrpSpPr>
      <p:grpSpPr>
        <a:xfrm>
          <a:off x="0" y="0"/>
          <a:ext cx="0" cy="0"/>
          <a:chOff x="0" y="0"/>
          <a:chExt cx="0" cy="0"/>
        </a:xfrm>
      </p:grpSpPr>
      <p:pic>
        <p:nvPicPr>
          <p:cNvPr id="4" name="Picture 3" descr="KLE Technological University in Hubballi">
            <a:extLst>
              <a:ext uri="{FF2B5EF4-FFF2-40B4-BE49-F238E27FC236}">
                <a16:creationId xmlns:a16="http://schemas.microsoft.com/office/drawing/2014/main" id="{141E720A-2AAF-EE24-0402-03420BD0DF32}"/>
              </a:ext>
            </a:extLst>
          </p:cNvPr>
          <p:cNvPicPr>
            <a:picLocks noChangeAspect="1"/>
          </p:cNvPicPr>
          <p:nvPr/>
        </p:nvPicPr>
        <p:blipFill rotWithShape="1">
          <a:blip r:embed="rId2">
            <a:extLst>
              <a:ext uri="{28A0092B-C50C-407E-A947-70E740481C1C}">
                <a14:useLocalDpi xmlns:a14="http://schemas.microsoft.com/office/drawing/2010/main" val="0"/>
              </a:ext>
            </a:extLst>
          </a:blip>
          <a:srcRect t="37713" b="37711"/>
          <a:stretch/>
        </p:blipFill>
        <p:spPr bwMode="auto">
          <a:xfrm>
            <a:off x="9544414" y="0"/>
            <a:ext cx="2647586" cy="623017"/>
          </a:xfrm>
          <a:prstGeom prst="rect">
            <a:avLst/>
          </a:prstGeom>
          <a:noFill/>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8D83D1D0-7214-33EB-6736-C6B3C420EBA2}"/>
              </a:ext>
            </a:extLst>
          </p:cNvPr>
          <p:cNvSpPr txBox="1"/>
          <p:nvPr/>
        </p:nvSpPr>
        <p:spPr>
          <a:xfrm>
            <a:off x="-1" y="0"/>
            <a:ext cx="3647769" cy="369332"/>
          </a:xfrm>
          <a:prstGeom prst="rect">
            <a:avLst/>
          </a:prstGeom>
          <a:solidFill>
            <a:schemeClr val="tx2">
              <a:lumMod val="20000"/>
              <a:lumOff val="80000"/>
            </a:schemeClr>
          </a:solidFill>
        </p:spPr>
        <p:txBody>
          <a:bodyPr wrap="square">
            <a:spAutoFit/>
          </a:bodyPr>
          <a:lstStyle/>
          <a:p>
            <a:r>
              <a:rPr lang="en-US" sz="1800" b="1">
                <a:latin typeface="Times New Roman" panose="02020603050405020304" pitchFamily="18" charset="0"/>
                <a:cs typeface="Times New Roman" panose="02020603050405020304" pitchFamily="18" charset="0"/>
              </a:rPr>
              <a:t>Mini Project  (</a:t>
            </a:r>
            <a:r>
              <a:rPr lang="en-IN"/>
              <a:t>23EECW301</a:t>
            </a:r>
            <a:r>
              <a:rPr lang="en-US" sz="1800" b="1">
                <a:latin typeface="Times New Roman" panose="02020603050405020304" pitchFamily="18" charset="0"/>
                <a:cs typeface="Times New Roman" panose="02020603050405020304" pitchFamily="18" charset="0"/>
              </a:rPr>
              <a:t>)</a:t>
            </a:r>
            <a:endParaRPr lang="en-IN" sz="1800"/>
          </a:p>
        </p:txBody>
      </p:sp>
      <p:sp>
        <p:nvSpPr>
          <p:cNvPr id="7" name="TextBox 6">
            <a:extLst>
              <a:ext uri="{FF2B5EF4-FFF2-40B4-BE49-F238E27FC236}">
                <a16:creationId xmlns:a16="http://schemas.microsoft.com/office/drawing/2014/main" id="{D1106CD9-9307-F291-D1CD-BD5A1138D0F1}"/>
              </a:ext>
            </a:extLst>
          </p:cNvPr>
          <p:cNvSpPr txBox="1"/>
          <p:nvPr/>
        </p:nvSpPr>
        <p:spPr>
          <a:xfrm>
            <a:off x="4678800" y="126842"/>
            <a:ext cx="3834581" cy="369332"/>
          </a:xfrm>
          <a:prstGeom prst="rect">
            <a:avLst/>
          </a:prstGeom>
          <a:noFill/>
          <a:ln>
            <a:solidFill>
              <a:schemeClr val="tx1"/>
            </a:solidFill>
          </a:ln>
        </p:spPr>
        <p:txBody>
          <a:bodyPr wrap="square" rtlCol="0">
            <a:spAutoFit/>
          </a:bodyPr>
          <a:lstStyle/>
          <a:p>
            <a:pPr algn="ctr"/>
            <a:r>
              <a:rPr lang="en-IN" b="1">
                <a:latin typeface="Times New Roman" panose="02020603050405020304" pitchFamily="18" charset="0"/>
                <a:cs typeface="Times New Roman" panose="02020603050405020304" pitchFamily="18" charset="0"/>
              </a:rPr>
              <a:t>Zener Diode as Linear Regulator </a:t>
            </a:r>
          </a:p>
        </p:txBody>
      </p:sp>
      <p:sp>
        <p:nvSpPr>
          <p:cNvPr id="6" name="TextBox 5">
            <a:extLst>
              <a:ext uri="{FF2B5EF4-FFF2-40B4-BE49-F238E27FC236}">
                <a16:creationId xmlns:a16="http://schemas.microsoft.com/office/drawing/2014/main" id="{78E6FE0B-9CD1-32B5-EA7A-93197F2D5DE6}"/>
              </a:ext>
            </a:extLst>
          </p:cNvPr>
          <p:cNvSpPr txBox="1"/>
          <p:nvPr/>
        </p:nvSpPr>
        <p:spPr>
          <a:xfrm>
            <a:off x="5878018" y="765258"/>
            <a:ext cx="6238566" cy="2800767"/>
          </a:xfrm>
          <a:prstGeom prst="rect">
            <a:avLst/>
          </a:prstGeom>
          <a:solidFill>
            <a:srgbClr val="F7F2ED">
              <a:alpha val="1961"/>
            </a:srgbClr>
          </a:solidFill>
          <a:ln>
            <a:solidFill>
              <a:srgbClr val="002C00"/>
            </a:solidFill>
          </a:ln>
        </p:spPr>
        <p:txBody>
          <a:bodyPr wrap="square" rtlCol="0">
            <a:spAutoFit/>
          </a:bodyPr>
          <a:lstStyle/>
          <a:p>
            <a:pPr marL="285750" indent="-285750" algn="just">
              <a:buFont typeface="Wingdings" panose="05000000000000000000" pitchFamily="2" charset="2"/>
              <a:buChar char="Ø"/>
            </a:pPr>
            <a:r>
              <a:rPr lang="en-US" sz="1600">
                <a:latin typeface="Times New Roman" panose="02020603050405020304" pitchFamily="18" charset="0"/>
                <a:cs typeface="Times New Roman" panose="02020603050405020304" pitchFamily="18" charset="0"/>
              </a:rPr>
              <a:t>The Zener regulator provides a simple and low-cost method of voltage regulation and is commonly used as a reference voltage source in low-power circuits.</a:t>
            </a:r>
          </a:p>
          <a:p>
            <a:pPr marL="285750" indent="-285750" algn="just">
              <a:buFont typeface="Wingdings" panose="05000000000000000000" pitchFamily="2" charset="2"/>
              <a:buChar char="Ø"/>
            </a:pPr>
            <a:r>
              <a:rPr lang="en-US" sz="1600">
                <a:latin typeface="Times New Roman" panose="02020603050405020304" pitchFamily="18" charset="0"/>
                <a:cs typeface="Times New Roman" panose="02020603050405020304" pitchFamily="18" charset="0"/>
              </a:rPr>
              <a:t>Zener regulators have limited current handling capability, poor thermal stability, and higher output ripple compared to integrated regulators.</a:t>
            </a:r>
          </a:p>
          <a:p>
            <a:pPr marL="285750" indent="-285750" algn="just">
              <a:buFont typeface="Wingdings" panose="05000000000000000000" pitchFamily="2" charset="2"/>
              <a:buChar char="Ø"/>
            </a:pPr>
            <a:r>
              <a:rPr lang="en-US" sz="1600">
                <a:latin typeface="Times New Roman" panose="02020603050405020304" pitchFamily="18" charset="0"/>
                <a:cs typeface="Times New Roman" panose="02020603050405020304" pitchFamily="18" charset="0"/>
              </a:rPr>
              <a:t>As the load current increases, the output voltage may drop significantly, making the circuit unsuitable for applications requiring stable voltage under varying load conditions.</a:t>
            </a:r>
          </a:p>
          <a:p>
            <a:pPr marL="285750" indent="-285750" algn="just">
              <a:buFont typeface="Wingdings" panose="05000000000000000000" pitchFamily="2" charset="2"/>
              <a:buChar char="Ø"/>
            </a:pPr>
            <a:r>
              <a:rPr lang="en-US" sz="1600">
                <a:latin typeface="Times New Roman" panose="02020603050405020304" pitchFamily="18" charset="0"/>
                <a:cs typeface="Times New Roman" panose="02020603050405020304" pitchFamily="18" charset="0"/>
              </a:rPr>
              <a:t>Due to these limitations, dedicated linear regulators such as the 7805 and LM323 are used instead of relying solely on the Zener regulator. </a:t>
            </a:r>
            <a:endParaRPr lang="en-IN" sz="160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56FBD82-B03F-C07E-C0CD-C66615FE621F}"/>
                  </a:ext>
                </a:extLst>
              </p:cNvPr>
              <p:cNvSpPr txBox="1"/>
              <p:nvPr/>
            </p:nvSpPr>
            <p:spPr>
              <a:xfrm>
                <a:off x="187037" y="765258"/>
                <a:ext cx="5594733" cy="5863144"/>
              </a:xfrm>
              <a:prstGeom prst="rect">
                <a:avLst/>
              </a:prstGeom>
              <a:solidFill>
                <a:srgbClr val="F7F2ED">
                  <a:alpha val="20000"/>
                </a:srgbClr>
              </a:solidFill>
              <a:ln>
                <a:solidFill>
                  <a:srgbClr val="002C00"/>
                </a:solidFill>
              </a:ln>
            </p:spPr>
            <p:txBody>
              <a:bodyPr wrap="square" rtlCol="0">
                <a:spAutoFit/>
              </a:bodyPr>
              <a:lstStyle/>
              <a:p>
                <a:pPr algn="ctr"/>
                <a:r>
                  <a:rPr lang="en-IN" b="1">
                    <a:latin typeface="Times New Roman" panose="02020603050405020304" pitchFamily="18" charset="0"/>
                    <a:cs typeface="Times New Roman" panose="02020603050405020304" pitchFamily="18" charset="0"/>
                  </a:rPr>
                  <a:t>Zener Diode Details</a:t>
                </a:r>
              </a:p>
              <a:p>
                <a:pPr marL="285750" indent="-285750" algn="just">
                  <a:buFont typeface="Wingdings" panose="05000000000000000000" pitchFamily="2" charset="2"/>
                  <a:buChar char="Ø"/>
                </a:pPr>
                <a:r>
                  <a:rPr lang="en-US" sz="1700">
                    <a:latin typeface="Times New Roman" panose="02020603050405020304" pitchFamily="18" charset="0"/>
                    <a:cs typeface="Times New Roman" panose="02020603050405020304" pitchFamily="18" charset="0"/>
                  </a:rPr>
                  <a:t>The 1N4734A is a 5.6 V Zener diode used for voltage regulation by operating in its reverse breakdown region.</a:t>
                </a:r>
              </a:p>
              <a:p>
                <a:pPr marL="285750" indent="-285750" algn="just">
                  <a:buFont typeface="Wingdings" panose="05000000000000000000" pitchFamily="2" charset="2"/>
                  <a:buChar char="Ø"/>
                </a:pPr>
                <a:r>
                  <a:rPr lang="en-US" sz="1700">
                    <a:latin typeface="Times New Roman" panose="02020603050405020304" pitchFamily="18" charset="0"/>
                    <a:cs typeface="Times New Roman" panose="02020603050405020304" pitchFamily="18" charset="0"/>
                  </a:rPr>
                  <a:t>When the input voltage applied across the Zener diode exceeds its breakdown voltage, the diode maintains an approximately constant voltage across the load.</a:t>
                </a:r>
              </a:p>
              <a:p>
                <a:pPr marL="285750" indent="-285750" algn="just">
                  <a:buFont typeface="Wingdings" panose="05000000000000000000" pitchFamily="2" charset="2"/>
                  <a:buChar char="Ø"/>
                </a:pPr>
                <a:r>
                  <a:rPr lang="en-US" sz="1700">
                    <a:latin typeface="Times New Roman" panose="02020603050405020304" pitchFamily="18" charset="0"/>
                    <a:cs typeface="Times New Roman" panose="02020603050405020304" pitchFamily="18" charset="0"/>
                  </a:rPr>
                  <a:t>To improve the current handling capability of the Zener regulator, a BD139 NPN transistor is used as a series pass transistor.</a:t>
                </a:r>
                <a:endParaRPr lang="en-IN" sz="170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1700">
                    <a:latin typeface="Times New Roman" panose="02020603050405020304" pitchFamily="18" charset="0"/>
                    <a:cs typeface="Times New Roman" panose="02020603050405020304" pitchFamily="18" charset="0"/>
                  </a:rPr>
                  <a:t>When the Zener diode enters breakdown at 5.6 V, it fixes the base voltage of the BD139 transistor. The transistor then operates in the active region and regulates the output voltage.</a:t>
                </a:r>
                <a:endParaRPr lang="en-IN" sz="170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1700">
                    <a:latin typeface="Times New Roman" panose="02020603050405020304" pitchFamily="18" charset="0"/>
                    <a:cs typeface="Times New Roman" panose="02020603050405020304" pitchFamily="18" charset="0"/>
                  </a:rPr>
                  <a:t>The regulated output voltage is given by,</a:t>
                </a:r>
              </a:p>
              <a:p>
                <a:pPr algn="just"/>
                <a:r>
                  <a:rPr lang="en-US" sz="170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1700" i="1" smtClean="0">
                            <a:latin typeface="Cambria Math" panose="02040503050406030204" pitchFamily="18" charset="0"/>
                            <a:cs typeface="Times New Roman" panose="02020603050405020304" pitchFamily="18" charset="0"/>
                          </a:rPr>
                        </m:ctrlPr>
                      </m:sSubPr>
                      <m:e>
                        <m:r>
                          <a:rPr lang="en-IN" sz="1700" b="0" i="1" smtClean="0">
                            <a:latin typeface="Cambria Math" panose="02040503050406030204" pitchFamily="18" charset="0"/>
                            <a:cs typeface="Times New Roman" panose="02020603050405020304" pitchFamily="18" charset="0"/>
                          </a:rPr>
                          <m:t>𝑉</m:t>
                        </m:r>
                      </m:e>
                      <m:sub>
                        <m:r>
                          <a:rPr lang="en-IN" sz="1700" b="0" i="1" smtClean="0">
                            <a:latin typeface="Cambria Math" panose="02040503050406030204" pitchFamily="18" charset="0"/>
                            <a:cs typeface="Times New Roman" panose="02020603050405020304" pitchFamily="18" charset="0"/>
                          </a:rPr>
                          <m:t>𝑂𝑈𝑇</m:t>
                        </m:r>
                      </m:sub>
                    </m:sSub>
                  </m:oMath>
                </a14:m>
                <a:r>
                  <a:rPr lang="en-IN" sz="1700">
                    <a:latin typeface="Times New Roman" panose="02020603050405020304" pitchFamily="18" charset="0"/>
                    <a:cs typeface="Times New Roman" panose="02020603050405020304" pitchFamily="18" charset="0"/>
                  </a:rPr>
                  <a:t>=</a:t>
                </a:r>
                <a14:m>
                  <m:oMath xmlns:m="http://schemas.openxmlformats.org/officeDocument/2006/math">
                    <m:sSub>
                      <m:sSubPr>
                        <m:ctrlPr>
                          <a:rPr lang="en-IN" sz="1700" i="1" dirty="0" smtClean="0">
                            <a:latin typeface="Cambria Math" panose="02040503050406030204" pitchFamily="18" charset="0"/>
                            <a:cs typeface="Times New Roman" panose="02020603050405020304" pitchFamily="18" charset="0"/>
                          </a:rPr>
                        </m:ctrlPr>
                      </m:sSubPr>
                      <m:e>
                        <m:r>
                          <a:rPr lang="en-IN" sz="1700" b="0" i="1" dirty="0" smtClean="0">
                            <a:latin typeface="Cambria Math" panose="02040503050406030204" pitchFamily="18" charset="0"/>
                            <a:cs typeface="Times New Roman" panose="02020603050405020304" pitchFamily="18" charset="0"/>
                          </a:rPr>
                          <m:t>𝑉</m:t>
                        </m:r>
                      </m:e>
                      <m:sub>
                        <m:r>
                          <a:rPr lang="en-IN" sz="1700" b="0" i="1" dirty="0" smtClean="0">
                            <a:latin typeface="Cambria Math" panose="02040503050406030204" pitchFamily="18" charset="0"/>
                            <a:cs typeface="Times New Roman" panose="02020603050405020304" pitchFamily="18" charset="0"/>
                          </a:rPr>
                          <m:t>𝑍</m:t>
                        </m:r>
                      </m:sub>
                    </m:sSub>
                  </m:oMath>
                </a14:m>
                <a:r>
                  <a:rPr lang="en-IN" sz="1700">
                    <a:latin typeface="Times New Roman" panose="02020603050405020304" pitchFamily="18" charset="0"/>
                    <a:cs typeface="Times New Roman" panose="02020603050405020304" pitchFamily="18" charset="0"/>
                  </a:rPr>
                  <a:t>-</a:t>
                </a:r>
                <a14:m>
                  <m:oMath xmlns:m="http://schemas.openxmlformats.org/officeDocument/2006/math">
                    <m:sSub>
                      <m:sSubPr>
                        <m:ctrlPr>
                          <a:rPr lang="en-IN" sz="1700" i="1" dirty="0" smtClean="0">
                            <a:latin typeface="Cambria Math" panose="02040503050406030204" pitchFamily="18" charset="0"/>
                            <a:cs typeface="Times New Roman" panose="02020603050405020304" pitchFamily="18" charset="0"/>
                          </a:rPr>
                        </m:ctrlPr>
                      </m:sSubPr>
                      <m:e>
                        <m:r>
                          <a:rPr lang="en-IN" sz="1700" b="0" i="1" dirty="0" smtClean="0">
                            <a:latin typeface="Cambria Math" panose="02040503050406030204" pitchFamily="18" charset="0"/>
                            <a:cs typeface="Times New Roman" panose="02020603050405020304" pitchFamily="18" charset="0"/>
                          </a:rPr>
                          <m:t> </m:t>
                        </m:r>
                        <m:r>
                          <a:rPr lang="en-IN" sz="1700" b="0" i="1" dirty="0" smtClean="0">
                            <a:latin typeface="Cambria Math" panose="02040503050406030204" pitchFamily="18" charset="0"/>
                            <a:cs typeface="Times New Roman" panose="02020603050405020304" pitchFamily="18" charset="0"/>
                          </a:rPr>
                          <m:t>𝑉</m:t>
                        </m:r>
                      </m:e>
                      <m:sub>
                        <m:r>
                          <a:rPr lang="en-IN" sz="1700" b="0" i="1" dirty="0" smtClean="0">
                            <a:latin typeface="Cambria Math" panose="02040503050406030204" pitchFamily="18" charset="0"/>
                            <a:cs typeface="Times New Roman" panose="02020603050405020304" pitchFamily="18" charset="0"/>
                          </a:rPr>
                          <m:t>𝐵𝐸</m:t>
                        </m:r>
                      </m:sub>
                    </m:sSub>
                  </m:oMath>
                </a14:m>
                <a:endParaRPr lang="en-IN" sz="1700">
                  <a:latin typeface="Times New Roman" panose="02020603050405020304" pitchFamily="18" charset="0"/>
                  <a:cs typeface="Times New Roman" panose="02020603050405020304" pitchFamily="18" charset="0"/>
                </a:endParaRPr>
              </a:p>
              <a:p>
                <a:pPr algn="just"/>
                <a:r>
                  <a:rPr lang="en-IN" sz="1700">
                    <a:latin typeface="Times New Roman" panose="02020603050405020304" pitchFamily="18" charset="0"/>
                    <a:cs typeface="Times New Roman" panose="02020603050405020304" pitchFamily="18" charset="0"/>
                  </a:rPr>
                  <a:t>Where,</a:t>
                </a:r>
              </a:p>
              <a:p>
                <a:pPr algn="just"/>
                <a:r>
                  <a:rPr lang="en-IN" sz="1700">
                    <a:latin typeface="Times New Roman" panose="02020603050405020304" pitchFamily="18" charset="0"/>
                    <a:cs typeface="Times New Roman" panose="02020603050405020304" pitchFamily="18" charset="0"/>
                  </a:rPr>
                  <a:t>             </a:t>
                </a:r>
                <a14:m>
                  <m:oMath xmlns:m="http://schemas.openxmlformats.org/officeDocument/2006/math">
                    <m:sSub>
                      <m:sSubPr>
                        <m:ctrlPr>
                          <a:rPr lang="en-IN" sz="1700" i="1" smtClean="0">
                            <a:latin typeface="Cambria Math" panose="02040503050406030204" pitchFamily="18" charset="0"/>
                            <a:cs typeface="Times New Roman" panose="02020603050405020304" pitchFamily="18" charset="0"/>
                          </a:rPr>
                        </m:ctrlPr>
                      </m:sSubPr>
                      <m:e>
                        <m:r>
                          <a:rPr lang="en-IN" sz="1700" b="0" i="1" smtClean="0">
                            <a:latin typeface="Cambria Math" panose="02040503050406030204" pitchFamily="18" charset="0"/>
                            <a:cs typeface="Times New Roman" panose="02020603050405020304" pitchFamily="18" charset="0"/>
                          </a:rPr>
                          <m:t>𝑉</m:t>
                        </m:r>
                      </m:e>
                      <m:sub>
                        <m:r>
                          <a:rPr lang="en-IN" sz="1700" b="0" i="1" smtClean="0">
                            <a:latin typeface="Cambria Math" panose="02040503050406030204" pitchFamily="18" charset="0"/>
                            <a:cs typeface="Times New Roman" panose="02020603050405020304" pitchFamily="18" charset="0"/>
                          </a:rPr>
                          <m:t>𝑍</m:t>
                        </m:r>
                      </m:sub>
                    </m:sSub>
                  </m:oMath>
                </a14:m>
                <a:r>
                  <a:rPr lang="en-IN" sz="1700">
                    <a:latin typeface="Times New Roman" panose="02020603050405020304" pitchFamily="18" charset="0"/>
                    <a:cs typeface="Times New Roman" panose="02020603050405020304" pitchFamily="18" charset="0"/>
                  </a:rPr>
                  <a:t> = Zener break down voltage.</a:t>
                </a:r>
              </a:p>
              <a:p>
                <a:pPr algn="just"/>
                <a:r>
                  <a:rPr lang="en-IN" sz="1700">
                    <a:latin typeface="Times New Roman" panose="02020603050405020304" pitchFamily="18" charset="0"/>
                    <a:cs typeface="Times New Roman" panose="02020603050405020304" pitchFamily="18" charset="0"/>
                  </a:rPr>
                  <a:t>             </a:t>
                </a:r>
                <a14:m>
                  <m:oMath xmlns:m="http://schemas.openxmlformats.org/officeDocument/2006/math">
                    <m:sSub>
                      <m:sSubPr>
                        <m:ctrlPr>
                          <a:rPr lang="en-IN" sz="1700" i="1" smtClean="0">
                            <a:latin typeface="Cambria Math" panose="02040503050406030204" pitchFamily="18" charset="0"/>
                            <a:cs typeface="Times New Roman" panose="02020603050405020304" pitchFamily="18" charset="0"/>
                          </a:rPr>
                        </m:ctrlPr>
                      </m:sSubPr>
                      <m:e>
                        <m:r>
                          <a:rPr lang="en-IN" sz="1700" b="0" i="1" smtClean="0">
                            <a:latin typeface="Cambria Math" panose="02040503050406030204" pitchFamily="18" charset="0"/>
                            <a:cs typeface="Times New Roman" panose="02020603050405020304" pitchFamily="18" charset="0"/>
                          </a:rPr>
                          <m:t>𝑉</m:t>
                        </m:r>
                      </m:e>
                      <m:sub>
                        <m:r>
                          <a:rPr lang="en-IN" sz="1700" b="0" i="1" smtClean="0">
                            <a:latin typeface="Cambria Math" panose="02040503050406030204" pitchFamily="18" charset="0"/>
                            <a:cs typeface="Times New Roman" panose="02020603050405020304" pitchFamily="18" charset="0"/>
                          </a:rPr>
                          <m:t>𝐵𝐸</m:t>
                        </m:r>
                      </m:sub>
                    </m:sSub>
                  </m:oMath>
                </a14:m>
                <a:r>
                  <a:rPr lang="en-IN" sz="1700">
                    <a:latin typeface="Times New Roman" panose="02020603050405020304" pitchFamily="18" charset="0"/>
                    <a:cs typeface="Times New Roman" panose="02020603050405020304" pitchFamily="18" charset="0"/>
                  </a:rPr>
                  <a:t>=</a:t>
                </a:r>
                <a:r>
                  <a:rPr lang="en-US" sz="1700">
                    <a:latin typeface="Times New Roman" panose="02020603050405020304" pitchFamily="18" charset="0"/>
                    <a:cs typeface="Times New Roman" panose="02020603050405020304" pitchFamily="18" charset="0"/>
                  </a:rPr>
                  <a:t>Base–emitter voltage of the transistor                  (approximately 0.7 V).</a:t>
                </a:r>
              </a:p>
              <a:p>
                <a:pPr marL="285750" indent="-285750" algn="just">
                  <a:buFont typeface="Wingdings" panose="05000000000000000000" pitchFamily="2" charset="2"/>
                  <a:buChar char="Ø"/>
                </a:pPr>
                <a:r>
                  <a:rPr lang="en-US" sz="1700">
                    <a:latin typeface="Times New Roman" panose="02020603050405020304" pitchFamily="18" charset="0"/>
                    <a:cs typeface="Times New Roman" panose="02020603050405020304" pitchFamily="18" charset="0"/>
                  </a:rPr>
                  <a:t>A series resistor is connected in series with the Zener diode to limit the current flowing through it and to protect the diode from excessive power dissipation. </a:t>
                </a:r>
                <a:endParaRPr lang="en-IN" sz="1700">
                  <a:latin typeface="Times New Roman" panose="02020603050405020304" pitchFamily="18"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656FBD82-B03F-C07E-C0CD-C66615FE621F}"/>
                  </a:ext>
                </a:extLst>
              </p:cNvPr>
              <p:cNvSpPr txBox="1">
                <a:spLocks noRot="1" noChangeAspect="1" noMove="1" noResize="1" noEditPoints="1" noAdjustHandles="1" noChangeArrowheads="1" noChangeShapeType="1" noTextEdit="1"/>
              </p:cNvSpPr>
              <p:nvPr/>
            </p:nvSpPr>
            <p:spPr>
              <a:xfrm>
                <a:off x="187037" y="765258"/>
                <a:ext cx="5594733" cy="5863144"/>
              </a:xfrm>
              <a:prstGeom prst="rect">
                <a:avLst/>
              </a:prstGeom>
              <a:blipFill>
                <a:blip r:embed="rId3"/>
                <a:stretch>
                  <a:fillRect l="-653" t="-519" r="-653" b="-519"/>
                </a:stretch>
              </a:blipFill>
              <a:ln>
                <a:solidFill>
                  <a:srgbClr val="002C00"/>
                </a:solidFill>
              </a:ln>
            </p:spPr>
            <p:txBody>
              <a:bodyPr/>
              <a:lstStyle/>
              <a:p>
                <a:r>
                  <a:rPr lang="en-US">
                    <a:noFill/>
                  </a:rPr>
                  <a:t> </a:t>
                </a:r>
              </a:p>
            </p:txBody>
          </p:sp>
        </mc:Fallback>
      </mc:AlternateContent>
      <p:pic>
        <p:nvPicPr>
          <p:cNvPr id="9" name="Picture 8">
            <a:extLst>
              <a:ext uri="{FF2B5EF4-FFF2-40B4-BE49-F238E27FC236}">
                <a16:creationId xmlns:a16="http://schemas.microsoft.com/office/drawing/2014/main" id="{5A21BB8A-E012-9408-3F94-9F8F74F58CF9}"/>
              </a:ext>
            </a:extLst>
          </p:cNvPr>
          <p:cNvPicPr>
            <a:picLocks noChangeAspect="1"/>
          </p:cNvPicPr>
          <p:nvPr/>
        </p:nvPicPr>
        <p:blipFill>
          <a:blip r:embed="rId4">
            <a:extLst>
              <a:ext uri="{28A0092B-C50C-407E-A947-70E740481C1C}">
                <a14:useLocalDpi xmlns:a14="http://schemas.microsoft.com/office/drawing/2010/main" val="0"/>
              </a:ext>
            </a:extLst>
          </a:blip>
          <a:srcRect t="2745"/>
          <a:stretch>
            <a:fillRect/>
          </a:stretch>
        </p:blipFill>
        <p:spPr>
          <a:xfrm>
            <a:off x="7093599" y="3803435"/>
            <a:ext cx="4317475" cy="2927723"/>
          </a:xfrm>
          <a:prstGeom prst="rect">
            <a:avLst/>
          </a:prstGeom>
        </p:spPr>
      </p:pic>
    </p:spTree>
    <p:extLst>
      <p:ext uri="{BB962C8B-B14F-4D97-AF65-F5344CB8AC3E}">
        <p14:creationId xmlns:p14="http://schemas.microsoft.com/office/powerpoint/2010/main" val="31279948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EED8F-4C5D-F1CE-EE3A-C70FB1C8763B}"/>
            </a:ext>
          </a:extLst>
        </p:cNvPr>
        <p:cNvGrpSpPr/>
        <p:nvPr/>
      </p:nvGrpSpPr>
      <p:grpSpPr>
        <a:xfrm>
          <a:off x="0" y="0"/>
          <a:ext cx="0" cy="0"/>
          <a:chOff x="0" y="0"/>
          <a:chExt cx="0" cy="0"/>
        </a:xfrm>
      </p:grpSpPr>
      <p:pic>
        <p:nvPicPr>
          <p:cNvPr id="4" name="Picture 3" descr="KLE Technological University in Hubballi">
            <a:extLst>
              <a:ext uri="{FF2B5EF4-FFF2-40B4-BE49-F238E27FC236}">
                <a16:creationId xmlns:a16="http://schemas.microsoft.com/office/drawing/2014/main" id="{EC649F6C-4D96-D69E-C430-3DD29F3992EF}"/>
              </a:ext>
            </a:extLst>
          </p:cNvPr>
          <p:cNvPicPr>
            <a:picLocks noChangeAspect="1"/>
          </p:cNvPicPr>
          <p:nvPr/>
        </p:nvPicPr>
        <p:blipFill rotWithShape="1">
          <a:blip r:embed="rId2">
            <a:extLst>
              <a:ext uri="{28A0092B-C50C-407E-A947-70E740481C1C}">
                <a14:useLocalDpi xmlns:a14="http://schemas.microsoft.com/office/drawing/2010/main" val="0"/>
              </a:ext>
            </a:extLst>
          </a:blip>
          <a:srcRect t="37713" b="37711"/>
          <a:stretch/>
        </p:blipFill>
        <p:spPr bwMode="auto">
          <a:xfrm>
            <a:off x="9544414" y="0"/>
            <a:ext cx="2647586" cy="623017"/>
          </a:xfrm>
          <a:prstGeom prst="rect">
            <a:avLst/>
          </a:prstGeom>
          <a:noFill/>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42177B9A-6C35-9634-AC5E-3D48D445D0D1}"/>
              </a:ext>
            </a:extLst>
          </p:cNvPr>
          <p:cNvSpPr txBox="1"/>
          <p:nvPr/>
        </p:nvSpPr>
        <p:spPr>
          <a:xfrm>
            <a:off x="-1" y="0"/>
            <a:ext cx="3647769" cy="369332"/>
          </a:xfrm>
          <a:prstGeom prst="rect">
            <a:avLst/>
          </a:prstGeom>
          <a:solidFill>
            <a:schemeClr val="tx2">
              <a:lumMod val="20000"/>
              <a:lumOff val="80000"/>
            </a:schemeClr>
          </a:solidFill>
        </p:spPr>
        <p:txBody>
          <a:bodyPr wrap="square">
            <a:spAutoFit/>
          </a:bodyPr>
          <a:lstStyle/>
          <a:p>
            <a:r>
              <a:rPr lang="en-US" sz="1800" b="1">
                <a:latin typeface="Times New Roman" panose="02020603050405020304" pitchFamily="18" charset="0"/>
                <a:cs typeface="Times New Roman" panose="02020603050405020304" pitchFamily="18" charset="0"/>
              </a:rPr>
              <a:t>Mini Project  (</a:t>
            </a:r>
            <a:r>
              <a:rPr lang="en-IN"/>
              <a:t>23EECW301</a:t>
            </a:r>
            <a:r>
              <a:rPr lang="en-US" sz="1800" b="1">
                <a:latin typeface="Times New Roman" panose="02020603050405020304" pitchFamily="18" charset="0"/>
                <a:cs typeface="Times New Roman" panose="02020603050405020304" pitchFamily="18" charset="0"/>
              </a:rPr>
              <a:t>)</a:t>
            </a:r>
            <a:endParaRPr lang="en-IN" sz="1800"/>
          </a:p>
        </p:txBody>
      </p:sp>
      <p:sp>
        <p:nvSpPr>
          <p:cNvPr id="7" name="TextBox 6">
            <a:extLst>
              <a:ext uri="{FF2B5EF4-FFF2-40B4-BE49-F238E27FC236}">
                <a16:creationId xmlns:a16="http://schemas.microsoft.com/office/drawing/2014/main" id="{A3151342-EB92-E11B-47E7-AE20ABE2E881}"/>
              </a:ext>
            </a:extLst>
          </p:cNvPr>
          <p:cNvSpPr txBox="1"/>
          <p:nvPr/>
        </p:nvSpPr>
        <p:spPr>
          <a:xfrm>
            <a:off x="4678800" y="126842"/>
            <a:ext cx="3834581" cy="369332"/>
          </a:xfrm>
          <a:prstGeom prst="rect">
            <a:avLst/>
          </a:prstGeom>
          <a:noFill/>
          <a:ln>
            <a:solidFill>
              <a:schemeClr val="tx1"/>
            </a:solidFill>
          </a:ln>
        </p:spPr>
        <p:txBody>
          <a:bodyPr wrap="square" rtlCol="0">
            <a:spAutoFit/>
          </a:bodyPr>
          <a:lstStyle/>
          <a:p>
            <a:pPr algn="ctr"/>
            <a:r>
              <a:rPr lang="en-IN" b="1">
                <a:latin typeface="Times New Roman" panose="02020603050405020304" pitchFamily="18" charset="0"/>
                <a:cs typeface="Times New Roman" panose="02020603050405020304" pitchFamily="18" charset="0"/>
              </a:rPr>
              <a:t>Linear Regulator (L7805)</a:t>
            </a:r>
          </a:p>
        </p:txBody>
      </p:sp>
      <p:sp>
        <p:nvSpPr>
          <p:cNvPr id="6" name="TextBox 5">
            <a:extLst>
              <a:ext uri="{FF2B5EF4-FFF2-40B4-BE49-F238E27FC236}">
                <a16:creationId xmlns:a16="http://schemas.microsoft.com/office/drawing/2014/main" id="{6B46E1B9-698D-F98D-B0E2-568F88FA65D3}"/>
              </a:ext>
            </a:extLst>
          </p:cNvPr>
          <p:cNvSpPr txBox="1"/>
          <p:nvPr/>
        </p:nvSpPr>
        <p:spPr>
          <a:xfrm>
            <a:off x="187656" y="749421"/>
            <a:ext cx="6238566" cy="1815882"/>
          </a:xfrm>
          <a:prstGeom prst="rect">
            <a:avLst/>
          </a:prstGeom>
          <a:solidFill>
            <a:srgbClr val="F7F2ED">
              <a:alpha val="1961"/>
            </a:srgbClr>
          </a:solidFill>
          <a:ln>
            <a:solidFill>
              <a:srgbClr val="002C00"/>
            </a:solidFill>
          </a:ln>
        </p:spPr>
        <p:txBody>
          <a:bodyPr wrap="square" rtlCol="0">
            <a:spAutoFit/>
          </a:bodyPr>
          <a:lstStyle/>
          <a:p>
            <a:pPr marL="285750" indent="-285750" algn="just">
              <a:buFont typeface="Wingdings" panose="05000000000000000000" pitchFamily="2" charset="2"/>
              <a:buChar char="Ø"/>
            </a:pPr>
            <a:r>
              <a:rPr lang="en-IN" sz="1600">
                <a:latin typeface="Times New Roman" panose="02020603050405020304" pitchFamily="18" charset="0"/>
                <a:cs typeface="Times New Roman" panose="02020603050405020304" pitchFamily="18" charset="0"/>
              </a:rPr>
              <a:t>Here the Linear Regulator ( L7805 ) is used to provide constant 5V DC supply by taking varying Range of  DC input supply.</a:t>
            </a:r>
          </a:p>
          <a:p>
            <a:pPr marL="285750" indent="-285750" algn="just">
              <a:buFont typeface="Wingdings" panose="05000000000000000000" pitchFamily="2" charset="2"/>
              <a:buChar char="Ø"/>
            </a:pPr>
            <a:r>
              <a:rPr lang="en-IN" sz="1600">
                <a:latin typeface="Times New Roman" panose="02020603050405020304" pitchFamily="18" charset="0"/>
                <a:cs typeface="Times New Roman" panose="02020603050405020304" pitchFamily="18" charset="0"/>
              </a:rPr>
              <a:t>A small capacitor should be added just after the output pin of the L7805 linear regulator because,</a:t>
            </a:r>
          </a:p>
          <a:p>
            <a:pPr marL="742950" lvl="1" indent="-285750" algn="just">
              <a:buFont typeface="Arial" panose="020B0604020202020204" pitchFamily="34" charset="0"/>
              <a:buChar char="•"/>
            </a:pPr>
            <a:r>
              <a:rPr lang="en-IN" sz="1600">
                <a:latin typeface="Times New Roman" panose="02020603050405020304" pitchFamily="18" charset="0"/>
                <a:cs typeface="Times New Roman" panose="02020603050405020304" pitchFamily="18" charset="0"/>
              </a:rPr>
              <a:t>To handle sudden Load Changes</a:t>
            </a:r>
          </a:p>
          <a:p>
            <a:pPr marL="742950" lvl="1" indent="-285750" algn="just">
              <a:buFont typeface="Arial" panose="020B0604020202020204" pitchFamily="34" charset="0"/>
              <a:buChar char="•"/>
            </a:pPr>
            <a:r>
              <a:rPr lang="en-IN" sz="1600">
                <a:latin typeface="Times New Roman" panose="02020603050405020304" pitchFamily="18" charset="0"/>
                <a:cs typeface="Times New Roman" panose="02020603050405020304" pitchFamily="18" charset="0"/>
              </a:rPr>
              <a:t>To increase the frequency stability</a:t>
            </a:r>
          </a:p>
          <a:p>
            <a:pPr marL="742950" lvl="1" indent="-285750" algn="just">
              <a:buFont typeface="Arial" panose="020B0604020202020204" pitchFamily="34" charset="0"/>
              <a:buChar char="•"/>
            </a:pPr>
            <a:r>
              <a:rPr lang="en-IN" sz="1600">
                <a:latin typeface="Times New Roman" panose="02020603050405020304" pitchFamily="18" charset="0"/>
                <a:cs typeface="Times New Roman" panose="02020603050405020304" pitchFamily="18" charset="0"/>
              </a:rPr>
              <a:t>To increase the stability of output supply</a:t>
            </a:r>
          </a:p>
        </p:txBody>
      </p:sp>
      <p:sp>
        <p:nvSpPr>
          <p:cNvPr id="8" name="TextBox 7">
            <a:extLst>
              <a:ext uri="{FF2B5EF4-FFF2-40B4-BE49-F238E27FC236}">
                <a16:creationId xmlns:a16="http://schemas.microsoft.com/office/drawing/2014/main" id="{F3F71EFD-BA8C-96BF-B6B6-1D99FABA6B9E}"/>
              </a:ext>
            </a:extLst>
          </p:cNvPr>
          <p:cNvSpPr txBox="1"/>
          <p:nvPr/>
        </p:nvSpPr>
        <p:spPr>
          <a:xfrm>
            <a:off x="6518609" y="749421"/>
            <a:ext cx="5594733" cy="5586145"/>
          </a:xfrm>
          <a:prstGeom prst="rect">
            <a:avLst/>
          </a:prstGeom>
          <a:solidFill>
            <a:srgbClr val="F7F2ED">
              <a:alpha val="20000"/>
            </a:srgbClr>
          </a:solidFill>
          <a:ln>
            <a:solidFill>
              <a:srgbClr val="002C00"/>
            </a:solidFill>
          </a:ln>
        </p:spPr>
        <p:txBody>
          <a:bodyPr wrap="square" rtlCol="0">
            <a:spAutoFit/>
          </a:bodyPr>
          <a:lstStyle/>
          <a:p>
            <a:pPr algn="ctr"/>
            <a:r>
              <a:rPr lang="en-IN" sz="1700" b="1">
                <a:latin typeface="Times New Roman" panose="02020603050405020304" pitchFamily="18" charset="0"/>
                <a:cs typeface="Times New Roman" panose="02020603050405020304" pitchFamily="18" charset="0"/>
              </a:rPr>
              <a:t>linear Regulator Details</a:t>
            </a:r>
          </a:p>
          <a:p>
            <a:pPr algn="ctr"/>
            <a:endParaRPr lang="en-IN" sz="1500" b="1">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IN" sz="1700">
                <a:latin typeface="Times New Roman" panose="02020603050405020304" pitchFamily="18" charset="0"/>
                <a:cs typeface="Times New Roman" panose="02020603050405020304" pitchFamily="18" charset="0"/>
              </a:rPr>
              <a:t>The L7805 works in the range of 7V to 25 V .</a:t>
            </a:r>
          </a:p>
          <a:p>
            <a:pPr marL="285750" indent="-285750" algn="just">
              <a:buFont typeface="Wingdings" panose="05000000000000000000" pitchFamily="2" charset="2"/>
              <a:buChar char="Ø"/>
            </a:pPr>
            <a:r>
              <a:rPr lang="en-IN" sz="1700">
                <a:latin typeface="Times New Roman" panose="02020603050405020304" pitchFamily="18" charset="0"/>
                <a:cs typeface="Times New Roman" panose="02020603050405020304" pitchFamily="18" charset="0"/>
              </a:rPr>
              <a:t>But for the higher voltage the problem of overheat can occur.</a:t>
            </a:r>
          </a:p>
          <a:p>
            <a:pPr marL="285750" indent="-285750" algn="just">
              <a:buFont typeface="Wingdings" panose="05000000000000000000" pitchFamily="2" charset="2"/>
              <a:buChar char="Ø"/>
            </a:pPr>
            <a:r>
              <a:rPr lang="en-IN" sz="1700">
                <a:latin typeface="Times New Roman" panose="02020603050405020304" pitchFamily="18" charset="0"/>
                <a:cs typeface="Times New Roman" panose="02020603050405020304" pitchFamily="18" charset="0"/>
              </a:rPr>
              <a:t>If the input voltage is very high then while converting or regulating it to 5 volts there will be a massive power loss and that can cause overheat problem.</a:t>
            </a:r>
          </a:p>
          <a:p>
            <a:pPr marL="285750" indent="-285750" algn="just">
              <a:buFont typeface="Wingdings" panose="05000000000000000000" pitchFamily="2" charset="2"/>
              <a:buChar char="Ø"/>
            </a:pPr>
            <a:r>
              <a:rPr lang="en-IN" sz="1700">
                <a:latin typeface="Times New Roman" panose="02020603050405020304" pitchFamily="18" charset="0"/>
                <a:cs typeface="Times New Roman" panose="02020603050405020304" pitchFamily="18" charset="0"/>
              </a:rPr>
              <a:t>Here , If we consider very low ripple voltage range for filter capacitor then the input will automatically becomes higher and while converting that high voltage the massive m = power loss can cause higher heating issues.</a:t>
            </a:r>
          </a:p>
          <a:p>
            <a:pPr marL="285750" indent="-285750" algn="just">
              <a:buFont typeface="Wingdings" panose="05000000000000000000" pitchFamily="2" charset="2"/>
              <a:buChar char="Ø"/>
            </a:pPr>
            <a:r>
              <a:rPr lang="en-IN" sz="1700">
                <a:latin typeface="Times New Roman" panose="02020603050405020304" pitchFamily="18" charset="0"/>
                <a:cs typeface="Times New Roman" panose="02020603050405020304" pitchFamily="18" charset="0"/>
              </a:rPr>
              <a:t>Therefore the main drawback of this regulator is that it can’t handle high input voltages.</a:t>
            </a:r>
          </a:p>
          <a:p>
            <a:pPr marL="285750" indent="-285750" algn="just">
              <a:buFont typeface="Wingdings" panose="05000000000000000000" pitchFamily="2" charset="2"/>
              <a:buChar char="Ø"/>
            </a:pPr>
            <a:r>
              <a:rPr lang="en-IN" sz="1700">
                <a:latin typeface="Times New Roman" panose="02020603050405020304" pitchFamily="18" charset="0"/>
                <a:cs typeface="Times New Roman" panose="02020603050405020304" pitchFamily="18" charset="0"/>
              </a:rPr>
              <a:t>The heatsink is needed in case of max power dissipations , which causes increase in heat of the regulator.</a:t>
            </a:r>
          </a:p>
          <a:p>
            <a:pPr marL="285750" indent="-285750" algn="just">
              <a:buFont typeface="Wingdings" panose="05000000000000000000" pitchFamily="2" charset="2"/>
              <a:buChar char="Ø"/>
            </a:pPr>
            <a:endParaRPr lang="en-IN" sz="170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IN" sz="1700">
                <a:latin typeface="Times New Roman" panose="02020603050405020304" pitchFamily="18" charset="0"/>
                <a:cs typeface="Times New Roman" panose="02020603050405020304" pitchFamily="18" charset="0"/>
              </a:rPr>
              <a:t>According to Datasheet :</a:t>
            </a:r>
          </a:p>
          <a:p>
            <a:pPr marL="285750" indent="-285750" algn="just">
              <a:buFont typeface="Arial" panose="020B0604020202020204" pitchFamily="34" charset="0"/>
              <a:buChar char="•"/>
            </a:pPr>
            <a:r>
              <a:rPr lang="en-IN" sz="1700">
                <a:latin typeface="Times New Roman" panose="02020603050405020304" pitchFamily="18" charset="0"/>
                <a:cs typeface="Times New Roman" panose="02020603050405020304" pitchFamily="18" charset="0"/>
              </a:rPr>
              <a:t>Thermal resistance junction to ambient (R</a:t>
            </a:r>
            <a:r>
              <a:rPr lang="el-GR" sz="1700">
                <a:latin typeface="Times New Roman" panose="02020603050405020304" pitchFamily="18" charset="0"/>
                <a:cs typeface="Times New Roman" panose="02020603050405020304" pitchFamily="18" charset="0"/>
              </a:rPr>
              <a:t>θ</a:t>
            </a:r>
            <a:r>
              <a:rPr lang="en-IN" sz="1700">
                <a:latin typeface="Times New Roman" panose="02020603050405020304" pitchFamily="18" charset="0"/>
                <a:cs typeface="Times New Roman" panose="02020603050405020304" pitchFamily="18" charset="0"/>
              </a:rPr>
              <a:t>JA) = 83°C/W</a:t>
            </a:r>
          </a:p>
          <a:p>
            <a:pPr marL="285750" indent="-285750" algn="just">
              <a:buFont typeface="Arial" panose="020B0604020202020204" pitchFamily="34" charset="0"/>
              <a:buChar char="•"/>
            </a:pPr>
            <a:r>
              <a:rPr lang="en-IN" sz="1700">
                <a:latin typeface="Times New Roman" panose="02020603050405020304" pitchFamily="18" charset="0"/>
                <a:cs typeface="Times New Roman" panose="02020603050405020304" pitchFamily="18" charset="0"/>
              </a:rPr>
              <a:t>Thermal resistance junction to case (R</a:t>
            </a:r>
            <a:r>
              <a:rPr lang="el-GR" sz="1700">
                <a:latin typeface="Times New Roman" panose="02020603050405020304" pitchFamily="18" charset="0"/>
                <a:cs typeface="Times New Roman" panose="02020603050405020304" pitchFamily="18" charset="0"/>
              </a:rPr>
              <a:t>θ</a:t>
            </a:r>
            <a:r>
              <a:rPr lang="en-IN" sz="1700">
                <a:latin typeface="Times New Roman" panose="02020603050405020304" pitchFamily="18" charset="0"/>
                <a:cs typeface="Times New Roman" panose="02020603050405020304" pitchFamily="18" charset="0"/>
              </a:rPr>
              <a:t>JC) = 8.3°C/W</a:t>
            </a:r>
          </a:p>
          <a:p>
            <a:pPr marL="285750" indent="-285750" algn="just">
              <a:buFont typeface="Arial" panose="020B0604020202020204" pitchFamily="34" charset="0"/>
              <a:buChar char="•"/>
            </a:pPr>
            <a:r>
              <a:rPr lang="en-IN" sz="1700">
                <a:latin typeface="Times New Roman" panose="02020603050405020304" pitchFamily="18" charset="0"/>
                <a:cs typeface="Times New Roman" panose="02020603050405020304" pitchFamily="18" charset="0"/>
              </a:rPr>
              <a:t>Maximum Junction Temperature = 150°C</a:t>
            </a:r>
          </a:p>
        </p:txBody>
      </p:sp>
      <p:pic>
        <p:nvPicPr>
          <p:cNvPr id="9" name="Picture 8">
            <a:extLst>
              <a:ext uri="{FF2B5EF4-FFF2-40B4-BE49-F238E27FC236}">
                <a16:creationId xmlns:a16="http://schemas.microsoft.com/office/drawing/2014/main" id="{67A2A360-AE27-3C3B-597F-C4EF377611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6073" y="3049087"/>
            <a:ext cx="6061732" cy="2823811"/>
          </a:xfrm>
          <a:prstGeom prst="rect">
            <a:avLst/>
          </a:prstGeom>
        </p:spPr>
      </p:pic>
    </p:spTree>
    <p:extLst>
      <p:ext uri="{BB962C8B-B14F-4D97-AF65-F5344CB8AC3E}">
        <p14:creationId xmlns:p14="http://schemas.microsoft.com/office/powerpoint/2010/main" val="88200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5CD08-3AA0-0FDB-BCE5-8463BD5CBE17}"/>
            </a:ext>
          </a:extLst>
        </p:cNvPr>
        <p:cNvGrpSpPr/>
        <p:nvPr/>
      </p:nvGrpSpPr>
      <p:grpSpPr>
        <a:xfrm>
          <a:off x="0" y="0"/>
          <a:ext cx="0" cy="0"/>
          <a:chOff x="0" y="0"/>
          <a:chExt cx="0" cy="0"/>
        </a:xfrm>
      </p:grpSpPr>
      <p:pic>
        <p:nvPicPr>
          <p:cNvPr id="4" name="Picture 3" descr="KLE Technological University in Hubballi">
            <a:extLst>
              <a:ext uri="{FF2B5EF4-FFF2-40B4-BE49-F238E27FC236}">
                <a16:creationId xmlns:a16="http://schemas.microsoft.com/office/drawing/2014/main" id="{51122F42-0CB3-5E47-98DC-99DD3CE52675}"/>
              </a:ext>
            </a:extLst>
          </p:cNvPr>
          <p:cNvPicPr>
            <a:picLocks noChangeAspect="1"/>
          </p:cNvPicPr>
          <p:nvPr/>
        </p:nvPicPr>
        <p:blipFill rotWithShape="1">
          <a:blip r:embed="rId2">
            <a:extLst>
              <a:ext uri="{28A0092B-C50C-407E-A947-70E740481C1C}">
                <a14:useLocalDpi xmlns:a14="http://schemas.microsoft.com/office/drawing/2010/main" val="0"/>
              </a:ext>
            </a:extLst>
          </a:blip>
          <a:srcRect t="37713" b="37711"/>
          <a:stretch/>
        </p:blipFill>
        <p:spPr bwMode="auto">
          <a:xfrm>
            <a:off x="9544414" y="0"/>
            <a:ext cx="2647586" cy="623017"/>
          </a:xfrm>
          <a:prstGeom prst="rect">
            <a:avLst/>
          </a:prstGeom>
          <a:noFill/>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F762F255-89F9-B988-ACF4-3F1DE5475576}"/>
              </a:ext>
            </a:extLst>
          </p:cNvPr>
          <p:cNvSpPr txBox="1"/>
          <p:nvPr/>
        </p:nvSpPr>
        <p:spPr>
          <a:xfrm>
            <a:off x="-1" y="0"/>
            <a:ext cx="3647769" cy="369332"/>
          </a:xfrm>
          <a:prstGeom prst="rect">
            <a:avLst/>
          </a:prstGeom>
          <a:solidFill>
            <a:schemeClr val="tx2">
              <a:lumMod val="20000"/>
              <a:lumOff val="80000"/>
            </a:schemeClr>
          </a:solidFill>
        </p:spPr>
        <p:txBody>
          <a:bodyPr wrap="square">
            <a:spAutoFit/>
          </a:bodyPr>
          <a:lstStyle/>
          <a:p>
            <a:r>
              <a:rPr lang="en-US" sz="1800" b="1">
                <a:latin typeface="Times New Roman" panose="02020603050405020304" pitchFamily="18" charset="0"/>
                <a:cs typeface="Times New Roman" panose="02020603050405020304" pitchFamily="18" charset="0"/>
              </a:rPr>
              <a:t>Mini Project  (</a:t>
            </a:r>
            <a:r>
              <a:rPr lang="en-IN"/>
              <a:t>23EECW301</a:t>
            </a:r>
            <a:r>
              <a:rPr lang="en-US" sz="1800" b="1">
                <a:latin typeface="Times New Roman" panose="02020603050405020304" pitchFamily="18" charset="0"/>
                <a:cs typeface="Times New Roman" panose="02020603050405020304" pitchFamily="18" charset="0"/>
              </a:rPr>
              <a:t>)</a:t>
            </a:r>
            <a:endParaRPr lang="en-IN" sz="1800"/>
          </a:p>
        </p:txBody>
      </p:sp>
      <p:sp>
        <p:nvSpPr>
          <p:cNvPr id="7" name="TextBox 6">
            <a:extLst>
              <a:ext uri="{FF2B5EF4-FFF2-40B4-BE49-F238E27FC236}">
                <a16:creationId xmlns:a16="http://schemas.microsoft.com/office/drawing/2014/main" id="{15C92588-CCF1-B20D-09A4-94D8F5954C5B}"/>
              </a:ext>
            </a:extLst>
          </p:cNvPr>
          <p:cNvSpPr txBox="1"/>
          <p:nvPr/>
        </p:nvSpPr>
        <p:spPr>
          <a:xfrm>
            <a:off x="4678800" y="126842"/>
            <a:ext cx="3834581" cy="369332"/>
          </a:xfrm>
          <a:prstGeom prst="rect">
            <a:avLst/>
          </a:prstGeom>
          <a:noFill/>
          <a:ln>
            <a:solidFill>
              <a:schemeClr val="tx1"/>
            </a:solidFill>
          </a:ln>
        </p:spPr>
        <p:txBody>
          <a:bodyPr wrap="square" rtlCol="0">
            <a:spAutoFit/>
          </a:bodyPr>
          <a:lstStyle/>
          <a:p>
            <a:pPr algn="ctr"/>
            <a:r>
              <a:rPr lang="en-IN" b="1">
                <a:latin typeface="Times New Roman" panose="02020603050405020304" pitchFamily="18" charset="0"/>
                <a:cs typeface="Times New Roman" panose="02020603050405020304" pitchFamily="18" charset="0"/>
              </a:rPr>
              <a:t>Linear Regulator (LM323A)</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6B1EF0C-51CF-CD3F-9162-2B0D8CCBC0BB}"/>
                  </a:ext>
                </a:extLst>
              </p:cNvPr>
              <p:cNvSpPr txBox="1"/>
              <p:nvPr/>
            </p:nvSpPr>
            <p:spPr>
              <a:xfrm>
                <a:off x="78607" y="623017"/>
                <a:ext cx="12034785" cy="3539430"/>
              </a:xfrm>
              <a:prstGeom prst="rect">
                <a:avLst/>
              </a:prstGeom>
              <a:solidFill>
                <a:srgbClr val="F7F2ED">
                  <a:alpha val="1961"/>
                </a:srgbClr>
              </a:solidFill>
              <a:ln>
                <a:solidFill>
                  <a:srgbClr val="002C00"/>
                </a:solidFill>
              </a:ln>
            </p:spPr>
            <p:txBody>
              <a:bodyPr wrap="square" rtlCol="0">
                <a:spAutoFit/>
              </a:bodyPr>
              <a:lstStyle/>
              <a:p>
                <a:pPr marL="285750" indent="-285750" algn="just">
                  <a:buFont typeface="Wingdings" panose="05000000000000000000" pitchFamily="2" charset="2"/>
                  <a:buChar char="Ø"/>
                </a:pPr>
                <a:r>
                  <a:rPr lang="en-IN" sz="1600">
                    <a:latin typeface="Times New Roman" panose="02020603050405020304" pitchFamily="18" charset="0"/>
                    <a:cs typeface="Times New Roman" panose="02020603050405020304" pitchFamily="18" charset="0"/>
                  </a:rPr>
                  <a:t>Here the </a:t>
                </a:r>
                <a:r>
                  <a:rPr lang="en-US" sz="1600" dirty="0">
                    <a:latin typeface="Times New Roman" panose="02020603050405020304" pitchFamily="18" charset="0"/>
                    <a:cs typeface="Times New Roman" panose="02020603050405020304" pitchFamily="18" charset="0"/>
                  </a:rPr>
                  <a:t>LM323A is a fixed positive 5 V linear voltage regulator designed to supply high output current, making it suitable for applications requiring greater load capacity and improved current handling. </a:t>
                </a:r>
              </a:p>
              <a:p>
                <a:pPr marL="285750" indent="-285750"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 regulator operates with an input voltage range typically between 7.5 V and 15 V and is capable of delivering up to 3 A of output current when adequate heat sinking is provided.</a:t>
                </a:r>
              </a:p>
              <a:p>
                <a:pPr marL="285750" indent="-285750"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 regulated output voltage is given by,</a:t>
                </a:r>
              </a:p>
              <a:p>
                <a:pPr algn="just"/>
                <a:r>
                  <a:rPr lang="en-US" sz="16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1600" i="1" smtClean="0">
                            <a:latin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cs typeface="Times New Roman" panose="02020603050405020304" pitchFamily="18" charset="0"/>
                          </a:rPr>
                          <m:t>𝑉</m:t>
                        </m:r>
                      </m:e>
                      <m:sub>
                        <m:r>
                          <a:rPr lang="en-IN" sz="1600" b="0" i="1" smtClean="0">
                            <a:latin typeface="Cambria Math" panose="02040503050406030204" pitchFamily="18" charset="0"/>
                            <a:cs typeface="Times New Roman" panose="02020603050405020304" pitchFamily="18" charset="0"/>
                          </a:rPr>
                          <m:t>𝑂𝑈𝑇</m:t>
                        </m:r>
                      </m:sub>
                    </m:sSub>
                  </m:oMath>
                </a14:m>
                <a:r>
                  <a:rPr lang="en-US" sz="1600" dirty="0">
                    <a:latin typeface="Times New Roman" panose="02020603050405020304" pitchFamily="18" charset="0"/>
                    <a:cs typeface="Times New Roman" panose="02020603050405020304" pitchFamily="18" charset="0"/>
                  </a:rPr>
                  <a:t>=5V</a:t>
                </a:r>
              </a:p>
              <a:p>
                <a:pPr marL="285750" indent="-285750"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As long as the input voltage remains above the minimum required level. Due to its high current capability, the LM323A is particularly suitable for circuits where stable voltage must be maintained under heavy load conditions.</a:t>
                </a:r>
              </a:p>
              <a:p>
                <a:pPr marL="285750" indent="-285750"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Since the LM323A is a linear regulator, excess voltage is dissipated as heat, and power dissipation increases with higher input voltage and output current. Therefore, the use of a proper heat sink is essential for safe and continuous operation.</a:t>
                </a:r>
              </a:p>
              <a:p>
                <a:pPr marL="285750" indent="-285750"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According to the datasheet, the maximum allowable junction temperature is 125°C, and effective thermal management is required to avoid overheating and thermal shutdown.</a:t>
                </a:r>
              </a:p>
              <a:p>
                <a:pPr marL="285750" indent="-285750"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Owing to its robust design, high current capability, and stable regulation characteristics, the LM323A is preferred in this project for high-current 5 V output applications.</a:t>
                </a:r>
              </a:p>
            </p:txBody>
          </p:sp>
        </mc:Choice>
        <mc:Fallback xmlns="">
          <p:sp>
            <p:nvSpPr>
              <p:cNvPr id="6" name="TextBox 5">
                <a:extLst>
                  <a:ext uri="{FF2B5EF4-FFF2-40B4-BE49-F238E27FC236}">
                    <a16:creationId xmlns:a16="http://schemas.microsoft.com/office/drawing/2014/main" id="{66B1EF0C-51CF-CD3F-9162-2B0D8CCBC0BB}"/>
                  </a:ext>
                </a:extLst>
              </p:cNvPr>
              <p:cNvSpPr txBox="1">
                <a:spLocks noRot="1" noChangeAspect="1" noMove="1" noResize="1" noEditPoints="1" noAdjustHandles="1" noChangeArrowheads="1" noChangeShapeType="1" noTextEdit="1"/>
              </p:cNvSpPr>
              <p:nvPr/>
            </p:nvSpPr>
            <p:spPr>
              <a:xfrm>
                <a:off x="78607" y="623017"/>
                <a:ext cx="12034785" cy="3539430"/>
              </a:xfrm>
              <a:prstGeom prst="rect">
                <a:avLst/>
              </a:prstGeom>
              <a:blipFill>
                <a:blip r:embed="rId3"/>
                <a:stretch>
                  <a:fillRect l="-152" t="-343" r="-202" b="-1029"/>
                </a:stretch>
              </a:blipFill>
              <a:ln>
                <a:solidFill>
                  <a:srgbClr val="002C00"/>
                </a:solidFill>
              </a:ln>
            </p:spPr>
            <p:txBody>
              <a:bodyPr/>
              <a:lstStyle/>
              <a:p>
                <a:r>
                  <a:rPr lang="en-US">
                    <a:noFill/>
                  </a:rPr>
                  <a:t> </a:t>
                </a:r>
              </a:p>
            </p:txBody>
          </p:sp>
        </mc:Fallback>
      </mc:AlternateContent>
      <p:pic>
        <p:nvPicPr>
          <p:cNvPr id="9" name="Picture 8">
            <a:extLst>
              <a:ext uri="{FF2B5EF4-FFF2-40B4-BE49-F238E27FC236}">
                <a16:creationId xmlns:a16="http://schemas.microsoft.com/office/drawing/2014/main" id="{7E12F462-EF76-5D51-2671-1780CD1F7096}"/>
              </a:ext>
            </a:extLst>
          </p:cNvPr>
          <p:cNvPicPr>
            <a:picLocks noChangeAspect="1"/>
          </p:cNvPicPr>
          <p:nvPr/>
        </p:nvPicPr>
        <p:blipFill>
          <a:blip r:embed="rId4"/>
          <a:stretch>
            <a:fillRect/>
          </a:stretch>
        </p:blipFill>
        <p:spPr>
          <a:xfrm>
            <a:off x="2139886" y="4289290"/>
            <a:ext cx="8616098" cy="2403835"/>
          </a:xfrm>
          <a:prstGeom prst="rect">
            <a:avLst/>
          </a:prstGeom>
        </p:spPr>
      </p:pic>
    </p:spTree>
    <p:extLst>
      <p:ext uri="{BB962C8B-B14F-4D97-AF65-F5344CB8AC3E}">
        <p14:creationId xmlns:p14="http://schemas.microsoft.com/office/powerpoint/2010/main" val="25973413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EB2EC-7F57-D681-0A36-8D4DA99924E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C4035F3-9DF7-D2F4-5563-23429530E8BE}"/>
              </a:ext>
            </a:extLst>
          </p:cNvPr>
          <p:cNvSpPr txBox="1"/>
          <p:nvPr/>
        </p:nvSpPr>
        <p:spPr>
          <a:xfrm>
            <a:off x="-1" y="0"/>
            <a:ext cx="3647769" cy="369332"/>
          </a:xfrm>
          <a:prstGeom prst="rect">
            <a:avLst/>
          </a:prstGeom>
          <a:solidFill>
            <a:schemeClr val="tx2">
              <a:lumMod val="20000"/>
              <a:lumOff val="80000"/>
            </a:schemeClr>
          </a:solidFill>
        </p:spPr>
        <p:txBody>
          <a:bodyPr wrap="square">
            <a:spAutoFit/>
          </a:bodyPr>
          <a:lstStyle/>
          <a:p>
            <a:r>
              <a:rPr lang="en-US" sz="1800" b="1">
                <a:latin typeface="Times New Roman" panose="02020603050405020304" pitchFamily="18" charset="0"/>
                <a:cs typeface="Times New Roman" panose="02020603050405020304" pitchFamily="18" charset="0"/>
              </a:rPr>
              <a:t>Mini Project  (</a:t>
            </a:r>
            <a:r>
              <a:rPr lang="en-IN"/>
              <a:t>23EECW301</a:t>
            </a:r>
            <a:r>
              <a:rPr lang="en-US" sz="1800" b="1">
                <a:latin typeface="Times New Roman" panose="02020603050405020304" pitchFamily="18" charset="0"/>
                <a:cs typeface="Times New Roman" panose="02020603050405020304" pitchFamily="18" charset="0"/>
              </a:rPr>
              <a:t>)</a:t>
            </a:r>
            <a:endParaRPr lang="en-IN" sz="1800"/>
          </a:p>
        </p:txBody>
      </p:sp>
      <p:pic>
        <p:nvPicPr>
          <p:cNvPr id="6" name="Picture 5" descr="KLE Technological University in Hubballi">
            <a:extLst>
              <a:ext uri="{FF2B5EF4-FFF2-40B4-BE49-F238E27FC236}">
                <a16:creationId xmlns:a16="http://schemas.microsoft.com/office/drawing/2014/main" id="{1B044AE3-B1E1-F064-8E57-750052D1C512}"/>
              </a:ext>
            </a:extLst>
          </p:cNvPr>
          <p:cNvPicPr>
            <a:picLocks noChangeAspect="1"/>
          </p:cNvPicPr>
          <p:nvPr/>
        </p:nvPicPr>
        <p:blipFill rotWithShape="1">
          <a:blip r:embed="rId2">
            <a:extLst>
              <a:ext uri="{28A0092B-C50C-407E-A947-70E740481C1C}">
                <a14:useLocalDpi xmlns:a14="http://schemas.microsoft.com/office/drawing/2010/main" val="0"/>
              </a:ext>
            </a:extLst>
          </a:blip>
          <a:srcRect t="37713" b="37711"/>
          <a:stretch/>
        </p:blipFill>
        <p:spPr bwMode="auto">
          <a:xfrm>
            <a:off x="9544414" y="0"/>
            <a:ext cx="2647586" cy="623017"/>
          </a:xfrm>
          <a:prstGeom prst="rect">
            <a:avLst/>
          </a:prstGeom>
          <a:noFill/>
          <a:ln>
            <a:noFill/>
          </a:ln>
          <a:extLst>
            <a:ext uri="{53640926-AAD7-44D8-BBD7-CCE9431645EC}">
              <a14:shadowObscured xmlns:a14="http://schemas.microsoft.com/office/drawing/2010/main"/>
            </a:ext>
          </a:extLst>
        </p:spPr>
      </p:pic>
      <p:sp>
        <p:nvSpPr>
          <p:cNvPr id="4" name="TextBox 3">
            <a:extLst>
              <a:ext uri="{FF2B5EF4-FFF2-40B4-BE49-F238E27FC236}">
                <a16:creationId xmlns:a16="http://schemas.microsoft.com/office/drawing/2014/main" id="{11463A4A-EB2A-ED3C-6DF8-C553578A4AB9}"/>
              </a:ext>
            </a:extLst>
          </p:cNvPr>
          <p:cNvSpPr txBox="1"/>
          <p:nvPr/>
        </p:nvSpPr>
        <p:spPr>
          <a:xfrm>
            <a:off x="4319366" y="-2555"/>
            <a:ext cx="3834581" cy="646331"/>
          </a:xfrm>
          <a:prstGeom prst="rect">
            <a:avLst/>
          </a:prstGeom>
          <a:noFill/>
          <a:ln>
            <a:solidFill>
              <a:schemeClr val="tx1"/>
            </a:solidFill>
          </a:ln>
        </p:spPr>
        <p:txBody>
          <a:bodyPr wrap="square" lIns="91440" tIns="45720" rIns="91440" bIns="45720" rtlCol="0" anchor="t">
            <a:spAutoFit/>
          </a:bodyPr>
          <a:lstStyle/>
          <a:p>
            <a:pPr algn="ctr"/>
            <a:r>
              <a:rPr lang="en-IN" b="1">
                <a:latin typeface="Times New Roman"/>
                <a:cs typeface="Times New Roman"/>
              </a:rPr>
              <a:t>Short Circuit Protection (SCP) Circuit</a:t>
            </a:r>
          </a:p>
        </p:txBody>
      </p:sp>
      <p:sp>
        <p:nvSpPr>
          <p:cNvPr id="7" name="TextBox 6">
            <a:extLst>
              <a:ext uri="{FF2B5EF4-FFF2-40B4-BE49-F238E27FC236}">
                <a16:creationId xmlns:a16="http://schemas.microsoft.com/office/drawing/2014/main" id="{A7988A72-3131-EB76-50F7-B2563F1EEAB9}"/>
              </a:ext>
            </a:extLst>
          </p:cNvPr>
          <p:cNvSpPr txBox="1"/>
          <p:nvPr/>
        </p:nvSpPr>
        <p:spPr>
          <a:xfrm>
            <a:off x="106306" y="735043"/>
            <a:ext cx="5968544" cy="5847755"/>
          </a:xfrm>
          <a:prstGeom prst="rect">
            <a:avLst/>
          </a:prstGeom>
          <a:solidFill>
            <a:srgbClr val="F7F2ED">
              <a:alpha val="20000"/>
            </a:srgbClr>
          </a:solidFill>
          <a:ln>
            <a:solidFill>
              <a:srgbClr val="002C00"/>
            </a:solidFill>
          </a:ln>
        </p:spPr>
        <p:txBody>
          <a:bodyPr wrap="square" lIns="91440" tIns="45720" rIns="91440" bIns="45720" rtlCol="0" anchor="t">
            <a:spAutoFit/>
          </a:bodyPr>
          <a:lstStyle/>
          <a:p>
            <a:pPr marL="285750" indent="-285750" algn="just">
              <a:buFont typeface="Wingdings"/>
              <a:buChar char="Ø"/>
            </a:pPr>
            <a:r>
              <a:rPr lang="en-IN" sz="1700">
                <a:latin typeface="Times New Roman"/>
                <a:ea typeface="+mn-lt"/>
                <a:cs typeface="+mn-lt"/>
              </a:rPr>
              <a:t>A short circuit protection circuit is a safety circuit that prevents damage by stopping current flow when the output is accidentally shorted.</a:t>
            </a:r>
            <a:endParaRPr lang="en-IN" sz="1700" b="1">
              <a:latin typeface="Times New Roman" panose="02020603050405020304" pitchFamily="18" charset="0"/>
              <a:ea typeface="Calibri"/>
              <a:cs typeface="Calibri"/>
            </a:endParaRPr>
          </a:p>
          <a:p>
            <a:pPr algn="just"/>
            <a:r>
              <a:rPr lang="en-IN" sz="1700" b="1">
                <a:latin typeface="Times New Roman"/>
                <a:ea typeface="Calibri"/>
                <a:cs typeface="Calibri"/>
              </a:rPr>
              <a:t> Why do we need the SCP?</a:t>
            </a:r>
            <a:endParaRPr lang="en-IN" sz="1700" b="1">
              <a:latin typeface="Times New Roman" panose="02020603050405020304" pitchFamily="18" charset="0"/>
              <a:ea typeface="Calibri"/>
              <a:cs typeface="Calibri"/>
            </a:endParaRPr>
          </a:p>
          <a:p>
            <a:pPr marL="285750" indent="-285750" algn="just">
              <a:buFont typeface="Wingdings"/>
              <a:buChar char="Ø"/>
            </a:pPr>
            <a:r>
              <a:rPr lang="en-IN" sz="1700">
                <a:latin typeface="Times New Roman"/>
                <a:ea typeface="Calibri"/>
                <a:cs typeface="Calibri"/>
              </a:rPr>
              <a:t>Prevents damages to the components like voltage regulator, diodes, other components.</a:t>
            </a:r>
            <a:endParaRPr lang="en-IN">
              <a:latin typeface="Times New Roman"/>
              <a:ea typeface="Calibri" panose="020F0502020204030204"/>
              <a:cs typeface="Calibri" panose="020F0502020204030204"/>
            </a:endParaRPr>
          </a:p>
          <a:p>
            <a:pPr marL="285750" indent="-285750" algn="just">
              <a:buFont typeface="Wingdings"/>
              <a:buChar char="Ø"/>
            </a:pPr>
            <a:r>
              <a:rPr lang="en-IN" sz="1700">
                <a:latin typeface="Times New Roman"/>
                <a:ea typeface="Calibri"/>
                <a:cs typeface="Calibri"/>
              </a:rPr>
              <a:t>Protects Power Supply and Transformer : As high current due to a short circuit can overheat the transformer and power supply components.</a:t>
            </a:r>
          </a:p>
          <a:p>
            <a:pPr marL="285750" indent="-285750" algn="just">
              <a:buFont typeface="Wingdings"/>
              <a:buChar char="Ø"/>
            </a:pPr>
            <a:r>
              <a:rPr lang="en-IN" sz="1700">
                <a:latin typeface="Times New Roman"/>
                <a:ea typeface="Calibri"/>
                <a:cs typeface="Calibri"/>
              </a:rPr>
              <a:t>Protects the load damage: Due the uncontrolled current supply the load may get damaged.</a:t>
            </a:r>
          </a:p>
          <a:p>
            <a:pPr algn="just"/>
            <a:r>
              <a:rPr lang="en-IN" sz="1700" b="1">
                <a:latin typeface="Times New Roman"/>
                <a:ea typeface="Calibri"/>
                <a:cs typeface="Calibri"/>
              </a:rPr>
              <a:t>Circuit Components.</a:t>
            </a:r>
            <a:endParaRPr lang="en-IN" b="1">
              <a:latin typeface="Times New Roman"/>
              <a:ea typeface="Calibri"/>
              <a:cs typeface="Calibri"/>
            </a:endParaRPr>
          </a:p>
          <a:p>
            <a:pPr marL="285750" indent="-285750" algn="just">
              <a:buFont typeface="Wingdings"/>
              <a:buChar char="Ø"/>
            </a:pPr>
            <a:r>
              <a:rPr lang="en-IN" sz="1700">
                <a:latin typeface="Calibri"/>
                <a:ea typeface="Calibri"/>
                <a:cs typeface="Calibri"/>
              </a:rPr>
              <a:t> </a:t>
            </a:r>
            <a:r>
              <a:rPr lang="en-IN" sz="1700">
                <a:latin typeface="Times New Roman"/>
                <a:ea typeface="Calibri"/>
                <a:cs typeface="Calibri"/>
              </a:rPr>
              <a:t>SCP consist of PNP transistor(</a:t>
            </a:r>
            <a:r>
              <a:rPr lang="en-IN" sz="1700" dirty="0">
                <a:latin typeface="Times New Roman"/>
                <a:ea typeface="Calibri"/>
                <a:cs typeface="Calibri"/>
              </a:rPr>
              <a:t>Q3</a:t>
            </a:r>
            <a:r>
              <a:rPr lang="en-IN" sz="1700">
                <a:latin typeface="Times New Roman"/>
                <a:ea typeface="Calibri"/>
                <a:cs typeface="Calibri"/>
              </a:rPr>
              <a:t>) which act as main pass transistor that supplies power to the load. </a:t>
            </a:r>
            <a:r>
              <a:rPr lang="en-IN" sz="1700">
                <a:latin typeface="Times New Roman"/>
                <a:ea typeface="+mn-lt"/>
                <a:cs typeface="+mn-lt"/>
              </a:rPr>
              <a:t>When </a:t>
            </a:r>
            <a:r>
              <a:rPr lang="en-IN" sz="1700" dirty="0">
                <a:latin typeface="Times New Roman"/>
                <a:ea typeface="+mn-lt"/>
                <a:cs typeface="+mn-lt"/>
              </a:rPr>
              <a:t>Q3 </a:t>
            </a:r>
            <a:r>
              <a:rPr lang="en-IN" sz="1700">
                <a:latin typeface="Times New Roman"/>
                <a:ea typeface="+mn-lt"/>
                <a:cs typeface="+mn-lt"/>
              </a:rPr>
              <a:t>is ON, current flows to the output and when it is OFF, the load is disconnected to protect the circuit during a short circuit. The PNP transistor is said to be ON when the base voltage is lower (i.e. &lt;0.7v) and vice versa.</a:t>
            </a:r>
            <a:endParaRPr lang="en-IN" sz="1700">
              <a:latin typeface="Times New Roman"/>
              <a:ea typeface="Calibri"/>
              <a:cs typeface="Calibri"/>
            </a:endParaRPr>
          </a:p>
          <a:p>
            <a:pPr marL="285750" indent="-285750" algn="just">
              <a:buFont typeface="Wingdings"/>
              <a:buChar char="Ø"/>
            </a:pPr>
            <a:r>
              <a:rPr lang="en-IN" sz="1700">
                <a:latin typeface="Times New Roman"/>
                <a:ea typeface="Calibri"/>
                <a:cs typeface="Calibri"/>
              </a:rPr>
              <a:t>A NPN transistor(Q4) acts as a sensing transistor .</a:t>
            </a:r>
            <a:r>
              <a:rPr lang="en-IN" sz="1700">
                <a:latin typeface="Times New Roman"/>
                <a:ea typeface="+mn-lt"/>
                <a:cs typeface="+mn-lt"/>
              </a:rPr>
              <a:t>It detects abnormal conditions such as excessive current during a short circuit and turns ON to disable Q4.</a:t>
            </a:r>
            <a:endParaRPr lang="en-IN" sz="1700">
              <a:latin typeface="Times New Roman"/>
              <a:ea typeface="Calibri"/>
              <a:cs typeface="Calibri"/>
            </a:endParaRPr>
          </a:p>
          <a:p>
            <a:pPr algn="just"/>
            <a:endParaRPr lang="en-IN" sz="1700">
              <a:latin typeface="Times New Roman"/>
              <a:ea typeface="Calibri"/>
              <a:cs typeface="Times New Roman"/>
            </a:endParaRPr>
          </a:p>
        </p:txBody>
      </p:sp>
      <p:sp>
        <p:nvSpPr>
          <p:cNvPr id="10" name="TextBox 9">
            <a:extLst>
              <a:ext uri="{FF2B5EF4-FFF2-40B4-BE49-F238E27FC236}">
                <a16:creationId xmlns:a16="http://schemas.microsoft.com/office/drawing/2014/main" id="{DF33D332-402A-3374-1A97-73287013B86B}"/>
              </a:ext>
            </a:extLst>
          </p:cNvPr>
          <p:cNvSpPr txBox="1"/>
          <p:nvPr/>
        </p:nvSpPr>
        <p:spPr>
          <a:xfrm>
            <a:off x="6235601" y="738036"/>
            <a:ext cx="5851862" cy="1200329"/>
          </a:xfrm>
          <a:prstGeom prst="rect">
            <a:avLst/>
          </a:prstGeom>
          <a:solidFill>
            <a:srgbClr val="F7F2ED">
              <a:alpha val="1961"/>
            </a:srgbClr>
          </a:solidFill>
          <a:ln>
            <a:solidFill>
              <a:srgbClr val="002C00"/>
            </a:solidFill>
          </a:ln>
        </p:spPr>
        <p:txBody>
          <a:bodyPr wrap="square" lIns="91440" tIns="45720" rIns="91440" bIns="45720" rtlCol="0" anchor="t">
            <a:spAutoFit/>
          </a:bodyPr>
          <a:lstStyle/>
          <a:p>
            <a:pPr marL="285750" indent="-285750" algn="just">
              <a:buFont typeface="Wingdings" panose="05000000000000000000" pitchFamily="2" charset="2"/>
              <a:buChar char="Ø"/>
            </a:pPr>
            <a:r>
              <a:rPr lang="en-IN">
                <a:latin typeface="Times New Roman"/>
                <a:ea typeface="+mn-lt"/>
                <a:cs typeface="+mn-lt"/>
              </a:rPr>
              <a:t>The resistors in the circuit control and limit current to the transistors, allowing the sensing transistor to detect excessive current and safely turn off the pass transistor during a short circuit. </a:t>
            </a:r>
            <a:endParaRPr lang="en-IN">
              <a:latin typeface="Times New Roman"/>
              <a:cs typeface="Times New Roman" panose="02020603050405020304" pitchFamily="18" charset="0"/>
            </a:endParaRPr>
          </a:p>
        </p:txBody>
      </p:sp>
      <p:pic>
        <p:nvPicPr>
          <p:cNvPr id="8" name="Picture 7">
            <a:extLst>
              <a:ext uri="{FF2B5EF4-FFF2-40B4-BE49-F238E27FC236}">
                <a16:creationId xmlns:a16="http://schemas.microsoft.com/office/drawing/2014/main" id="{8173A92A-EC56-1EED-DDFF-6E5FDE34FB42}"/>
              </a:ext>
            </a:extLst>
          </p:cNvPr>
          <p:cNvPicPr>
            <a:picLocks noChangeAspect="1"/>
          </p:cNvPicPr>
          <p:nvPr/>
        </p:nvPicPr>
        <p:blipFill rotWithShape="1">
          <a:blip r:embed="rId3">
            <a:extLst>
              <a:ext uri="{28A0092B-C50C-407E-A947-70E740481C1C}">
                <a14:useLocalDpi xmlns:a14="http://schemas.microsoft.com/office/drawing/2010/main" val="0"/>
              </a:ext>
            </a:extLst>
          </a:blip>
          <a:srcRect t="12239"/>
          <a:stretch>
            <a:fillRect/>
          </a:stretch>
        </p:blipFill>
        <p:spPr bwMode="auto">
          <a:xfrm>
            <a:off x="6235601" y="2484814"/>
            <a:ext cx="5772785" cy="33401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586242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97CC0-6982-795F-C855-E94796F075A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D75DFF2-1A63-B23C-FF8C-9DECBB226C99}"/>
              </a:ext>
            </a:extLst>
          </p:cNvPr>
          <p:cNvSpPr txBox="1"/>
          <p:nvPr/>
        </p:nvSpPr>
        <p:spPr>
          <a:xfrm>
            <a:off x="-1" y="0"/>
            <a:ext cx="3647769" cy="369332"/>
          </a:xfrm>
          <a:prstGeom prst="rect">
            <a:avLst/>
          </a:prstGeom>
          <a:solidFill>
            <a:schemeClr val="tx2">
              <a:lumMod val="20000"/>
              <a:lumOff val="80000"/>
            </a:schemeClr>
          </a:solidFill>
        </p:spPr>
        <p:txBody>
          <a:bodyPr wrap="square">
            <a:spAutoFit/>
          </a:bodyPr>
          <a:lstStyle/>
          <a:p>
            <a:r>
              <a:rPr lang="en-US" sz="1800" b="1">
                <a:latin typeface="Times New Roman" panose="02020603050405020304" pitchFamily="18" charset="0"/>
                <a:cs typeface="Times New Roman" panose="02020603050405020304" pitchFamily="18" charset="0"/>
              </a:rPr>
              <a:t>Mini Project  (</a:t>
            </a:r>
            <a:r>
              <a:rPr lang="en-IN"/>
              <a:t>23EECW301</a:t>
            </a:r>
            <a:r>
              <a:rPr lang="en-US" sz="1800" b="1">
                <a:latin typeface="Times New Roman" panose="02020603050405020304" pitchFamily="18" charset="0"/>
                <a:cs typeface="Times New Roman" panose="02020603050405020304" pitchFamily="18" charset="0"/>
              </a:rPr>
              <a:t>)</a:t>
            </a:r>
            <a:endParaRPr lang="en-IN" sz="1800"/>
          </a:p>
        </p:txBody>
      </p:sp>
      <p:pic>
        <p:nvPicPr>
          <p:cNvPr id="6" name="Picture 5" descr="KLE Technological University in Hubballi">
            <a:extLst>
              <a:ext uri="{FF2B5EF4-FFF2-40B4-BE49-F238E27FC236}">
                <a16:creationId xmlns:a16="http://schemas.microsoft.com/office/drawing/2014/main" id="{20E0237B-422A-258F-5027-5655DD599755}"/>
              </a:ext>
            </a:extLst>
          </p:cNvPr>
          <p:cNvPicPr>
            <a:picLocks noChangeAspect="1"/>
          </p:cNvPicPr>
          <p:nvPr/>
        </p:nvPicPr>
        <p:blipFill rotWithShape="1">
          <a:blip r:embed="rId3">
            <a:extLst>
              <a:ext uri="{28A0092B-C50C-407E-A947-70E740481C1C}">
                <a14:useLocalDpi xmlns:a14="http://schemas.microsoft.com/office/drawing/2010/main" val="0"/>
              </a:ext>
            </a:extLst>
          </a:blip>
          <a:srcRect t="37713" b="37711"/>
          <a:stretch/>
        </p:blipFill>
        <p:spPr bwMode="auto">
          <a:xfrm>
            <a:off x="9544414" y="0"/>
            <a:ext cx="2647586" cy="386180"/>
          </a:xfrm>
          <a:prstGeom prst="rect">
            <a:avLst/>
          </a:prstGeom>
          <a:noFill/>
          <a:ln>
            <a:noFill/>
          </a:ln>
          <a:extLst>
            <a:ext uri="{53640926-AAD7-44D8-BBD7-CCE9431645EC}">
              <a14:shadowObscured xmlns:a14="http://schemas.microsoft.com/office/drawing/2010/main"/>
            </a:ext>
          </a:extLst>
        </p:spPr>
      </p:pic>
      <p:sp>
        <p:nvSpPr>
          <p:cNvPr id="4" name="TextBox 3">
            <a:extLst>
              <a:ext uri="{FF2B5EF4-FFF2-40B4-BE49-F238E27FC236}">
                <a16:creationId xmlns:a16="http://schemas.microsoft.com/office/drawing/2014/main" id="{D561E119-5EB1-3924-9682-D46B26586CE6}"/>
              </a:ext>
            </a:extLst>
          </p:cNvPr>
          <p:cNvSpPr txBox="1"/>
          <p:nvPr/>
        </p:nvSpPr>
        <p:spPr>
          <a:xfrm>
            <a:off x="5072817" y="7743"/>
            <a:ext cx="2310582" cy="379629"/>
          </a:xfrm>
          <a:prstGeom prst="rect">
            <a:avLst/>
          </a:prstGeom>
          <a:noFill/>
          <a:ln>
            <a:solidFill>
              <a:schemeClr val="tx1"/>
            </a:solidFill>
          </a:ln>
        </p:spPr>
        <p:txBody>
          <a:bodyPr wrap="square" lIns="91440" tIns="45720" rIns="91440" bIns="45720" rtlCol="0" anchor="t">
            <a:spAutoFit/>
          </a:bodyPr>
          <a:lstStyle/>
          <a:p>
            <a:pPr algn="ctr"/>
            <a:r>
              <a:rPr lang="en-IN" b="1">
                <a:latin typeface="Times New Roman"/>
                <a:cs typeface="Times New Roman"/>
              </a:rPr>
              <a:t>Working of SCP</a:t>
            </a:r>
            <a:endParaRPr lang="en-IN" b="1">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508C7C44-D690-1F45-724E-EBFF67E9B902}"/>
              </a:ext>
            </a:extLst>
          </p:cNvPr>
          <p:cNvSpPr txBox="1"/>
          <p:nvPr/>
        </p:nvSpPr>
        <p:spPr>
          <a:xfrm>
            <a:off x="46926" y="4146441"/>
            <a:ext cx="6181376" cy="2708434"/>
          </a:xfrm>
          <a:prstGeom prst="rect">
            <a:avLst/>
          </a:prstGeom>
          <a:solidFill>
            <a:srgbClr val="F7F2ED">
              <a:alpha val="1961"/>
            </a:srgbClr>
          </a:solidFill>
          <a:ln>
            <a:solidFill>
              <a:srgbClr val="002C00"/>
            </a:solidFill>
          </a:ln>
        </p:spPr>
        <p:txBody>
          <a:bodyPr wrap="square" lIns="91440" tIns="45720" rIns="91440" bIns="45720" rtlCol="0" anchor="t">
            <a:spAutoFit/>
          </a:bodyPr>
          <a:lstStyle/>
          <a:p>
            <a:pPr marL="285750" indent="-285750" algn="just">
              <a:buFont typeface="Wingdings"/>
              <a:buChar char="Ø"/>
            </a:pPr>
            <a:r>
              <a:rPr lang="en-IN" sz="1700">
                <a:latin typeface="Times New Roman"/>
                <a:ea typeface="+mn-lt"/>
                <a:cs typeface="+mn-lt"/>
              </a:rPr>
              <a:t>During normal operation, the load resistance is within a safe range, so the output current remains normal and the output voltage stays at a healthy level. Since no abnormal current is detected, the sensing transistor Q1 (BC547) remains OFF, allowing the pass transistor Q2(BC558) to stay ON and supply power to the load. As a result, current flows normally, the green LED (D6) glows to indicate proper operation, the green LED (D5) remains OFF, and the charger works correctly without any interruption.</a:t>
            </a:r>
            <a:endParaRPr lang="en-IN" sz="1700">
              <a:latin typeface="Times New Roman"/>
              <a:ea typeface="Calibri"/>
              <a:cs typeface="Calibri"/>
            </a:endParaRPr>
          </a:p>
          <a:p>
            <a:pPr marL="285750" indent="-285750" algn="just">
              <a:buFont typeface="Wingdings" panose="05000000000000000000" pitchFamily="2" charset="2"/>
              <a:buChar char="Ø"/>
            </a:pPr>
            <a:endParaRPr lang="en-IN" sz="1700">
              <a:latin typeface="Times New Roman"/>
              <a:ea typeface="Calibri"/>
              <a:cs typeface="Calibri"/>
            </a:endParaRPr>
          </a:p>
        </p:txBody>
      </p:sp>
      <p:pic>
        <p:nvPicPr>
          <p:cNvPr id="11" name="Picture 10" descr="A diagram of a circuit&#10;&#10;AI-generated content may be incorrect.">
            <a:extLst>
              <a:ext uri="{FF2B5EF4-FFF2-40B4-BE49-F238E27FC236}">
                <a16:creationId xmlns:a16="http://schemas.microsoft.com/office/drawing/2014/main" id="{DFDDF759-202E-F88E-C20C-C89F5AF7D97D}"/>
              </a:ext>
            </a:extLst>
          </p:cNvPr>
          <p:cNvPicPr>
            <a:picLocks noChangeAspect="1"/>
          </p:cNvPicPr>
          <p:nvPr/>
        </p:nvPicPr>
        <p:blipFill>
          <a:blip r:embed="rId4"/>
          <a:stretch>
            <a:fillRect/>
          </a:stretch>
        </p:blipFill>
        <p:spPr>
          <a:xfrm>
            <a:off x="97042" y="799027"/>
            <a:ext cx="6178379" cy="3329374"/>
          </a:xfrm>
          <a:prstGeom prst="rect">
            <a:avLst/>
          </a:prstGeom>
        </p:spPr>
      </p:pic>
      <p:sp>
        <p:nvSpPr>
          <p:cNvPr id="12" name="TextBox 11">
            <a:extLst>
              <a:ext uri="{FF2B5EF4-FFF2-40B4-BE49-F238E27FC236}">
                <a16:creationId xmlns:a16="http://schemas.microsoft.com/office/drawing/2014/main" id="{922FE379-9A05-F0E5-530B-4C937D73377E}"/>
              </a:ext>
            </a:extLst>
          </p:cNvPr>
          <p:cNvSpPr txBox="1"/>
          <p:nvPr/>
        </p:nvSpPr>
        <p:spPr>
          <a:xfrm>
            <a:off x="1128952" y="368148"/>
            <a:ext cx="3834581" cy="369332"/>
          </a:xfrm>
          <a:prstGeom prst="rect">
            <a:avLst/>
          </a:prstGeom>
          <a:noFill/>
          <a:ln>
            <a:solidFill>
              <a:schemeClr val="tx1"/>
            </a:solidFill>
          </a:ln>
        </p:spPr>
        <p:txBody>
          <a:bodyPr wrap="square" lIns="91440" tIns="45720" rIns="91440" bIns="45720" rtlCol="0" anchor="t">
            <a:spAutoFit/>
          </a:bodyPr>
          <a:lstStyle/>
          <a:p>
            <a:pPr algn="ctr"/>
            <a:r>
              <a:rPr lang="en-IN" b="1">
                <a:latin typeface="Times New Roman"/>
                <a:cs typeface="Times New Roman"/>
              </a:rPr>
              <a:t>During Normal Operation </a:t>
            </a:r>
            <a:endParaRPr lang="en-IN" b="1">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E0C7F67B-A940-57CF-43DC-9FBFE76B19C3}"/>
              </a:ext>
            </a:extLst>
          </p:cNvPr>
          <p:cNvSpPr txBox="1"/>
          <p:nvPr/>
        </p:nvSpPr>
        <p:spPr>
          <a:xfrm>
            <a:off x="7482385" y="368149"/>
            <a:ext cx="3834581" cy="369332"/>
          </a:xfrm>
          <a:prstGeom prst="rect">
            <a:avLst/>
          </a:prstGeom>
          <a:noFill/>
          <a:ln>
            <a:solidFill>
              <a:schemeClr val="tx1"/>
            </a:solidFill>
          </a:ln>
        </p:spPr>
        <p:txBody>
          <a:bodyPr wrap="square" lIns="91440" tIns="45720" rIns="91440" bIns="45720" rtlCol="0" anchor="t">
            <a:spAutoFit/>
          </a:bodyPr>
          <a:lstStyle/>
          <a:p>
            <a:pPr algn="ctr"/>
            <a:r>
              <a:rPr lang="en-IN" b="1">
                <a:latin typeface="Times New Roman"/>
                <a:cs typeface="Times New Roman"/>
              </a:rPr>
              <a:t>During Short Circuit</a:t>
            </a:r>
            <a:endParaRPr lang="en-IN" b="1">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C3E4713E-1D1D-966E-949B-E856887A27D0}"/>
              </a:ext>
            </a:extLst>
          </p:cNvPr>
          <p:cNvPicPr>
            <a:picLocks noChangeAspect="1"/>
          </p:cNvPicPr>
          <p:nvPr/>
        </p:nvPicPr>
        <p:blipFill>
          <a:blip r:embed="rId5"/>
          <a:stretch>
            <a:fillRect/>
          </a:stretch>
        </p:blipFill>
        <p:spPr>
          <a:xfrm>
            <a:off x="6322541" y="811814"/>
            <a:ext cx="5838566" cy="3329374"/>
          </a:xfrm>
          <a:prstGeom prst="rect">
            <a:avLst/>
          </a:prstGeom>
        </p:spPr>
      </p:pic>
      <p:sp>
        <p:nvSpPr>
          <p:cNvPr id="3" name="TextBox 2">
            <a:extLst>
              <a:ext uri="{FF2B5EF4-FFF2-40B4-BE49-F238E27FC236}">
                <a16:creationId xmlns:a16="http://schemas.microsoft.com/office/drawing/2014/main" id="{AC46E04B-8ED8-7220-7563-389521F1C965}"/>
              </a:ext>
            </a:extLst>
          </p:cNvPr>
          <p:cNvSpPr txBox="1"/>
          <p:nvPr/>
        </p:nvSpPr>
        <p:spPr>
          <a:xfrm>
            <a:off x="6348872" y="4146441"/>
            <a:ext cx="5810672" cy="2708434"/>
          </a:xfrm>
          <a:prstGeom prst="rect">
            <a:avLst/>
          </a:prstGeom>
          <a:solidFill>
            <a:srgbClr val="F7F2ED">
              <a:alpha val="1961"/>
            </a:srgbClr>
          </a:solidFill>
          <a:ln>
            <a:solidFill>
              <a:srgbClr val="002C00"/>
            </a:solidFill>
          </a:ln>
        </p:spPr>
        <p:txBody>
          <a:bodyPr wrap="square" lIns="91440" tIns="45720" rIns="91440" bIns="45720" rtlCol="0" anchor="t">
            <a:spAutoFit/>
          </a:bodyPr>
          <a:lstStyle/>
          <a:p>
            <a:pPr marL="285750" indent="-285750" algn="just">
              <a:buFont typeface="Wingdings"/>
              <a:buChar char="Ø"/>
            </a:pPr>
            <a:r>
              <a:rPr lang="en-IN" sz="1700">
                <a:latin typeface="Times New Roman"/>
                <a:ea typeface="+mn-lt"/>
                <a:cs typeface="+mn-lt"/>
              </a:rPr>
              <a:t>During a short-circuit condition, the load resistance becomes nearly zero, causing the output current to rise sharply and the output voltage to drop. This abnormal condition is detected by the sensing transistor Q1 (BC547), which turns ON and removes the base drive of the pass transistor Q2 (BC558), forcing it to turn OFF and disconnect the load. As a result, current flow is stopped to protect the circuit, the green LED turns OFF(D6), to indicate a fault </a:t>
            </a:r>
            <a:r>
              <a:rPr lang="en-IN" sz="1700">
                <a:latin typeface="Times New Roman"/>
                <a:ea typeface="+mn-lt"/>
                <a:cs typeface="Times New Roman"/>
              </a:rPr>
              <a:t>the LED (D5) turns ON </a:t>
            </a:r>
            <a:r>
              <a:rPr lang="en-IN" sz="1700">
                <a:latin typeface="Times New Roman"/>
                <a:ea typeface="+mn-lt"/>
                <a:cs typeface="+mn-lt"/>
              </a:rPr>
              <a:t>and the charger is safely shut down until the short circuit is removed.</a:t>
            </a:r>
            <a:endParaRPr lang="en-IN" sz="1700">
              <a:latin typeface="Times New Roman"/>
              <a:ea typeface="Calibri"/>
              <a:cs typeface="Calibri"/>
            </a:endParaRPr>
          </a:p>
        </p:txBody>
      </p:sp>
    </p:spTree>
    <p:extLst>
      <p:ext uri="{BB962C8B-B14F-4D97-AF65-F5344CB8AC3E}">
        <p14:creationId xmlns:p14="http://schemas.microsoft.com/office/powerpoint/2010/main" val="19105819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DDA99-70B3-DB99-FE04-0158F4837E4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5F10170-69C1-EDCE-BD45-B96E939515CE}"/>
              </a:ext>
            </a:extLst>
          </p:cNvPr>
          <p:cNvSpPr txBox="1"/>
          <p:nvPr/>
        </p:nvSpPr>
        <p:spPr>
          <a:xfrm>
            <a:off x="-1" y="0"/>
            <a:ext cx="3647769" cy="369332"/>
          </a:xfrm>
          <a:prstGeom prst="rect">
            <a:avLst/>
          </a:prstGeom>
          <a:solidFill>
            <a:schemeClr val="tx2">
              <a:lumMod val="20000"/>
              <a:lumOff val="80000"/>
            </a:schemeClr>
          </a:solidFill>
        </p:spPr>
        <p:txBody>
          <a:bodyPr wrap="square">
            <a:spAutoFit/>
          </a:bodyPr>
          <a:lstStyle/>
          <a:p>
            <a:r>
              <a:rPr lang="en-US" sz="1800" b="1">
                <a:latin typeface="Times New Roman" panose="02020603050405020304" pitchFamily="18" charset="0"/>
                <a:cs typeface="Times New Roman" panose="02020603050405020304" pitchFamily="18" charset="0"/>
              </a:rPr>
              <a:t>Mini Project  (</a:t>
            </a:r>
            <a:r>
              <a:rPr lang="en-IN"/>
              <a:t>23EECW301</a:t>
            </a:r>
            <a:r>
              <a:rPr lang="en-US" sz="1800" b="1">
                <a:latin typeface="Times New Roman" panose="02020603050405020304" pitchFamily="18" charset="0"/>
                <a:cs typeface="Times New Roman" panose="02020603050405020304" pitchFamily="18" charset="0"/>
              </a:rPr>
              <a:t>)</a:t>
            </a:r>
            <a:endParaRPr lang="en-IN" sz="1800"/>
          </a:p>
        </p:txBody>
      </p:sp>
      <p:pic>
        <p:nvPicPr>
          <p:cNvPr id="6" name="Picture 5" descr="KLE Technological University in Hubballi">
            <a:extLst>
              <a:ext uri="{FF2B5EF4-FFF2-40B4-BE49-F238E27FC236}">
                <a16:creationId xmlns:a16="http://schemas.microsoft.com/office/drawing/2014/main" id="{203D8F3A-DB27-FB85-0279-B1E19880C522}"/>
              </a:ext>
            </a:extLst>
          </p:cNvPr>
          <p:cNvPicPr>
            <a:picLocks noChangeAspect="1"/>
          </p:cNvPicPr>
          <p:nvPr/>
        </p:nvPicPr>
        <p:blipFill rotWithShape="1">
          <a:blip r:embed="rId2">
            <a:extLst>
              <a:ext uri="{28A0092B-C50C-407E-A947-70E740481C1C}">
                <a14:useLocalDpi xmlns:a14="http://schemas.microsoft.com/office/drawing/2010/main" val="0"/>
              </a:ext>
            </a:extLst>
          </a:blip>
          <a:srcRect t="37713" b="37711"/>
          <a:stretch/>
        </p:blipFill>
        <p:spPr bwMode="auto">
          <a:xfrm>
            <a:off x="9544414" y="0"/>
            <a:ext cx="2647586" cy="375882"/>
          </a:xfrm>
          <a:prstGeom prst="rect">
            <a:avLst/>
          </a:prstGeom>
          <a:noFill/>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C01F12D-1F63-34D4-3D52-0B0F2608D20A}"/>
                  </a:ext>
                </a:extLst>
              </p:cNvPr>
              <p:cNvSpPr txBox="1"/>
              <p:nvPr/>
            </p:nvSpPr>
            <p:spPr>
              <a:xfrm>
                <a:off x="0" y="766732"/>
                <a:ext cx="6112354" cy="5961440"/>
              </a:xfrm>
              <a:prstGeom prst="rect">
                <a:avLst/>
              </a:prstGeom>
              <a:solidFill>
                <a:srgbClr val="F7F2ED">
                  <a:alpha val="1961"/>
                </a:srgbClr>
              </a:solidFill>
              <a:ln>
                <a:solidFill>
                  <a:srgbClr val="002C00"/>
                </a:solidFill>
              </a:ln>
            </p:spPr>
            <p:txBody>
              <a:bodyPr wrap="square" lIns="91440" tIns="45720" rIns="91440" bIns="45720" rtlCol="0" anchor="t">
                <a:spAutoFit/>
              </a:bodyPr>
              <a:lstStyle/>
              <a:p>
                <a:pPr marL="285750" indent="-285750" algn="just">
                  <a:buFont typeface="Wingdings" panose="05000000000000000000" pitchFamily="2" charset="2"/>
                  <a:buChar char="Ø"/>
                </a:pPr>
                <a:r>
                  <a:rPr lang="en-IN" sz="1700" dirty="0">
                    <a:latin typeface="Times New Roman"/>
                    <a:ea typeface="+mn-lt"/>
                    <a:cs typeface="+mn-lt"/>
                  </a:rPr>
                  <a:t>R8 </a:t>
                </a:r>
                <a:r>
                  <a:rPr lang="en-IN" sz="1700">
                    <a:latin typeface="Times New Roman"/>
                    <a:ea typeface="+mn-lt"/>
                    <a:cs typeface="+mn-lt"/>
                  </a:rPr>
                  <a:t>= 150 Ω </a:t>
                </a:r>
                <a:endParaRPr lang="en-US">
                  <a:ea typeface="Calibri" panose="020F0502020204030204"/>
                  <a:cs typeface="Calibri" panose="020F0502020204030204"/>
                </a:endParaRPr>
              </a:p>
              <a:p>
                <a:pPr algn="just"/>
                <a:r>
                  <a:rPr lang="en-IN" sz="1700">
                    <a:latin typeface="Times New Roman"/>
                    <a:ea typeface="+mn-lt"/>
                    <a:cs typeface="+mn-lt"/>
                  </a:rPr>
                  <a:t>LED forward voltage ≈ 2 V</a:t>
                </a:r>
                <a:endParaRPr lang="en-IN">
                  <a:latin typeface="Times New Roman"/>
                  <a:ea typeface="Calibri" panose="020F0502020204030204"/>
                  <a:cs typeface="Calibri" panose="020F0502020204030204"/>
                </a:endParaRPr>
              </a:p>
              <a:p>
                <a:pPr algn="just"/>
                <a:r>
                  <a:rPr lang="en-IN" sz="1700">
                    <a:latin typeface="Times New Roman"/>
                    <a:ea typeface="+mn-lt"/>
                    <a:cs typeface="+mn-lt"/>
                  </a:rPr>
                  <a:t>Desired LED current ≈ 10–15 mA</a:t>
                </a:r>
                <a:endParaRPr lang="en-IN">
                  <a:latin typeface="Times New Roman"/>
                  <a:ea typeface="Calibri" panose="020F0502020204030204"/>
                  <a:cs typeface="Calibri" panose="020F0502020204030204"/>
                </a:endParaRPr>
              </a:p>
              <a:p>
                <a:pPr algn="just"/>
                <a:endParaRPr lang="en-IN" sz="1700">
                  <a:latin typeface="Calibri"/>
                  <a:ea typeface="Calibri"/>
                  <a:cs typeface="Calibri"/>
                </a:endParaRPr>
              </a:p>
              <a:p>
                <a:pPr algn="just"/>
                <a:r>
                  <a:rPr lang="en-IN" sz="1700">
                    <a:latin typeface="Calibri"/>
                    <a:ea typeface="Calibri"/>
                    <a:cs typeface="Calibri"/>
                  </a:rPr>
                  <a:t>                 </a:t>
                </a:r>
                <a14:m>
                  <m:oMath xmlns:m="http://schemas.openxmlformats.org/officeDocument/2006/math">
                    <m:r>
                      <a:rPr lang="en-IN" sz="1700" b="0" i="1" smtClean="0">
                        <a:latin typeface="Cambria Math" panose="02040503050406030204" pitchFamily="18" charset="0"/>
                        <a:ea typeface="Calibri"/>
                        <a:cs typeface="Calibri"/>
                      </a:rPr>
                      <m:t>𝑅</m:t>
                    </m:r>
                    <m:r>
                      <a:rPr lang="en-IN" sz="1700" b="0" i="1" smtClean="0">
                        <a:latin typeface="Cambria Math" panose="02040503050406030204" pitchFamily="18" charset="0"/>
                        <a:ea typeface="Calibri"/>
                        <a:cs typeface="Calibri"/>
                      </a:rPr>
                      <m:t>= </m:t>
                    </m:r>
                    <m:f>
                      <m:fPr>
                        <m:ctrlPr>
                          <a:rPr lang="en-IN" sz="1700" b="0" i="1" smtClean="0">
                            <a:latin typeface="Cambria Math" panose="02040503050406030204" pitchFamily="18" charset="0"/>
                            <a:ea typeface="Calibri"/>
                            <a:cs typeface="Calibri"/>
                          </a:rPr>
                        </m:ctrlPr>
                      </m:fPr>
                      <m:num>
                        <m:r>
                          <a:rPr lang="en-IN" sz="1700" b="0" i="1" smtClean="0">
                            <a:latin typeface="Cambria Math" panose="02040503050406030204" pitchFamily="18" charset="0"/>
                            <a:ea typeface="Calibri"/>
                            <a:cs typeface="Calibri"/>
                          </a:rPr>
                          <m:t>5</m:t>
                        </m:r>
                        <m:r>
                          <a:rPr lang="en-IN" sz="1700" b="0" i="1" smtClean="0">
                            <a:latin typeface="Cambria Math" panose="02040503050406030204" pitchFamily="18" charset="0"/>
                            <a:ea typeface="Calibri"/>
                            <a:cs typeface="Calibri"/>
                          </a:rPr>
                          <m:t>𝑉</m:t>
                        </m:r>
                        <m:r>
                          <a:rPr lang="en-IN" sz="1700" b="0" i="1" smtClean="0">
                            <a:latin typeface="Cambria Math" panose="02040503050406030204" pitchFamily="18" charset="0"/>
                            <a:ea typeface="Calibri"/>
                            <a:cs typeface="Calibri"/>
                          </a:rPr>
                          <m:t> −2</m:t>
                        </m:r>
                        <m:r>
                          <a:rPr lang="en-IN" sz="1700" b="0" i="1" smtClean="0">
                            <a:latin typeface="Cambria Math" panose="02040503050406030204" pitchFamily="18" charset="0"/>
                            <a:ea typeface="Calibri"/>
                            <a:cs typeface="Calibri"/>
                          </a:rPr>
                          <m:t>𝑉</m:t>
                        </m:r>
                      </m:num>
                      <m:den>
                        <m:r>
                          <a:rPr lang="en-IN" sz="1700" b="0" i="1" smtClean="0">
                            <a:latin typeface="Cambria Math" panose="02040503050406030204" pitchFamily="18" charset="0"/>
                            <a:ea typeface="Calibri"/>
                            <a:cs typeface="Calibri"/>
                          </a:rPr>
                          <m:t>15</m:t>
                        </m:r>
                        <m:r>
                          <a:rPr lang="en-IN" sz="1700" b="0" i="1" smtClean="0">
                            <a:latin typeface="Cambria Math" panose="02040503050406030204" pitchFamily="18" charset="0"/>
                            <a:ea typeface="Calibri"/>
                            <a:cs typeface="Calibri"/>
                          </a:rPr>
                          <m:t>𝑚𝐴</m:t>
                        </m:r>
                      </m:den>
                    </m:f>
                    <m:r>
                      <a:rPr lang="en-IN" sz="1700" b="0" i="1" smtClean="0">
                        <a:latin typeface="Cambria Math" panose="02040503050406030204" pitchFamily="18" charset="0"/>
                        <a:ea typeface="Calibri"/>
                        <a:cs typeface="Calibri"/>
                      </a:rPr>
                      <m:t>=200</m:t>
                    </m:r>
                    <m:r>
                      <m:rPr>
                        <m:sty m:val="p"/>
                      </m:rPr>
                      <a:rPr lang="el-GR" sz="1700" b="0" i="1" smtClean="0">
                        <a:latin typeface="Cambria Math" panose="02040503050406030204" pitchFamily="18" charset="0"/>
                        <a:ea typeface="Cambria Math" panose="02040503050406030204" pitchFamily="18" charset="0"/>
                        <a:cs typeface="Calibri"/>
                      </a:rPr>
                      <m:t>Ω</m:t>
                    </m:r>
                    <m:r>
                      <a:rPr lang="en-IN" sz="1700" b="0" i="1" smtClean="0">
                        <a:latin typeface="Cambria Math" panose="02040503050406030204" pitchFamily="18" charset="0"/>
                        <a:ea typeface="Cambria Math" panose="02040503050406030204" pitchFamily="18" charset="0"/>
                        <a:cs typeface="Calibri"/>
                      </a:rPr>
                      <m:t> ≈150</m:t>
                    </m:r>
                    <m:r>
                      <m:rPr>
                        <m:sty m:val="p"/>
                      </m:rPr>
                      <a:rPr lang="el-GR" sz="1700" b="0" i="1" smtClean="0">
                        <a:latin typeface="Cambria Math" panose="02040503050406030204" pitchFamily="18" charset="0"/>
                        <a:ea typeface="Cambria Math" panose="02040503050406030204" pitchFamily="18" charset="0"/>
                        <a:cs typeface="Calibri"/>
                      </a:rPr>
                      <m:t>Ω</m:t>
                    </m:r>
                  </m:oMath>
                </a14:m>
                <a:endParaRPr lang="en-IN" sz="1700">
                  <a:latin typeface="Calibri"/>
                  <a:ea typeface="Calibri"/>
                  <a:cs typeface="Calibri"/>
                </a:endParaRPr>
              </a:p>
              <a:p>
                <a:pPr algn="just"/>
                <a:endParaRPr lang="en-IN" sz="1700">
                  <a:latin typeface="Calibri"/>
                  <a:ea typeface="Calibri"/>
                  <a:cs typeface="Calibri"/>
                </a:endParaRPr>
              </a:p>
              <a:p>
                <a:pPr marL="285750" indent="-285750" algn="just">
                  <a:buFont typeface="Wingdings"/>
                  <a:buChar char="Ø"/>
                </a:pPr>
                <a:r>
                  <a:rPr lang="en-IN" sz="1700">
                    <a:latin typeface="Times New Roman"/>
                    <a:ea typeface="Calibri"/>
                    <a:cs typeface="Calibri"/>
                  </a:rPr>
                  <a:t>Coupling resistors </a:t>
                </a:r>
                <a:r>
                  <a:rPr lang="en-IN" sz="1700" dirty="0">
                    <a:latin typeface="Times New Roman"/>
                    <a:ea typeface="Calibri"/>
                    <a:cs typeface="Calibri"/>
                  </a:rPr>
                  <a:t>R6=330</a:t>
                </a:r>
                <a:r>
                  <a:rPr lang="en-IN" sz="1700" dirty="0">
                    <a:latin typeface="Times New Roman"/>
                    <a:ea typeface="Calibri"/>
                    <a:cs typeface="Times New Roman"/>
                  </a:rPr>
                  <a:t>Ω </a:t>
                </a:r>
                <a:endParaRPr lang="en-IN" sz="1700">
                  <a:latin typeface="Times New Roman"/>
                  <a:ea typeface="Calibri"/>
                  <a:cs typeface="Times New Roman"/>
                </a:endParaRPr>
              </a:p>
              <a:p>
                <a:pPr algn="just"/>
                <a:r>
                  <a:rPr lang="en-IN" sz="1700">
                    <a:latin typeface="Times New Roman"/>
                    <a:ea typeface="Calibri"/>
                    <a:cs typeface="Times New Roman"/>
                  </a:rPr>
                  <a:t>For NPN transistor </a:t>
                </a:r>
              </a:p>
              <a:p>
                <a:pPr algn="just"/>
                <a:r>
                  <a:rPr lang="en-IN" sz="1700">
                    <a:latin typeface="Times New Roman"/>
                    <a:ea typeface="Calibri"/>
                    <a:cs typeface="Times New Roman"/>
                  </a:rPr>
                  <a:t>   </a:t>
                </a:r>
                <a:r>
                  <a:rPr lang="en-IN" sz="1700">
                    <a:latin typeface="Times New Roman"/>
                    <a:ea typeface="+mn-lt"/>
                    <a:cs typeface="+mn-lt"/>
                  </a:rPr>
                  <a:t>IC =β×IB </a:t>
                </a:r>
                <a:endParaRPr lang="en-IN" sz="1700">
                  <a:latin typeface="Times New Roman"/>
                  <a:ea typeface="Calibri"/>
                  <a:cs typeface="Calibri"/>
                </a:endParaRPr>
              </a:p>
              <a:p>
                <a:pPr algn="just"/>
                <a:r>
                  <a:rPr lang="en-IN" sz="1700">
                    <a:latin typeface="Times New Roman"/>
                    <a:ea typeface="Calibri"/>
                    <a:cs typeface="Calibri"/>
                  </a:rPr>
                  <a:t>  </a:t>
                </a:r>
                <a:r>
                  <a:rPr lang="en-IN" sz="1700">
                    <a:latin typeface="Times New Roman"/>
                    <a:ea typeface="Calibri"/>
                    <a:cs typeface="Times New Roman"/>
                  </a:rPr>
                  <a:t>IC = </a:t>
                </a:r>
                <a:r>
                  <a:rPr lang="en-IN" sz="1700">
                    <a:latin typeface="Times New Roman"/>
                    <a:ea typeface="+mn-lt"/>
                    <a:cs typeface="+mn-lt"/>
                  </a:rPr>
                  <a:t>collector current (100mA –from datasheet)</a:t>
                </a:r>
                <a:endParaRPr lang="en-IN" sz="1700">
                  <a:latin typeface="Times New Roman"/>
                  <a:ea typeface="Calibri"/>
                  <a:cs typeface="Calibri"/>
                </a:endParaRPr>
              </a:p>
              <a:p>
                <a:pPr algn="just"/>
                <a:r>
                  <a:rPr lang="en-IN" sz="1700">
                    <a:latin typeface="Times New Roman"/>
                    <a:ea typeface="Calibri"/>
                    <a:cs typeface="Times New Roman"/>
                  </a:rPr>
                  <a:t>  βforced= 10 (chosen value)</a:t>
                </a:r>
                <a:endParaRPr lang="en-IN" sz="1700">
                  <a:latin typeface="Times New Roman"/>
                  <a:ea typeface="Calibri"/>
                  <a:cs typeface="Calibri"/>
                </a:endParaRPr>
              </a:p>
              <a:p>
                <a:pPr algn="just"/>
                <a:r>
                  <a:rPr lang="en-IN" sz="1700">
                    <a:latin typeface="Times New Roman"/>
                    <a:ea typeface="Calibri"/>
                    <a:cs typeface="Times New Roman"/>
                  </a:rPr>
                  <a:t>  IB =Base current </a:t>
                </a:r>
              </a:p>
              <a:p>
                <a:pPr algn="just"/>
                <a:r>
                  <a:rPr lang="en-IN" sz="1700">
                    <a:latin typeface="Times New Roman"/>
                    <a:ea typeface="Calibri"/>
                    <a:cs typeface="Times New Roman"/>
                  </a:rPr>
                  <a:t>                       IB=100mA/10=10mA</a:t>
                </a:r>
              </a:p>
              <a:p>
                <a:pPr algn="just"/>
                <a:r>
                  <a:rPr lang="en-IN" sz="1700">
                    <a:latin typeface="Times New Roman"/>
                    <a:ea typeface="Calibri"/>
                    <a:cs typeface="Times New Roman"/>
                  </a:rPr>
                  <a:t>          </a:t>
                </a:r>
                <a:r>
                  <a:rPr lang="en-IN" sz="1700">
                    <a:latin typeface="Times New Roman"/>
                    <a:ea typeface="+mn-lt"/>
                    <a:cs typeface="Times New Roman"/>
                  </a:rPr>
                  <a:t>            </a:t>
                </a:r>
                <a:r>
                  <a:rPr lang="en-IN" sz="1700">
                    <a:latin typeface="Times New Roman"/>
                    <a:ea typeface="+mn-lt"/>
                    <a:cs typeface="+mn-lt"/>
                  </a:rPr>
                  <a:t>VR2=V(supply) −VBE </a:t>
                </a:r>
                <a:endParaRPr lang="en-IN" sz="1700">
                  <a:latin typeface="Times New Roman"/>
                  <a:ea typeface="Calibri"/>
                  <a:cs typeface="Times New Roman"/>
                </a:endParaRPr>
              </a:p>
              <a:p>
                <a:pPr algn="just"/>
                <a:r>
                  <a:rPr lang="en-IN" sz="1700">
                    <a:latin typeface="Times New Roman"/>
                    <a:ea typeface="Calibri"/>
                    <a:cs typeface="Times New Roman"/>
                  </a:rPr>
                  <a:t>                       </a:t>
                </a:r>
                <a:r>
                  <a:rPr lang="en-IN" sz="1700">
                    <a:latin typeface="Times New Roman"/>
                    <a:ea typeface="+mn-lt"/>
                    <a:cs typeface="Times New Roman"/>
                  </a:rPr>
                  <a:t>        </a:t>
                </a:r>
                <a:r>
                  <a:rPr lang="en-IN" sz="1700">
                    <a:ea typeface="+mn-lt"/>
                    <a:cs typeface="+mn-lt"/>
                  </a:rPr>
                  <a:t>=5−0.7</a:t>
                </a:r>
                <a:endParaRPr lang="en-IN" sz="1700">
                  <a:latin typeface="Times New Roman"/>
                  <a:ea typeface="Calibri"/>
                  <a:cs typeface="Calibri"/>
                </a:endParaRPr>
              </a:p>
              <a:p>
                <a:pPr algn="just"/>
                <a:r>
                  <a:rPr lang="en-IN" sz="1700">
                    <a:latin typeface="Times New Roman"/>
                    <a:ea typeface="Calibri"/>
                    <a:cs typeface="Times New Roman"/>
                  </a:rPr>
                  <a:t>                            VR2</a:t>
                </a:r>
                <a:r>
                  <a:rPr lang="en-IN" sz="1700">
                    <a:latin typeface="Calibri"/>
                    <a:ea typeface="Calibri"/>
                    <a:cs typeface="Calibri"/>
                  </a:rPr>
                  <a:t>= 4.3</a:t>
                </a:r>
                <a:endParaRPr lang="en-IN"/>
              </a:p>
              <a:p>
                <a:pPr algn="just"/>
                <a:r>
                  <a:rPr lang="en-IN" sz="1700">
                    <a:latin typeface="Calibri"/>
                    <a:ea typeface="Calibri"/>
                    <a:cs typeface="Calibri"/>
                  </a:rPr>
                  <a:t>                      R=v/I =430 </a:t>
                </a:r>
                <a:r>
                  <a:rPr lang="en-IN" sz="1700">
                    <a:latin typeface="Times New Roman"/>
                    <a:ea typeface="Calibri"/>
                    <a:cs typeface="Times New Roman"/>
                  </a:rPr>
                  <a:t>Ω  ≈ 330Ω</a:t>
                </a:r>
              </a:p>
              <a:p>
                <a:pPr marL="285750" indent="-285750" algn="just">
                  <a:buFont typeface="Wingdings"/>
                  <a:buChar char="Ø"/>
                </a:pPr>
                <a:r>
                  <a:rPr lang="en-IN" sz="1700" dirty="0">
                    <a:latin typeface="Times New Roman"/>
                    <a:ea typeface="Calibri"/>
                    <a:cs typeface="Times New Roman"/>
                  </a:rPr>
                  <a:t>R7=10kΩ</a:t>
                </a:r>
                <a:r>
                  <a:rPr lang="en-IN" sz="1700">
                    <a:latin typeface="Times New Roman"/>
                    <a:ea typeface="Calibri"/>
                    <a:cs typeface="Times New Roman"/>
                  </a:rPr>
                  <a:t>  </a:t>
                </a:r>
              </a:p>
              <a:p>
                <a:pPr algn="just"/>
                <a:r>
                  <a:rPr lang="en-IN" sz="1700">
                    <a:latin typeface="Times New Roman"/>
                    <a:ea typeface="Calibri"/>
                    <a:cs typeface="Times New Roman"/>
                  </a:rPr>
                  <a:t> According to the thumb rule the standard pull down resistor value is 10k.</a:t>
                </a:r>
              </a:p>
              <a:p>
                <a:pPr algn="just"/>
                <a:endParaRPr lang="en-IN" sz="1700">
                  <a:latin typeface="Times New Roman"/>
                  <a:ea typeface="Calibri"/>
                  <a:cs typeface="Times New Roman"/>
                </a:endParaRPr>
              </a:p>
              <a:p>
                <a:pPr algn="just"/>
                <a:endParaRPr lang="en-IN" sz="1700">
                  <a:latin typeface="Times New Roman"/>
                  <a:ea typeface="Calibri"/>
                  <a:cs typeface="Times New Roman"/>
                </a:endParaRPr>
              </a:p>
            </p:txBody>
          </p:sp>
        </mc:Choice>
        <mc:Fallback xmlns="">
          <p:sp>
            <p:nvSpPr>
              <p:cNvPr id="4" name="TextBox 3">
                <a:extLst>
                  <a:ext uri="{FF2B5EF4-FFF2-40B4-BE49-F238E27FC236}">
                    <a16:creationId xmlns:a16="http://schemas.microsoft.com/office/drawing/2014/main" id="{4C01F12D-1F63-34D4-3D52-0B0F2608D20A}"/>
                  </a:ext>
                </a:extLst>
              </p:cNvPr>
              <p:cNvSpPr txBox="1">
                <a:spLocks noRot="1" noChangeAspect="1" noMove="1" noResize="1" noEditPoints="1" noAdjustHandles="1" noChangeArrowheads="1" noChangeShapeType="1" noTextEdit="1"/>
              </p:cNvSpPr>
              <p:nvPr/>
            </p:nvSpPr>
            <p:spPr>
              <a:xfrm>
                <a:off x="0" y="766732"/>
                <a:ext cx="6112354" cy="5961440"/>
              </a:xfrm>
              <a:prstGeom prst="rect">
                <a:avLst/>
              </a:prstGeom>
              <a:blipFill>
                <a:blip r:embed="rId3"/>
                <a:stretch>
                  <a:fillRect l="-498" t="-306" r="-498"/>
                </a:stretch>
              </a:blipFill>
              <a:ln>
                <a:solidFill>
                  <a:srgbClr val="002C00"/>
                </a:solidFill>
              </a:ln>
            </p:spPr>
            <p:txBody>
              <a:bodyPr/>
              <a:lstStyle/>
              <a:p>
                <a:r>
                  <a:rPr lang="en-US">
                    <a:noFill/>
                  </a:rPr>
                  <a:t> </a:t>
                </a:r>
              </a:p>
            </p:txBody>
          </p:sp>
        </mc:Fallback>
      </mc:AlternateContent>
      <p:sp>
        <p:nvSpPr>
          <p:cNvPr id="8" name="TextBox 7">
            <a:extLst>
              <a:ext uri="{FF2B5EF4-FFF2-40B4-BE49-F238E27FC236}">
                <a16:creationId xmlns:a16="http://schemas.microsoft.com/office/drawing/2014/main" id="{31954B70-E0D5-03BD-AF0D-0F4E0A6B76EC}"/>
              </a:ext>
            </a:extLst>
          </p:cNvPr>
          <p:cNvSpPr txBox="1"/>
          <p:nvPr/>
        </p:nvSpPr>
        <p:spPr>
          <a:xfrm>
            <a:off x="5083115" y="-2555"/>
            <a:ext cx="2743068" cy="369332"/>
          </a:xfrm>
          <a:prstGeom prst="rect">
            <a:avLst/>
          </a:prstGeom>
          <a:noFill/>
          <a:ln>
            <a:solidFill>
              <a:schemeClr val="tx1"/>
            </a:solidFill>
          </a:ln>
        </p:spPr>
        <p:txBody>
          <a:bodyPr wrap="square" lIns="91440" tIns="45720" rIns="91440" bIns="45720" rtlCol="0" anchor="t">
            <a:spAutoFit/>
          </a:bodyPr>
          <a:lstStyle/>
          <a:p>
            <a:pPr algn="ctr"/>
            <a:r>
              <a:rPr lang="en-IN" b="1">
                <a:latin typeface="Times New Roman"/>
                <a:cs typeface="Times New Roman"/>
              </a:rPr>
              <a:t>Component Sizing </a:t>
            </a:r>
            <a:endParaRPr lang="en-IN" b="1">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2B15874-6417-D496-1D6A-8934E0552A1B}"/>
                  </a:ext>
                </a:extLst>
              </p:cNvPr>
              <p:cNvSpPr txBox="1"/>
              <p:nvPr/>
            </p:nvSpPr>
            <p:spPr>
              <a:xfrm>
                <a:off x="6247791" y="777030"/>
                <a:ext cx="5769481" cy="5821337"/>
              </a:xfrm>
              <a:prstGeom prst="rect">
                <a:avLst/>
              </a:prstGeom>
              <a:solidFill>
                <a:srgbClr val="F7F2ED">
                  <a:alpha val="1961"/>
                </a:srgbClr>
              </a:solidFill>
              <a:ln>
                <a:solidFill>
                  <a:srgbClr val="002C00"/>
                </a:solidFill>
              </a:ln>
            </p:spPr>
            <p:txBody>
              <a:bodyPr wrap="square" lIns="91440" tIns="45720" rIns="91440" bIns="45720" rtlCol="0" anchor="t">
                <a:spAutoFit/>
              </a:bodyPr>
              <a:lstStyle/>
              <a:p>
                <a:pPr marL="285750" indent="-285750" algn="just">
                  <a:buFont typeface="Wingdings"/>
                  <a:buChar char="Ø"/>
                </a:pPr>
                <a:r>
                  <a:rPr lang="en-IN" sz="1700" dirty="0">
                    <a:latin typeface="Times New Roman"/>
                    <a:ea typeface="Calibri"/>
                    <a:cs typeface="Calibri"/>
                  </a:rPr>
                  <a:t>R9=330</a:t>
                </a:r>
                <a:r>
                  <a:rPr lang="en-IN" sz="1700" dirty="0">
                    <a:latin typeface="Times New Roman"/>
                    <a:ea typeface="Calibri"/>
                    <a:cs typeface="Times New Roman"/>
                  </a:rPr>
                  <a:t>Ω </a:t>
                </a:r>
                <a:endParaRPr lang="en-IN" sz="1700">
                  <a:latin typeface="Times New Roman"/>
                  <a:ea typeface="Calibri"/>
                  <a:cs typeface="Times New Roman"/>
                </a:endParaRPr>
              </a:p>
              <a:p>
                <a:pPr algn="just"/>
                <a:r>
                  <a:rPr lang="en-IN" sz="1700">
                    <a:latin typeface="Times New Roman"/>
                    <a:ea typeface="Calibri"/>
                    <a:cs typeface="Times New Roman"/>
                  </a:rPr>
                  <a:t>LED forward voltage ≈ 2 V</a:t>
                </a:r>
              </a:p>
              <a:p>
                <a:pPr algn="just"/>
                <a:r>
                  <a:rPr lang="en-IN" sz="1700">
                    <a:latin typeface="Times New Roman"/>
                    <a:ea typeface="Calibri"/>
                    <a:cs typeface="Times New Roman"/>
                  </a:rPr>
                  <a:t>Desired LED current ≈ 10–15 mA</a:t>
                </a:r>
              </a:p>
              <a:p>
                <a:pPr algn="just"/>
                <a:endParaRPr lang="en-IN" sz="1700">
                  <a:latin typeface="Calibri"/>
                  <a:ea typeface="Calibri"/>
                  <a:cs typeface="Calibri"/>
                </a:endParaRPr>
              </a:p>
              <a:p>
                <a:pPr algn="just"/>
                <a14:m>
                  <m:oMathPara xmlns:m="http://schemas.openxmlformats.org/officeDocument/2006/math">
                    <m:oMathParaPr>
                      <m:jc m:val="centerGroup"/>
                    </m:oMathParaPr>
                    <m:oMath xmlns:m="http://schemas.openxmlformats.org/officeDocument/2006/math">
                      <m:r>
                        <a:rPr lang="en-IN" sz="1700" i="1">
                          <a:latin typeface="Cambria Math" panose="02040503050406030204" pitchFamily="18" charset="0"/>
                          <a:ea typeface="Calibri"/>
                          <a:cs typeface="Calibri"/>
                        </a:rPr>
                        <m:t>𝑅</m:t>
                      </m:r>
                      <m:r>
                        <a:rPr lang="en-IN" sz="1700" i="1">
                          <a:latin typeface="Cambria Math" panose="02040503050406030204" pitchFamily="18" charset="0"/>
                          <a:ea typeface="Calibri"/>
                          <a:cs typeface="Calibri"/>
                        </a:rPr>
                        <m:t>= </m:t>
                      </m:r>
                      <m:f>
                        <m:fPr>
                          <m:ctrlPr>
                            <a:rPr lang="en-IN" sz="1700" i="1">
                              <a:latin typeface="Cambria Math" panose="02040503050406030204" pitchFamily="18" charset="0"/>
                              <a:ea typeface="Calibri"/>
                              <a:cs typeface="Calibri"/>
                            </a:rPr>
                          </m:ctrlPr>
                        </m:fPr>
                        <m:num>
                          <m:r>
                            <a:rPr lang="en-IN" sz="1700" i="1">
                              <a:latin typeface="Cambria Math" panose="02040503050406030204" pitchFamily="18" charset="0"/>
                              <a:ea typeface="Calibri"/>
                              <a:cs typeface="Calibri"/>
                            </a:rPr>
                            <m:t>5</m:t>
                          </m:r>
                          <m:r>
                            <a:rPr lang="en-IN" sz="1700" i="1">
                              <a:latin typeface="Cambria Math" panose="02040503050406030204" pitchFamily="18" charset="0"/>
                              <a:ea typeface="Calibri"/>
                              <a:cs typeface="Calibri"/>
                            </a:rPr>
                            <m:t>𝑉</m:t>
                          </m:r>
                          <m:r>
                            <a:rPr lang="en-IN" sz="1700" i="1">
                              <a:latin typeface="Cambria Math" panose="02040503050406030204" pitchFamily="18" charset="0"/>
                              <a:ea typeface="Calibri"/>
                              <a:cs typeface="Calibri"/>
                            </a:rPr>
                            <m:t> −2</m:t>
                          </m:r>
                          <m:r>
                            <a:rPr lang="en-IN" sz="1700" i="1">
                              <a:latin typeface="Cambria Math" panose="02040503050406030204" pitchFamily="18" charset="0"/>
                              <a:ea typeface="Calibri"/>
                              <a:cs typeface="Calibri"/>
                            </a:rPr>
                            <m:t>𝑉</m:t>
                          </m:r>
                        </m:num>
                        <m:den>
                          <m:r>
                            <a:rPr lang="en-IN" sz="1700" i="1">
                              <a:latin typeface="Cambria Math" panose="02040503050406030204" pitchFamily="18" charset="0"/>
                              <a:ea typeface="Calibri"/>
                              <a:cs typeface="Calibri"/>
                            </a:rPr>
                            <m:t>1</m:t>
                          </m:r>
                          <m:r>
                            <a:rPr lang="en-IN" sz="1700" b="0" i="1" smtClean="0">
                              <a:latin typeface="Cambria Math" panose="02040503050406030204" pitchFamily="18" charset="0"/>
                              <a:ea typeface="Calibri"/>
                              <a:cs typeface="Calibri"/>
                            </a:rPr>
                            <m:t>0</m:t>
                          </m:r>
                          <m:r>
                            <a:rPr lang="en-IN" sz="1700" i="1">
                              <a:latin typeface="Cambria Math" panose="02040503050406030204" pitchFamily="18" charset="0"/>
                              <a:ea typeface="Calibri"/>
                              <a:cs typeface="Calibri"/>
                            </a:rPr>
                            <m:t>𝑚𝐴</m:t>
                          </m:r>
                        </m:den>
                      </m:f>
                      <m:r>
                        <a:rPr lang="en-IN" sz="1700" i="1">
                          <a:latin typeface="Cambria Math" panose="02040503050406030204" pitchFamily="18" charset="0"/>
                          <a:ea typeface="Calibri"/>
                          <a:cs typeface="Calibri"/>
                        </a:rPr>
                        <m:t>=</m:t>
                      </m:r>
                      <m:r>
                        <a:rPr lang="en-IN" sz="1700" b="0" i="1" smtClean="0">
                          <a:latin typeface="Cambria Math" panose="02040503050406030204" pitchFamily="18" charset="0"/>
                          <a:ea typeface="Calibri"/>
                          <a:cs typeface="Calibri"/>
                        </a:rPr>
                        <m:t>3</m:t>
                      </m:r>
                      <m:r>
                        <a:rPr lang="en-IN" sz="1700" i="1">
                          <a:latin typeface="Cambria Math" panose="02040503050406030204" pitchFamily="18" charset="0"/>
                          <a:ea typeface="Calibri"/>
                          <a:cs typeface="Calibri"/>
                        </a:rPr>
                        <m:t>00</m:t>
                      </m:r>
                      <m:r>
                        <m:rPr>
                          <m:sty m:val="p"/>
                        </m:rPr>
                        <a:rPr lang="el-GR" sz="1700" i="1">
                          <a:latin typeface="Cambria Math" panose="02040503050406030204" pitchFamily="18" charset="0"/>
                          <a:ea typeface="Cambria Math" panose="02040503050406030204" pitchFamily="18" charset="0"/>
                          <a:cs typeface="Calibri"/>
                        </a:rPr>
                        <m:t>Ω</m:t>
                      </m:r>
                      <m:r>
                        <a:rPr lang="en-IN" sz="1700" i="1">
                          <a:latin typeface="Cambria Math" panose="02040503050406030204" pitchFamily="18" charset="0"/>
                          <a:ea typeface="Cambria Math" panose="02040503050406030204" pitchFamily="18" charset="0"/>
                          <a:cs typeface="Calibri"/>
                        </a:rPr>
                        <m:t> ≈</m:t>
                      </m:r>
                      <m:r>
                        <a:rPr lang="en-IN" sz="1700" b="0" i="1" smtClean="0">
                          <a:latin typeface="Cambria Math" panose="02040503050406030204" pitchFamily="18" charset="0"/>
                          <a:ea typeface="Cambria Math" panose="02040503050406030204" pitchFamily="18" charset="0"/>
                          <a:cs typeface="Calibri"/>
                        </a:rPr>
                        <m:t>33</m:t>
                      </m:r>
                      <m:r>
                        <a:rPr lang="en-IN" sz="1700" i="1">
                          <a:latin typeface="Cambria Math" panose="02040503050406030204" pitchFamily="18" charset="0"/>
                          <a:ea typeface="Cambria Math" panose="02040503050406030204" pitchFamily="18" charset="0"/>
                          <a:cs typeface="Calibri"/>
                        </a:rPr>
                        <m:t>0</m:t>
                      </m:r>
                      <m:r>
                        <m:rPr>
                          <m:sty m:val="p"/>
                        </m:rPr>
                        <a:rPr lang="el-GR" sz="1700" i="1">
                          <a:latin typeface="Cambria Math" panose="02040503050406030204" pitchFamily="18" charset="0"/>
                          <a:ea typeface="Cambria Math" panose="02040503050406030204" pitchFamily="18" charset="0"/>
                          <a:cs typeface="Calibri"/>
                        </a:rPr>
                        <m:t>Ω</m:t>
                      </m:r>
                    </m:oMath>
                  </m:oMathPara>
                </a14:m>
                <a:endParaRPr lang="en-IN" sz="1700">
                  <a:latin typeface="Calibri"/>
                  <a:ea typeface="Calibri"/>
                  <a:cs typeface="Calibri"/>
                </a:endParaRPr>
              </a:p>
              <a:p>
                <a:pPr algn="just"/>
                <a:endParaRPr lang="en-IN" sz="1700">
                  <a:latin typeface="Calibri"/>
                  <a:ea typeface="Calibri"/>
                  <a:cs typeface="Calibri"/>
                </a:endParaRPr>
              </a:p>
              <a:p>
                <a:pPr marL="285750" indent="-285750" algn="just">
                  <a:buFont typeface="Wingdings"/>
                  <a:buChar char="Ø"/>
                </a:pPr>
                <a:r>
                  <a:rPr lang="en-IN" sz="1700">
                    <a:latin typeface="Times New Roman"/>
                    <a:ea typeface="Calibri"/>
                    <a:cs typeface="Times New Roman"/>
                  </a:rPr>
                  <a:t>Coupling resistor </a:t>
                </a:r>
                <a:r>
                  <a:rPr lang="en-IN" sz="1700" dirty="0">
                    <a:latin typeface="Times New Roman"/>
                    <a:ea typeface="Calibri"/>
                    <a:cs typeface="Times New Roman"/>
                  </a:rPr>
                  <a:t>R5=1KΩ</a:t>
                </a:r>
                <a:r>
                  <a:rPr lang="en-IN" sz="1700">
                    <a:latin typeface="Times New Roman"/>
                    <a:ea typeface="Calibri"/>
                    <a:cs typeface="Times New Roman"/>
                  </a:rPr>
                  <a:t> </a:t>
                </a:r>
              </a:p>
              <a:p>
                <a:pPr algn="just"/>
                <a:r>
                  <a:rPr lang="en-IN" sz="1700">
                    <a:latin typeface="Times New Roman"/>
                    <a:ea typeface="Calibri"/>
                    <a:cs typeface="Times New Roman"/>
                  </a:rPr>
                  <a:t>             V(supply) = 5V</a:t>
                </a:r>
              </a:p>
              <a:p>
                <a:pPr algn="just"/>
                <a:r>
                  <a:rPr lang="en-IN" sz="1700">
                    <a:latin typeface="Times New Roman"/>
                    <a:ea typeface="Calibri"/>
                    <a:cs typeface="Times New Roman"/>
                  </a:rPr>
                  <a:t>             VBE =0.7</a:t>
                </a:r>
              </a:p>
              <a:p>
                <a:pPr algn="just"/>
                <a:r>
                  <a:rPr lang="en-IN" sz="1700">
                    <a:latin typeface="Times New Roman"/>
                    <a:ea typeface="Calibri"/>
                    <a:cs typeface="Times New Roman"/>
                  </a:rPr>
                  <a:t>                     IB=(5-0.7)/R1</a:t>
                </a:r>
              </a:p>
              <a:p>
                <a:pPr algn="just"/>
                <a:r>
                  <a:rPr lang="en-IN" sz="1700">
                    <a:latin typeface="Times New Roman"/>
                    <a:ea typeface="Calibri"/>
                    <a:cs typeface="Times New Roman"/>
                  </a:rPr>
                  <a:t>                      Desired IB= 3-5mA</a:t>
                </a:r>
              </a:p>
              <a:p>
                <a:pPr algn="just"/>
                <a:r>
                  <a:rPr lang="en-IN" sz="1700">
                    <a:latin typeface="Times New Roman"/>
                    <a:ea typeface="Calibri"/>
                    <a:cs typeface="Times New Roman"/>
                  </a:rPr>
                  <a:t>                 </a:t>
                </a:r>
              </a:p>
              <a:p>
                <a:pPr algn="just"/>
                <a:r>
                  <a:rPr lang="en-IN" sz="1700">
                    <a:latin typeface="Times New Roman"/>
                    <a:ea typeface="Calibri"/>
                    <a:cs typeface="Times New Roman"/>
                  </a:rPr>
                  <a:t>           </a:t>
                </a:r>
                <a:endParaRPr lang="en-IN"/>
              </a:p>
              <a:p>
                <a:pPr algn="just"/>
                <a:r>
                  <a:rPr lang="en-IN" sz="1700">
                    <a:latin typeface="Times New Roman"/>
                    <a:ea typeface="Calibri"/>
                    <a:cs typeface="Times New Roman"/>
                  </a:rPr>
                  <a:t>           </a:t>
                </a:r>
              </a:p>
              <a:p>
                <a:pPr algn="just"/>
                <a:endParaRPr lang="en-IN" sz="1700">
                  <a:latin typeface="Times New Roman"/>
                  <a:ea typeface="Calibri"/>
                  <a:cs typeface="Times New Roman"/>
                </a:endParaRPr>
              </a:p>
              <a:p>
                <a:pPr algn="just"/>
                <a:endParaRPr lang="en-IN" sz="1700">
                  <a:latin typeface="Times New Roman"/>
                  <a:ea typeface="Calibri"/>
                  <a:cs typeface="Times New Roman"/>
                </a:endParaRPr>
              </a:p>
              <a:p>
                <a:pPr algn="just"/>
                <a:r>
                  <a:rPr lang="en-IN" sz="1700">
                    <a:latin typeface="Times New Roman"/>
                    <a:ea typeface="Calibri"/>
                    <a:cs typeface="Times New Roman"/>
                  </a:rPr>
                  <a:t>                                  R1 ≈ 1KΩ</a:t>
                </a:r>
              </a:p>
              <a:p>
                <a:pPr algn="just"/>
                <a:endParaRPr lang="en-IN" sz="1700">
                  <a:latin typeface="Times New Roman"/>
                  <a:ea typeface="Calibri"/>
                  <a:cs typeface="Times New Roman"/>
                </a:endParaRPr>
              </a:p>
              <a:p>
                <a:pPr algn="just"/>
                <a:r>
                  <a:rPr lang="en-IN" sz="1700">
                    <a:latin typeface="Times New Roman"/>
                    <a:ea typeface="Calibri"/>
                    <a:cs typeface="Times New Roman"/>
                  </a:rPr>
                  <a:t>          </a:t>
                </a:r>
              </a:p>
              <a:p>
                <a:pPr algn="just"/>
                <a:r>
                  <a:rPr lang="en-IN" sz="1700">
                    <a:latin typeface="Times New Roman"/>
                    <a:ea typeface="Calibri"/>
                    <a:cs typeface="Times New Roman"/>
                  </a:rPr>
                  <a:t>  </a:t>
                </a:r>
              </a:p>
              <a:p>
                <a:pPr algn="just"/>
                <a:r>
                  <a:rPr lang="en-IN" sz="1700">
                    <a:latin typeface="Times New Roman"/>
                    <a:ea typeface="Calibri"/>
                    <a:cs typeface="Times New Roman"/>
                  </a:rPr>
                  <a:t>                   </a:t>
                </a:r>
              </a:p>
            </p:txBody>
          </p:sp>
        </mc:Choice>
        <mc:Fallback xmlns="">
          <p:sp>
            <p:nvSpPr>
              <p:cNvPr id="11" name="TextBox 10">
                <a:extLst>
                  <a:ext uri="{FF2B5EF4-FFF2-40B4-BE49-F238E27FC236}">
                    <a16:creationId xmlns:a16="http://schemas.microsoft.com/office/drawing/2014/main" id="{32B15874-6417-D496-1D6A-8934E0552A1B}"/>
                  </a:ext>
                </a:extLst>
              </p:cNvPr>
              <p:cNvSpPr txBox="1">
                <a:spLocks noRot="1" noChangeAspect="1" noMove="1" noResize="1" noEditPoints="1" noAdjustHandles="1" noChangeArrowheads="1" noChangeShapeType="1" noTextEdit="1"/>
              </p:cNvSpPr>
              <p:nvPr/>
            </p:nvSpPr>
            <p:spPr>
              <a:xfrm>
                <a:off x="6247791" y="777030"/>
                <a:ext cx="5769481" cy="5821337"/>
              </a:xfrm>
              <a:prstGeom prst="rect">
                <a:avLst/>
              </a:prstGeom>
              <a:blipFill>
                <a:blip r:embed="rId4"/>
                <a:stretch>
                  <a:fillRect l="-633" t="-104"/>
                </a:stretch>
              </a:blipFill>
              <a:ln>
                <a:solidFill>
                  <a:srgbClr val="002C00"/>
                </a:solidFill>
              </a:ln>
            </p:spPr>
            <p:txBody>
              <a:bodyPr/>
              <a:lstStyle/>
              <a:p>
                <a:r>
                  <a:rPr lang="en-US">
                    <a:noFill/>
                  </a:rPr>
                  <a:t> </a:t>
                </a:r>
              </a:p>
            </p:txBody>
          </p:sp>
        </mc:Fallback>
      </mc:AlternateContent>
      <p:pic>
        <p:nvPicPr>
          <p:cNvPr id="2" name="Picture 1" descr="A mathematical equation with numbers and waves&#10;&#10;AI-generated content may be incorrect.">
            <a:extLst>
              <a:ext uri="{FF2B5EF4-FFF2-40B4-BE49-F238E27FC236}">
                <a16:creationId xmlns:a16="http://schemas.microsoft.com/office/drawing/2014/main" id="{DEDB42C1-4B1C-8370-7EEF-6F91D6C31DB1}"/>
              </a:ext>
            </a:extLst>
          </p:cNvPr>
          <p:cNvPicPr>
            <a:picLocks noChangeAspect="1"/>
          </p:cNvPicPr>
          <p:nvPr/>
        </p:nvPicPr>
        <p:blipFill>
          <a:blip r:embed="rId5"/>
          <a:stretch>
            <a:fillRect/>
          </a:stretch>
        </p:blipFill>
        <p:spPr>
          <a:xfrm>
            <a:off x="7052038" y="4182183"/>
            <a:ext cx="3009900" cy="809625"/>
          </a:xfrm>
          <a:prstGeom prst="rect">
            <a:avLst/>
          </a:prstGeom>
        </p:spPr>
      </p:pic>
      <p:sp>
        <p:nvSpPr>
          <p:cNvPr id="3" name="TextBox 2">
            <a:extLst>
              <a:ext uri="{FF2B5EF4-FFF2-40B4-BE49-F238E27FC236}">
                <a16:creationId xmlns:a16="http://schemas.microsoft.com/office/drawing/2014/main" id="{6ECE0C85-8A99-3FC0-705F-D9F6F82D6A18}"/>
              </a:ext>
            </a:extLst>
          </p:cNvPr>
          <p:cNvSpPr txBox="1"/>
          <p:nvPr/>
        </p:nvSpPr>
        <p:spPr>
          <a:xfrm>
            <a:off x="5613662" y="3299381"/>
            <a:ext cx="65" cy="276999"/>
          </a:xfrm>
          <a:prstGeom prst="rect">
            <a:avLst/>
          </a:prstGeom>
          <a:noFill/>
        </p:spPr>
        <p:txBody>
          <a:bodyPr wrap="none" lIns="0" tIns="0" rIns="0" bIns="0" rtlCol="0">
            <a:spAutoFit/>
          </a:bodyPr>
          <a:lstStyle/>
          <a:p>
            <a:endParaRPr lang="en-IN"/>
          </a:p>
        </p:txBody>
      </p:sp>
    </p:spTree>
    <p:extLst>
      <p:ext uri="{BB962C8B-B14F-4D97-AF65-F5344CB8AC3E}">
        <p14:creationId xmlns:p14="http://schemas.microsoft.com/office/powerpoint/2010/main" val="23220164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94077-6CE0-C8CF-2BA5-3171A9BE76C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1F61A0B-AFE9-5614-F5F7-A52B5DECC367}"/>
              </a:ext>
            </a:extLst>
          </p:cNvPr>
          <p:cNvSpPr txBox="1"/>
          <p:nvPr/>
        </p:nvSpPr>
        <p:spPr>
          <a:xfrm>
            <a:off x="-1" y="0"/>
            <a:ext cx="3647769" cy="369332"/>
          </a:xfrm>
          <a:prstGeom prst="rect">
            <a:avLst/>
          </a:prstGeom>
          <a:solidFill>
            <a:schemeClr val="tx2">
              <a:lumMod val="20000"/>
              <a:lumOff val="80000"/>
            </a:schemeClr>
          </a:solidFill>
        </p:spPr>
        <p:txBody>
          <a:bodyPr wrap="square">
            <a:spAutoFit/>
          </a:bodyPr>
          <a:lstStyle/>
          <a:p>
            <a:r>
              <a:rPr lang="en-US" sz="1800" b="1">
                <a:latin typeface="Times New Roman" panose="02020603050405020304" pitchFamily="18" charset="0"/>
                <a:cs typeface="Times New Roman" panose="02020603050405020304" pitchFamily="18" charset="0"/>
              </a:rPr>
              <a:t>Mini Project  (</a:t>
            </a:r>
            <a:r>
              <a:rPr lang="en-IN"/>
              <a:t>23EECW301</a:t>
            </a:r>
            <a:r>
              <a:rPr lang="en-US" sz="1800" b="1">
                <a:latin typeface="Times New Roman" panose="02020603050405020304" pitchFamily="18" charset="0"/>
                <a:cs typeface="Times New Roman" panose="02020603050405020304" pitchFamily="18" charset="0"/>
              </a:rPr>
              <a:t>)</a:t>
            </a:r>
            <a:endParaRPr lang="en-IN" sz="1800"/>
          </a:p>
        </p:txBody>
      </p:sp>
      <p:pic>
        <p:nvPicPr>
          <p:cNvPr id="6" name="Picture 5" descr="KLE Technological University in Hubballi">
            <a:extLst>
              <a:ext uri="{FF2B5EF4-FFF2-40B4-BE49-F238E27FC236}">
                <a16:creationId xmlns:a16="http://schemas.microsoft.com/office/drawing/2014/main" id="{4F72239F-0070-1DF1-3FF6-6908682B145D}"/>
              </a:ext>
            </a:extLst>
          </p:cNvPr>
          <p:cNvPicPr>
            <a:picLocks noChangeAspect="1"/>
          </p:cNvPicPr>
          <p:nvPr/>
        </p:nvPicPr>
        <p:blipFill rotWithShape="1">
          <a:blip r:embed="rId3">
            <a:extLst>
              <a:ext uri="{28A0092B-C50C-407E-A947-70E740481C1C}">
                <a14:useLocalDpi xmlns:a14="http://schemas.microsoft.com/office/drawing/2010/main" val="0"/>
              </a:ext>
            </a:extLst>
          </a:blip>
          <a:srcRect t="37713" b="37711"/>
          <a:stretch/>
        </p:blipFill>
        <p:spPr bwMode="auto">
          <a:xfrm>
            <a:off x="9544414" y="0"/>
            <a:ext cx="2647586" cy="386180"/>
          </a:xfrm>
          <a:prstGeom prst="rect">
            <a:avLst/>
          </a:prstGeom>
          <a:noFill/>
          <a:ln>
            <a:noFill/>
          </a:ln>
          <a:extLst>
            <a:ext uri="{53640926-AAD7-44D8-BBD7-CCE9431645EC}">
              <a14:shadowObscured xmlns:a14="http://schemas.microsoft.com/office/drawing/2010/main"/>
            </a:ext>
          </a:extLst>
        </p:spPr>
      </p:pic>
      <p:sp>
        <p:nvSpPr>
          <p:cNvPr id="4" name="TextBox 3">
            <a:extLst>
              <a:ext uri="{FF2B5EF4-FFF2-40B4-BE49-F238E27FC236}">
                <a16:creationId xmlns:a16="http://schemas.microsoft.com/office/drawing/2014/main" id="{B6A7D570-E8E0-1A5F-556E-439A0BDC4882}"/>
              </a:ext>
            </a:extLst>
          </p:cNvPr>
          <p:cNvSpPr txBox="1"/>
          <p:nvPr/>
        </p:nvSpPr>
        <p:spPr>
          <a:xfrm>
            <a:off x="4411744" y="175784"/>
            <a:ext cx="4006391" cy="646331"/>
          </a:xfrm>
          <a:prstGeom prst="rect">
            <a:avLst/>
          </a:prstGeom>
          <a:noFill/>
          <a:ln>
            <a:solidFill>
              <a:schemeClr val="tx1"/>
            </a:solidFill>
          </a:ln>
        </p:spPr>
        <p:txBody>
          <a:bodyPr wrap="square" lIns="91440" tIns="45720" rIns="91440" bIns="45720" rtlCol="0" anchor="t">
            <a:spAutoFit/>
          </a:bodyPr>
          <a:lstStyle/>
          <a:p>
            <a:pPr algn="ctr"/>
            <a:r>
              <a:rPr lang="en-IN" b="1">
                <a:latin typeface="Times New Roman"/>
                <a:cs typeface="Times New Roman"/>
              </a:rPr>
              <a:t>MOSFET BASED SHORT CIRCUIT PROTECTION</a:t>
            </a:r>
            <a:endParaRPr lang="en-IN" b="1">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4664071-6A32-F678-3B75-916FDC942078}"/>
              </a:ext>
            </a:extLst>
          </p:cNvPr>
          <p:cNvSpPr txBox="1"/>
          <p:nvPr/>
        </p:nvSpPr>
        <p:spPr>
          <a:xfrm>
            <a:off x="84840" y="935931"/>
            <a:ext cx="5879053" cy="5863144"/>
          </a:xfrm>
          <a:prstGeom prst="rect">
            <a:avLst/>
          </a:prstGeom>
          <a:solidFill>
            <a:srgbClr val="F7F2ED">
              <a:alpha val="1961"/>
            </a:srgbClr>
          </a:solidFill>
          <a:ln>
            <a:solidFill>
              <a:srgbClr val="002C00"/>
            </a:solidFill>
          </a:ln>
        </p:spPr>
        <p:txBody>
          <a:bodyPr wrap="square" lIns="91440" tIns="45720" rIns="91440" bIns="45720" rtlCol="0" anchor="t">
            <a:spAutoFit/>
          </a:bodyPr>
          <a:lstStyle/>
          <a:p>
            <a:pPr marL="285750" indent="-285750" algn="just">
              <a:buFont typeface="Wingdings" panose="05000000000000000000" pitchFamily="2" charset="2"/>
              <a:buChar char="Ø"/>
            </a:pPr>
            <a:r>
              <a:rPr lang="en-US" sz="1600">
                <a:latin typeface="Times New Roman" panose="02020603050405020304" pitchFamily="18" charset="0"/>
                <a:cs typeface="Times New Roman" panose="02020603050405020304" pitchFamily="18" charset="0"/>
              </a:rPr>
              <a:t>A </a:t>
            </a:r>
            <a:r>
              <a:rPr lang="en-US" sz="1600" b="1">
                <a:latin typeface="Times New Roman" panose="02020603050405020304" pitchFamily="18" charset="0"/>
                <a:cs typeface="Times New Roman" panose="02020603050405020304" pitchFamily="18" charset="0"/>
              </a:rPr>
              <a:t>MOSFET-based short-circuit protection </a:t>
            </a:r>
            <a:r>
              <a:rPr lang="en-US" sz="1600">
                <a:latin typeface="Times New Roman" panose="02020603050405020304" pitchFamily="18" charset="0"/>
                <a:cs typeface="Times New Roman" panose="02020603050405020304" pitchFamily="18" charset="0"/>
              </a:rPr>
              <a:t>circuit uses a voltage-controlled MOSFET(IRFZ44N) as a electronic switch that automatically disconnects the load when a short circuit is detected, thereby protecting the power supply and connected devices.</a:t>
            </a:r>
            <a:endParaRPr lang="en-IN" sz="1700">
              <a:latin typeface="Times New Roman" panose="02020603050405020304" pitchFamily="18" charset="0"/>
              <a:ea typeface="Calibri"/>
              <a:cs typeface="Times New Roman" panose="02020603050405020304" pitchFamily="18" charset="0"/>
            </a:endParaRPr>
          </a:p>
          <a:p>
            <a:pPr algn="just"/>
            <a:endParaRPr lang="en-IN" sz="1700">
              <a:latin typeface="Times New Roman" panose="02020603050405020304" pitchFamily="18" charset="0"/>
              <a:ea typeface="Calibri"/>
              <a:cs typeface="Times New Roman" panose="02020603050405020304" pitchFamily="18" charset="0"/>
            </a:endParaRPr>
          </a:p>
          <a:p>
            <a:pPr marL="285750" indent="-285750" algn="just">
              <a:buFont typeface="Wingdings" panose="05000000000000000000" pitchFamily="2" charset="2"/>
              <a:buChar char="Ø"/>
            </a:pPr>
            <a:r>
              <a:rPr lang="en-IN" b="1">
                <a:latin typeface="Times New Roman" panose="02020603050405020304" pitchFamily="18" charset="0"/>
                <a:ea typeface="Calibri"/>
                <a:cs typeface="Times New Roman" panose="02020603050405020304" pitchFamily="18" charset="0"/>
              </a:rPr>
              <a:t>Components Used :</a:t>
            </a:r>
          </a:p>
          <a:p>
            <a:pPr marL="285750" indent="-285750" algn="just">
              <a:buFont typeface="Arial" panose="020B0604020202020204" pitchFamily="34" charset="0"/>
              <a:buChar char="•"/>
            </a:pPr>
            <a:r>
              <a:rPr lang="en-US" sz="1600">
                <a:latin typeface="Times New Roman" panose="02020603050405020304" pitchFamily="18" charset="0"/>
                <a:cs typeface="Times New Roman" panose="02020603050405020304" pitchFamily="18" charset="0"/>
              </a:rPr>
              <a:t>IRFZ44N MOSFET – Power switching element</a:t>
            </a:r>
          </a:p>
          <a:p>
            <a:pPr marL="285750" indent="-285750" algn="just">
              <a:buFont typeface="Arial" panose="020B0604020202020204" pitchFamily="34" charset="0"/>
              <a:buChar char="•"/>
            </a:pPr>
            <a:r>
              <a:rPr lang="en-IN" sz="1600">
                <a:latin typeface="Times New Roman" panose="02020603050405020304" pitchFamily="18" charset="0"/>
                <a:cs typeface="Times New Roman" panose="02020603050405020304" pitchFamily="18" charset="0"/>
              </a:rPr>
              <a:t>PC817 Optocoupler – Fault detection and isolation.</a:t>
            </a:r>
          </a:p>
          <a:p>
            <a:pPr marL="285750" indent="-285750" algn="just">
              <a:buFont typeface="Arial" panose="020B0604020202020204" pitchFamily="34" charset="0"/>
              <a:buChar char="•"/>
            </a:pPr>
            <a:r>
              <a:rPr lang="en-IN" sz="1600">
                <a:latin typeface="Times New Roman" panose="02020603050405020304" pitchFamily="18" charset="0"/>
                <a:cs typeface="Times New Roman" panose="02020603050405020304" pitchFamily="18" charset="0"/>
              </a:rPr>
              <a:t>Resistors – Gate control and current limiting.</a:t>
            </a:r>
          </a:p>
          <a:p>
            <a:pPr marL="285750" indent="-285750" algn="just">
              <a:buFont typeface="Arial" panose="020B0604020202020204" pitchFamily="34" charset="0"/>
              <a:buChar char="•"/>
            </a:pPr>
            <a:r>
              <a:rPr lang="en-US" sz="1600">
                <a:latin typeface="Times New Roman" panose="02020603050405020304" pitchFamily="18" charset="0"/>
                <a:cs typeface="Times New Roman" panose="02020603050405020304" pitchFamily="18" charset="0"/>
              </a:rPr>
              <a:t>LED  – Short circuit indication</a:t>
            </a:r>
            <a:endParaRPr lang="en-IN" sz="1700">
              <a:latin typeface="Times New Roman" panose="02020603050405020304" pitchFamily="18" charset="0"/>
              <a:ea typeface="Calibri"/>
              <a:cs typeface="Times New Roman" panose="02020603050405020304" pitchFamily="18" charset="0"/>
            </a:endParaRPr>
          </a:p>
          <a:p>
            <a:pPr marL="285750" indent="-285750" algn="just">
              <a:buFont typeface="Arial" panose="020B0604020202020204" pitchFamily="34" charset="0"/>
              <a:buChar char="•"/>
            </a:pPr>
            <a:endParaRPr lang="en-IN" sz="1700">
              <a:latin typeface="Times New Roman"/>
              <a:ea typeface="Calibri"/>
              <a:cs typeface="Calibri"/>
            </a:endParaRPr>
          </a:p>
          <a:p>
            <a:pPr marL="285750" indent="-285750" algn="just">
              <a:buFont typeface="Wingdings" panose="05000000000000000000" pitchFamily="2" charset="2"/>
              <a:buChar char="Ø"/>
            </a:pPr>
            <a:r>
              <a:rPr lang="en-US" b="1">
                <a:latin typeface="Times New Roman" panose="02020603050405020304" pitchFamily="18" charset="0"/>
                <a:cs typeface="Times New Roman" panose="02020603050405020304" pitchFamily="18" charset="0"/>
              </a:rPr>
              <a:t>Role of MOSFET in the Circuit</a:t>
            </a:r>
          </a:p>
          <a:p>
            <a:pPr marL="285750" indent="-285750" algn="just">
              <a:buFont typeface="Arial" panose="020B0604020202020204" pitchFamily="34" charset="0"/>
              <a:buChar char="•"/>
            </a:pPr>
            <a:r>
              <a:rPr lang="en-US">
                <a:latin typeface="Times New Roman" panose="02020603050405020304" pitchFamily="18" charset="0"/>
                <a:cs typeface="Times New Roman" panose="02020603050405020304" pitchFamily="18" charset="0"/>
              </a:rPr>
              <a:t>MOSFET works as a series pass switch, which is controlled by gate-to-source voltage (VGS) .Whenever VGS &gt;Vth ,the MOSFET turns ON and act as closed switch and when VGS &lt;Vth  it behaves like open switch by getting OFF.</a:t>
            </a:r>
          </a:p>
          <a:p>
            <a:pPr marL="285750" indent="-285750" algn="just">
              <a:buFont typeface="Arial" panose="020B0604020202020204" pitchFamily="34" charset="0"/>
              <a:buChar char="•"/>
            </a:pPr>
            <a:r>
              <a:rPr lang="en-US">
                <a:latin typeface="Times New Roman" panose="02020603050405020304" pitchFamily="18" charset="0"/>
                <a:cs typeface="Times New Roman" panose="02020603050405020304" pitchFamily="18" charset="0"/>
              </a:rPr>
              <a:t>The MOSFET ensures that current flows to the load only during safe operating conditions and disconnects the load immediately during a short circuit or fault.</a:t>
            </a:r>
            <a:endParaRPr lang="en-IN">
              <a:latin typeface="Times New Roman" panose="02020603050405020304" pitchFamily="18" charset="0"/>
              <a:ea typeface="Calibri"/>
              <a:cs typeface="Times New Roman" panose="02020603050405020304" pitchFamily="18" charset="0"/>
            </a:endParaRPr>
          </a:p>
          <a:p>
            <a:pPr algn="just"/>
            <a:endParaRPr lang="en-IN" sz="1700">
              <a:latin typeface="Times New Roman"/>
              <a:ea typeface="Calibri"/>
              <a:cs typeface="Calibri"/>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F1159CC-0AD7-764F-2DFF-ECF8BBEEA17C}"/>
                  </a:ext>
                </a:extLst>
              </p:cNvPr>
              <p:cNvSpPr txBox="1"/>
              <p:nvPr/>
            </p:nvSpPr>
            <p:spPr>
              <a:xfrm>
                <a:off x="6029880" y="935931"/>
                <a:ext cx="6077279" cy="5752409"/>
              </a:xfrm>
              <a:prstGeom prst="rect">
                <a:avLst/>
              </a:prstGeom>
              <a:solidFill>
                <a:srgbClr val="F7F2ED">
                  <a:alpha val="1961"/>
                </a:srgbClr>
              </a:solidFill>
              <a:ln>
                <a:solidFill>
                  <a:srgbClr val="002C00"/>
                </a:solidFill>
              </a:ln>
            </p:spPr>
            <p:txBody>
              <a:bodyPr wrap="square" lIns="91440" tIns="45720" rIns="91440" bIns="45720" rtlCol="0" anchor="t">
                <a:spAutoFit/>
              </a:bodyPr>
              <a:lstStyle/>
              <a:p>
                <a:pPr marL="285750" indent="-285750" algn="just">
                  <a:buFont typeface="Wingdings"/>
                  <a:buChar char="Ø"/>
                </a:pPr>
                <a:r>
                  <a:rPr lang="en-IN" b="1">
                    <a:latin typeface="Times New Roman" panose="02020603050405020304" pitchFamily="18" charset="0"/>
                    <a:cs typeface="Times New Roman" panose="02020603050405020304" pitchFamily="18" charset="0"/>
                  </a:rPr>
                  <a:t>Role of Optocoupler (PC817)</a:t>
                </a:r>
              </a:p>
              <a:p>
                <a:pPr marL="285750" indent="-285750" algn="just">
                  <a:buFont typeface="Arial" panose="020B0604020202020204" pitchFamily="34" charset="0"/>
                  <a:buChar char="•"/>
                </a:pPr>
                <a:r>
                  <a:rPr lang="en-IN" b="1">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An optocoupler consists of two main components enclosed in a single package:</a:t>
                </a:r>
              </a:p>
              <a:p>
                <a:pPr marL="342900" indent="-342900" algn="just">
                  <a:buAutoNum type="arabicPeriod"/>
                </a:pPr>
                <a:r>
                  <a:rPr lang="en-US">
                    <a:latin typeface="Times New Roman" panose="02020603050405020304" pitchFamily="18" charset="0"/>
                    <a:cs typeface="Times New Roman" panose="02020603050405020304" pitchFamily="18" charset="0"/>
                  </a:rPr>
                  <a:t>An LED (light-emitting diode) on the input side (pin 1 &amp;2).</a:t>
                </a:r>
              </a:p>
              <a:p>
                <a:pPr marL="342900" indent="-342900" algn="just">
                  <a:buAutoNum type="arabicPeriod"/>
                </a:pPr>
                <a:r>
                  <a:rPr lang="en-US">
                    <a:latin typeface="Times New Roman" panose="02020603050405020304" pitchFamily="18" charset="0"/>
                    <a:cs typeface="Times New Roman" panose="02020603050405020304" pitchFamily="18" charset="0"/>
                  </a:rPr>
                  <a:t>A phototransistor on the output side pin( 3&amp;4).</a:t>
                </a:r>
              </a:p>
              <a:p>
                <a:pPr marL="285750" indent="-285750" algn="just">
                  <a:buFont typeface="Arial" panose="020B0604020202020204" pitchFamily="34" charset="0"/>
                  <a:buChar char="•"/>
                </a:pPr>
                <a:r>
                  <a:rPr lang="en-US">
                    <a:latin typeface="Times New Roman" panose="02020603050405020304" pitchFamily="18" charset="0"/>
                    <a:cs typeface="Times New Roman" panose="02020603050405020304" pitchFamily="18" charset="0"/>
                  </a:rPr>
                  <a:t>The optocoupler allows the fault signal to be transferred using light instead of a direct electrical connection, ensuring safe, noise-free, and reliable operation of the protection circuit. </a:t>
                </a:r>
              </a:p>
              <a:p>
                <a:pPr marL="285750" indent="-285750" algn="just">
                  <a:buFont typeface="Wingdings" panose="05000000000000000000" pitchFamily="2" charset="2"/>
                  <a:buChar char="Ø"/>
                </a:pPr>
                <a:r>
                  <a:rPr lang="en-US" b="1">
                    <a:latin typeface="Times New Roman" panose="02020603050405020304" pitchFamily="18" charset="0"/>
                    <a:ea typeface="Calibri"/>
                    <a:cs typeface="Times New Roman" panose="02020603050405020304" pitchFamily="18" charset="0"/>
                  </a:rPr>
                  <a:t>Resistors used in the design:</a:t>
                </a:r>
              </a:p>
              <a:p>
                <a:pPr marL="285750" indent="-285750" algn="just">
                  <a:buFont typeface="Arial" panose="020B0604020202020204" pitchFamily="34" charset="0"/>
                  <a:buChar char="•"/>
                </a:pPr>
                <a:r>
                  <a:rPr lang="en-US">
                    <a:latin typeface="Times New Roman" panose="02020603050405020304" pitchFamily="18" charset="0"/>
                    <a:ea typeface="Calibri"/>
                    <a:cs typeface="Times New Roman" panose="02020603050405020304" pitchFamily="18" charset="0"/>
                  </a:rPr>
                  <a:t>R1 =100K  (Gate pull down resistors)</a:t>
                </a:r>
              </a:p>
              <a:p>
                <a:pPr algn="just"/>
                <a:r>
                  <a:rPr lang="en-US">
                    <a:latin typeface="Times New Roman" panose="02020603050405020304" pitchFamily="18" charset="0"/>
                    <a:cs typeface="Times New Roman" panose="02020603050405020304" pitchFamily="18" charset="0"/>
                  </a:rPr>
                  <a:t>According to the design </a:t>
                </a:r>
                <a:r>
                  <a:rPr lang="en-US" err="1">
                    <a:latin typeface="Times New Roman" panose="02020603050405020304" pitchFamily="18" charset="0"/>
                    <a:cs typeface="Times New Roman" panose="02020603050405020304" pitchFamily="18" charset="0"/>
                  </a:rPr>
                  <a:t>rule,gate</a:t>
                </a:r>
                <a:r>
                  <a:rPr lang="en-US">
                    <a:latin typeface="Times New Roman" panose="02020603050405020304" pitchFamily="18" charset="0"/>
                    <a:cs typeface="Times New Roman" panose="02020603050405020304" pitchFamily="18" charset="0"/>
                  </a:rPr>
                  <a:t> pull-down resistor = 47 </a:t>
                </a:r>
                <a:r>
                  <a:rPr lang="en-US" err="1">
                    <a:latin typeface="Times New Roman" panose="02020603050405020304" pitchFamily="18" charset="0"/>
                    <a:cs typeface="Times New Roman" panose="02020603050405020304" pitchFamily="18" charset="0"/>
                  </a:rPr>
                  <a:t>kΩ</a:t>
                </a:r>
                <a:r>
                  <a:rPr lang="en-US">
                    <a:latin typeface="Times New Roman" panose="02020603050405020304" pitchFamily="18" charset="0"/>
                    <a:cs typeface="Times New Roman" panose="02020603050405020304" pitchFamily="18" charset="0"/>
                  </a:rPr>
                  <a:t> to 220 </a:t>
                </a:r>
                <a:r>
                  <a:rPr lang="en-US" err="1">
                    <a:latin typeface="Times New Roman" panose="02020603050405020304" pitchFamily="18" charset="0"/>
                    <a:cs typeface="Times New Roman" panose="02020603050405020304" pitchFamily="18" charset="0"/>
                  </a:rPr>
                  <a:t>kΩ</a:t>
                </a:r>
                <a:r>
                  <a:rPr lang="en-US">
                    <a:latin typeface="Times New Roman" panose="02020603050405020304" pitchFamily="18" charset="0"/>
                    <a:cs typeface="Times New Roman" panose="02020603050405020304" pitchFamily="18" charset="0"/>
                  </a:rPr>
                  <a:t>. So 100k is standard and safe choice.</a:t>
                </a:r>
              </a:p>
              <a:p>
                <a:pPr marL="285750" indent="-285750" algn="just">
                  <a:buFont typeface="Arial" panose="020B0604020202020204" pitchFamily="34" charset="0"/>
                  <a:buChar char="•"/>
                </a:pPr>
                <a:r>
                  <a:rPr lang="en-US">
                    <a:latin typeface="Times New Roman" panose="02020603050405020304" pitchFamily="18" charset="0"/>
                    <a:ea typeface="Calibri"/>
                    <a:cs typeface="Times New Roman" panose="02020603050405020304" pitchFamily="18" charset="0"/>
                  </a:rPr>
                  <a:t>R5=1k ( Resistor in series with LED D5)</a:t>
                </a:r>
              </a:p>
              <a:p>
                <a:pPr algn="just"/>
                <a:r>
                  <a:rPr lang="en-IN">
                    <a:latin typeface="Times New Roman" panose="02020603050405020304" pitchFamily="18" charset="0"/>
                    <a:ea typeface="Calibri"/>
                    <a:cs typeface="Times New Roman" panose="02020603050405020304" pitchFamily="18" charset="0"/>
                  </a:rPr>
                  <a:t>Supply voltage =5V </a:t>
                </a:r>
              </a:p>
              <a:p>
                <a:pPr algn="just"/>
                <a:r>
                  <a:rPr lang="en-IN">
                    <a:latin typeface="Times New Roman" panose="02020603050405020304" pitchFamily="18" charset="0"/>
                    <a:ea typeface="Calibri"/>
                    <a:cs typeface="Times New Roman" panose="02020603050405020304" pitchFamily="18" charset="0"/>
                  </a:rPr>
                  <a:t>Drop across LED =2V</a:t>
                </a:r>
              </a:p>
              <a:p>
                <a:pPr algn="just"/>
                <a:r>
                  <a:rPr lang="en-IN">
                    <a:latin typeface="Times New Roman" panose="02020603050405020304" pitchFamily="18" charset="0"/>
                    <a:ea typeface="Calibri"/>
                    <a:cs typeface="Times New Roman" panose="02020603050405020304" pitchFamily="18" charset="0"/>
                  </a:rPr>
                  <a:t>LED current =3mA</a:t>
                </a:r>
              </a:p>
              <a:p>
                <a:pPr algn="just"/>
                <a:r>
                  <a:rPr lang="en-IN">
                    <a:latin typeface="Times New Roman" panose="02020603050405020304" pitchFamily="18" charset="0"/>
                    <a:ea typeface="Calibri"/>
                    <a:cs typeface="Times New Roman" panose="02020603050405020304" pitchFamily="18" charset="0"/>
                  </a:rPr>
                  <a:t>              </a:t>
                </a:r>
                <a14:m>
                  <m:oMath xmlns:m="http://schemas.openxmlformats.org/officeDocument/2006/math">
                    <m:r>
                      <a:rPr lang="en-IN" b="0" i="1" smtClean="0">
                        <a:latin typeface="Cambria Math" panose="02040503050406030204" pitchFamily="18" charset="0"/>
                        <a:ea typeface="Calibri"/>
                        <a:cs typeface="Times New Roman" panose="02020603050405020304" pitchFamily="18" charset="0"/>
                      </a:rPr>
                      <m:t>𝑅</m:t>
                    </m:r>
                    <m:r>
                      <a:rPr lang="en-IN" b="0" i="1" smtClean="0">
                        <a:latin typeface="Cambria Math" panose="02040503050406030204" pitchFamily="18" charset="0"/>
                        <a:ea typeface="Calibri"/>
                        <a:cs typeface="Times New Roman" panose="02020603050405020304" pitchFamily="18" charset="0"/>
                      </a:rPr>
                      <m:t>=</m:t>
                    </m:r>
                    <m:f>
                      <m:fPr>
                        <m:ctrlPr>
                          <a:rPr lang="en-IN" b="0" i="1" smtClean="0">
                            <a:latin typeface="Cambria Math" panose="02040503050406030204" pitchFamily="18" charset="0"/>
                            <a:ea typeface="Calibri"/>
                            <a:cs typeface="Times New Roman" panose="02020603050405020304" pitchFamily="18" charset="0"/>
                          </a:rPr>
                        </m:ctrlPr>
                      </m:fPr>
                      <m:num>
                        <m:r>
                          <a:rPr lang="en-IN" b="0" i="1" smtClean="0">
                            <a:latin typeface="Cambria Math" panose="02040503050406030204" pitchFamily="18" charset="0"/>
                            <a:ea typeface="Calibri"/>
                            <a:cs typeface="Times New Roman" panose="02020603050405020304" pitchFamily="18" charset="0"/>
                          </a:rPr>
                          <m:t>5−2</m:t>
                        </m:r>
                      </m:num>
                      <m:den>
                        <m:r>
                          <a:rPr lang="en-IN" b="0" i="1" smtClean="0">
                            <a:latin typeface="Cambria Math" panose="02040503050406030204" pitchFamily="18" charset="0"/>
                            <a:ea typeface="Calibri"/>
                            <a:cs typeface="Times New Roman" panose="02020603050405020304" pitchFamily="18" charset="0"/>
                          </a:rPr>
                          <m:t>3</m:t>
                        </m:r>
                        <m:r>
                          <a:rPr lang="en-IN" b="0" i="1" smtClean="0">
                            <a:latin typeface="Cambria Math" panose="02040503050406030204" pitchFamily="18" charset="0"/>
                            <a:ea typeface="Calibri"/>
                            <a:cs typeface="Times New Roman" panose="02020603050405020304" pitchFamily="18" charset="0"/>
                          </a:rPr>
                          <m:t>𝑚</m:t>
                        </m:r>
                      </m:den>
                    </m:f>
                  </m:oMath>
                </a14:m>
                <a:r>
                  <a:rPr lang="en-IN">
                    <a:latin typeface="Times New Roman" panose="02020603050405020304" pitchFamily="18" charset="0"/>
                    <a:ea typeface="Calibri"/>
                    <a:cs typeface="Times New Roman" panose="02020603050405020304" pitchFamily="18" charset="0"/>
                  </a:rPr>
                  <a:t> =1k</a:t>
                </a:r>
                <a:r>
                  <a:rPr lang="en-US">
                    <a:latin typeface="Times New Roman" panose="02020603050405020304" pitchFamily="18" charset="0"/>
                    <a:cs typeface="Times New Roman" panose="02020603050405020304" pitchFamily="18" charset="0"/>
                  </a:rPr>
                  <a:t>Ω</a:t>
                </a:r>
              </a:p>
              <a:p>
                <a:pPr algn="just"/>
                <a:r>
                  <a:rPr lang="en-US">
                    <a:latin typeface="Times New Roman" panose="02020603050405020304" pitchFamily="18" charset="0"/>
                    <a:ea typeface="Calibri"/>
                    <a:cs typeface="Times New Roman" panose="02020603050405020304" pitchFamily="18" charset="0"/>
                  </a:rPr>
                  <a:t>Similarly for R3 =1k</a:t>
                </a:r>
                <a:r>
                  <a:rPr lang="en-US">
                    <a:latin typeface="Times New Roman" panose="02020603050405020304" pitchFamily="18" charset="0"/>
                    <a:cs typeface="Times New Roman" panose="02020603050405020304" pitchFamily="18" charset="0"/>
                  </a:rPr>
                  <a:t> Ω ( Current limiting resistor of PC817 LED).</a:t>
                </a:r>
                <a:endParaRPr lang="en-IN">
                  <a:latin typeface="Times New Roman" panose="02020603050405020304" pitchFamily="18" charset="0"/>
                  <a:ea typeface="Calibri"/>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AF1159CC-0AD7-764F-2DFF-ECF8BBEEA17C}"/>
                  </a:ext>
                </a:extLst>
              </p:cNvPr>
              <p:cNvSpPr txBox="1">
                <a:spLocks noRot="1" noChangeAspect="1" noMove="1" noResize="1" noEditPoints="1" noAdjustHandles="1" noChangeArrowheads="1" noChangeShapeType="1" noTextEdit="1"/>
              </p:cNvSpPr>
              <p:nvPr/>
            </p:nvSpPr>
            <p:spPr>
              <a:xfrm>
                <a:off x="6029880" y="935931"/>
                <a:ext cx="6077279" cy="5752409"/>
              </a:xfrm>
              <a:prstGeom prst="rect">
                <a:avLst/>
              </a:prstGeom>
              <a:blipFill>
                <a:blip r:embed="rId4"/>
                <a:stretch>
                  <a:fillRect l="-701" t="-529" r="-801" b="-741"/>
                </a:stretch>
              </a:blipFill>
              <a:ln>
                <a:solidFill>
                  <a:srgbClr val="002C00"/>
                </a:solidFill>
              </a:ln>
            </p:spPr>
            <p:txBody>
              <a:bodyPr/>
              <a:lstStyle/>
              <a:p>
                <a:r>
                  <a:rPr lang="en-US">
                    <a:noFill/>
                  </a:rPr>
                  <a:t> </a:t>
                </a:r>
              </a:p>
            </p:txBody>
          </p:sp>
        </mc:Fallback>
      </mc:AlternateContent>
    </p:spTree>
    <p:extLst>
      <p:ext uri="{BB962C8B-B14F-4D97-AF65-F5344CB8AC3E}">
        <p14:creationId xmlns:p14="http://schemas.microsoft.com/office/powerpoint/2010/main" val="37682396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70F29-9D2D-0EC7-4847-DD61492E252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FE8D8BF-07BA-284E-9F3E-C7BD66944E18}"/>
              </a:ext>
            </a:extLst>
          </p:cNvPr>
          <p:cNvSpPr txBox="1"/>
          <p:nvPr/>
        </p:nvSpPr>
        <p:spPr>
          <a:xfrm>
            <a:off x="-1" y="0"/>
            <a:ext cx="3647769" cy="369332"/>
          </a:xfrm>
          <a:prstGeom prst="rect">
            <a:avLst/>
          </a:prstGeom>
          <a:solidFill>
            <a:schemeClr val="tx2">
              <a:lumMod val="20000"/>
              <a:lumOff val="80000"/>
            </a:schemeClr>
          </a:solidFill>
        </p:spPr>
        <p:txBody>
          <a:bodyPr wrap="square">
            <a:spAutoFit/>
          </a:bodyPr>
          <a:lstStyle/>
          <a:p>
            <a:r>
              <a:rPr lang="en-US" sz="1800" b="1">
                <a:latin typeface="Times New Roman" panose="02020603050405020304" pitchFamily="18" charset="0"/>
                <a:cs typeface="Times New Roman" panose="02020603050405020304" pitchFamily="18" charset="0"/>
              </a:rPr>
              <a:t>Mini Project  (</a:t>
            </a:r>
            <a:r>
              <a:rPr lang="en-IN"/>
              <a:t>23EECW301</a:t>
            </a:r>
            <a:r>
              <a:rPr lang="en-US" sz="1800" b="1">
                <a:latin typeface="Times New Roman" panose="02020603050405020304" pitchFamily="18" charset="0"/>
                <a:cs typeface="Times New Roman" panose="02020603050405020304" pitchFamily="18" charset="0"/>
              </a:rPr>
              <a:t>)</a:t>
            </a:r>
            <a:endParaRPr lang="en-IN" sz="1800"/>
          </a:p>
        </p:txBody>
      </p:sp>
      <p:pic>
        <p:nvPicPr>
          <p:cNvPr id="6" name="Picture 5" descr="KLE Technological University in Hubballi">
            <a:extLst>
              <a:ext uri="{FF2B5EF4-FFF2-40B4-BE49-F238E27FC236}">
                <a16:creationId xmlns:a16="http://schemas.microsoft.com/office/drawing/2014/main" id="{3ECAEC55-ECA3-B504-ED95-24497A2AAD7C}"/>
              </a:ext>
            </a:extLst>
          </p:cNvPr>
          <p:cNvPicPr>
            <a:picLocks noChangeAspect="1"/>
          </p:cNvPicPr>
          <p:nvPr/>
        </p:nvPicPr>
        <p:blipFill rotWithShape="1">
          <a:blip r:embed="rId3">
            <a:extLst>
              <a:ext uri="{28A0092B-C50C-407E-A947-70E740481C1C}">
                <a14:useLocalDpi xmlns:a14="http://schemas.microsoft.com/office/drawing/2010/main" val="0"/>
              </a:ext>
            </a:extLst>
          </a:blip>
          <a:srcRect t="37713" b="37711"/>
          <a:stretch/>
        </p:blipFill>
        <p:spPr bwMode="auto">
          <a:xfrm>
            <a:off x="9544414" y="0"/>
            <a:ext cx="2647586" cy="386180"/>
          </a:xfrm>
          <a:prstGeom prst="rect">
            <a:avLst/>
          </a:prstGeom>
          <a:noFill/>
          <a:ln>
            <a:noFill/>
          </a:ln>
          <a:extLst>
            <a:ext uri="{53640926-AAD7-44D8-BBD7-CCE9431645EC}">
              <a14:shadowObscured xmlns:a14="http://schemas.microsoft.com/office/drawing/2010/main"/>
            </a:ext>
          </a:extLst>
        </p:spPr>
      </p:pic>
      <p:sp>
        <p:nvSpPr>
          <p:cNvPr id="4" name="TextBox 3">
            <a:extLst>
              <a:ext uri="{FF2B5EF4-FFF2-40B4-BE49-F238E27FC236}">
                <a16:creationId xmlns:a16="http://schemas.microsoft.com/office/drawing/2014/main" id="{6D7A0CB8-169F-1729-7986-DB75CA158B5B}"/>
              </a:ext>
            </a:extLst>
          </p:cNvPr>
          <p:cNvSpPr txBox="1"/>
          <p:nvPr/>
        </p:nvSpPr>
        <p:spPr>
          <a:xfrm>
            <a:off x="5072817" y="7743"/>
            <a:ext cx="2310582" cy="646331"/>
          </a:xfrm>
          <a:prstGeom prst="rect">
            <a:avLst/>
          </a:prstGeom>
          <a:noFill/>
          <a:ln>
            <a:solidFill>
              <a:schemeClr val="tx1"/>
            </a:solidFill>
          </a:ln>
        </p:spPr>
        <p:txBody>
          <a:bodyPr wrap="square" lIns="91440" tIns="45720" rIns="91440" bIns="45720" rtlCol="0" anchor="t">
            <a:spAutoFit/>
          </a:bodyPr>
          <a:lstStyle/>
          <a:p>
            <a:pPr algn="ctr"/>
            <a:r>
              <a:rPr lang="en-IN" b="1">
                <a:latin typeface="Times New Roman"/>
                <a:cs typeface="Times New Roman"/>
              </a:rPr>
              <a:t>Working of MOSFET-based SCP</a:t>
            </a:r>
            <a:endParaRPr lang="en-IN" b="1">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C692B12-B67C-42BC-658F-BDC68899C56A}"/>
              </a:ext>
            </a:extLst>
          </p:cNvPr>
          <p:cNvSpPr txBox="1"/>
          <p:nvPr/>
        </p:nvSpPr>
        <p:spPr>
          <a:xfrm>
            <a:off x="46732" y="978907"/>
            <a:ext cx="6181376" cy="5693866"/>
          </a:xfrm>
          <a:prstGeom prst="rect">
            <a:avLst/>
          </a:prstGeom>
          <a:solidFill>
            <a:srgbClr val="F7F2ED">
              <a:alpha val="1961"/>
            </a:srgbClr>
          </a:solidFill>
          <a:ln>
            <a:solidFill>
              <a:srgbClr val="002C00"/>
            </a:solidFill>
          </a:ln>
        </p:spPr>
        <p:txBody>
          <a:bodyPr wrap="square" lIns="91440" tIns="45720" rIns="91440" bIns="45720" rtlCol="0" anchor="t">
            <a:spAutoFit/>
          </a:bodyPr>
          <a:lstStyle/>
          <a:p>
            <a:pPr marL="285750" indent="-285750" algn="just">
              <a:buFont typeface="Wingdings"/>
              <a:buChar char="Ø"/>
            </a:pPr>
            <a:r>
              <a:rPr lang="en-IN" sz="1700">
                <a:latin typeface="Times New Roman"/>
                <a:ea typeface="+mn-lt"/>
                <a:cs typeface="+mn-lt"/>
              </a:rPr>
              <a:t>During normal operation, </a:t>
            </a:r>
            <a:r>
              <a:rPr lang="en-IN" sz="1700">
                <a:latin typeface="Times New Roman" panose="02020603050405020304" pitchFamily="18" charset="0"/>
                <a:ea typeface="Calibri"/>
                <a:cs typeface="Times New Roman" panose="02020603050405020304" pitchFamily="18" charset="0"/>
              </a:rPr>
              <a:t>as the internal LED of PC817 is connected to pin 1( connected to +</a:t>
            </a:r>
            <a:r>
              <a:rPr lang="en-IN" sz="1700" err="1">
                <a:latin typeface="Times New Roman" panose="02020603050405020304" pitchFamily="18" charset="0"/>
                <a:ea typeface="Calibri"/>
                <a:cs typeface="Times New Roman" panose="02020603050405020304" pitchFamily="18" charset="0"/>
              </a:rPr>
              <a:t>ve</a:t>
            </a:r>
            <a:r>
              <a:rPr lang="en-IN" sz="1700">
                <a:latin typeface="Times New Roman" panose="02020603050405020304" pitchFamily="18" charset="0"/>
                <a:ea typeface="Calibri"/>
                <a:cs typeface="Times New Roman" panose="02020603050405020304" pitchFamily="18" charset="0"/>
              </a:rPr>
              <a:t> </a:t>
            </a:r>
            <a:r>
              <a:rPr lang="en-IN" sz="1700" err="1">
                <a:latin typeface="Times New Roman" panose="02020603050405020304" pitchFamily="18" charset="0"/>
                <a:ea typeface="Calibri"/>
                <a:cs typeface="Times New Roman" panose="02020603050405020304" pitchFamily="18" charset="0"/>
              </a:rPr>
              <a:t>teminal</a:t>
            </a:r>
            <a:r>
              <a:rPr lang="en-IN" sz="1700">
                <a:latin typeface="Times New Roman" panose="02020603050405020304" pitchFamily="18" charset="0"/>
                <a:ea typeface="Calibri"/>
                <a:cs typeface="Times New Roman" panose="02020603050405020304" pitchFamily="18" charset="0"/>
              </a:rPr>
              <a:t> of load) &amp; pin 2 ( connected to –</a:t>
            </a:r>
            <a:r>
              <a:rPr lang="en-IN" sz="1700" err="1">
                <a:latin typeface="Times New Roman" panose="02020603050405020304" pitchFamily="18" charset="0"/>
                <a:ea typeface="Calibri"/>
                <a:cs typeface="Times New Roman" panose="02020603050405020304" pitchFamily="18" charset="0"/>
              </a:rPr>
              <a:t>ve</a:t>
            </a:r>
            <a:r>
              <a:rPr lang="en-IN" sz="1700">
                <a:latin typeface="Times New Roman" panose="02020603050405020304" pitchFamily="18" charset="0"/>
                <a:ea typeface="Calibri"/>
                <a:cs typeface="Times New Roman" panose="02020603050405020304" pitchFamily="18" charset="0"/>
              </a:rPr>
              <a:t> terminal of load) .During normal operation the output voltage is normal ,so due to this LED path is not forward biased and hence it is OFF. When LED is off then the phototransistor(connected to pin 3 &amp;4) is also OFF .Since phototransistor is OFF it do not affect the gate terminal of MOSFET and the optocoupler stays inactive .</a:t>
            </a:r>
          </a:p>
          <a:p>
            <a:pPr marL="285750" indent="-285750" algn="just">
              <a:buFont typeface="Wingdings"/>
              <a:buChar char="Ø"/>
            </a:pPr>
            <a:r>
              <a:rPr lang="en-IN" sz="1700">
                <a:latin typeface="Times New Roman"/>
                <a:ea typeface="+mn-lt"/>
                <a:cs typeface="+mn-lt"/>
              </a:rPr>
              <a:t>The MOSFET gate has 5V( from the output voltage) and source is 0V so ,VGS &gt; Vth as Vth of IRFZ44N is 4V. Now the MOSET is ON and behaves like closed switch . The drain-to-source resistance becomes very low and</a:t>
            </a:r>
            <a:r>
              <a:rPr lang="en-US" sz="1600"/>
              <a:t> </a:t>
            </a:r>
            <a:r>
              <a:rPr lang="en-US" sz="1600">
                <a:latin typeface="Times New Roman" panose="02020603050405020304" pitchFamily="18" charset="0"/>
                <a:cs typeface="Times New Roman" panose="02020603050405020304" pitchFamily="18" charset="0"/>
              </a:rPr>
              <a:t>current flows from the supply, through the MOSFET, to the load.</a:t>
            </a:r>
            <a:endParaRPr lang="en-IN" sz="1700">
              <a:latin typeface="Times New Roman" panose="02020603050405020304" pitchFamily="18" charset="0"/>
              <a:ea typeface="Calibri"/>
              <a:cs typeface="Times New Roman" panose="02020603050405020304" pitchFamily="18" charset="0"/>
            </a:endParaRPr>
          </a:p>
          <a:p>
            <a:pPr marL="285750" indent="-285750" algn="just">
              <a:buFont typeface="Wingdings"/>
              <a:buChar char="Ø"/>
            </a:pPr>
            <a:r>
              <a:rPr lang="en-US" sz="1600">
                <a:latin typeface="Times New Roman" panose="02020603050405020304" pitchFamily="18" charset="0"/>
                <a:cs typeface="Times New Roman" panose="02020603050405020304" pitchFamily="18" charset="0"/>
              </a:rPr>
              <a:t>The indication LED is connected in series with the PC817 phototransistor</a:t>
            </a:r>
            <a:r>
              <a:rPr lang="en-US" sz="1600"/>
              <a:t>. </a:t>
            </a:r>
            <a:r>
              <a:rPr lang="en-US" sz="1600">
                <a:latin typeface="Times New Roman" panose="02020603050405020304" pitchFamily="18" charset="0"/>
                <a:cs typeface="Times New Roman" panose="02020603050405020304" pitchFamily="18" charset="0"/>
              </a:rPr>
              <a:t>As during the normal operation phototransistor is OFF, the LED current path is open. No current flows through the LED and the indication LED remains OFF.</a:t>
            </a:r>
          </a:p>
          <a:p>
            <a:pPr marL="285750" indent="-285750" algn="just">
              <a:buFont typeface="Wingdings"/>
              <a:buChar char="Ø"/>
            </a:pPr>
            <a:endParaRPr lang="en-US" sz="1600">
              <a:latin typeface="Times New Roman" panose="02020603050405020304" pitchFamily="18" charset="0"/>
              <a:ea typeface="Calibri"/>
              <a:cs typeface="Times New Roman" panose="02020603050405020304" pitchFamily="18" charset="0"/>
            </a:endParaRPr>
          </a:p>
          <a:p>
            <a:pPr marL="285750" indent="-285750" algn="just">
              <a:buFont typeface="Wingdings"/>
              <a:buChar char="Ø"/>
            </a:pPr>
            <a:endParaRPr lang="en-US" sz="1600">
              <a:latin typeface="Times New Roman" panose="02020603050405020304" pitchFamily="18" charset="0"/>
              <a:ea typeface="Calibri"/>
              <a:cs typeface="Times New Roman" panose="02020603050405020304" pitchFamily="18" charset="0"/>
            </a:endParaRPr>
          </a:p>
          <a:p>
            <a:pPr marL="285750" indent="-285750" algn="just">
              <a:buFont typeface="Wingdings"/>
              <a:buChar char="Ø"/>
            </a:pPr>
            <a:endParaRPr lang="en-US" sz="1600" dirty="0">
              <a:latin typeface="Times New Roman" panose="02020603050405020304" pitchFamily="18" charset="0"/>
              <a:ea typeface="Calibri"/>
              <a:cs typeface="Times New Roman" panose="02020603050405020304" pitchFamily="18" charset="0"/>
            </a:endParaRPr>
          </a:p>
          <a:p>
            <a:pPr marL="285750" indent="-285750" algn="just">
              <a:buFont typeface="Wingdings"/>
              <a:buChar char="Ø"/>
            </a:pPr>
            <a:endParaRPr lang="en-US" sz="1600">
              <a:latin typeface="Times New Roman" panose="02020603050405020304" pitchFamily="18" charset="0"/>
              <a:ea typeface="Calibri"/>
              <a:cs typeface="Times New Roman" panose="02020603050405020304" pitchFamily="18" charset="0"/>
            </a:endParaRPr>
          </a:p>
          <a:p>
            <a:pPr algn="just"/>
            <a:endParaRPr lang="en-US" sz="1600" dirty="0">
              <a:latin typeface="Times New Roman" panose="02020603050405020304" pitchFamily="18" charset="0"/>
              <a:ea typeface="Calibri"/>
              <a:cs typeface="Times New Roman" panose="02020603050405020304" pitchFamily="18" charset="0"/>
            </a:endParaRPr>
          </a:p>
        </p:txBody>
      </p:sp>
      <p:sp>
        <p:nvSpPr>
          <p:cNvPr id="12" name="TextBox 11">
            <a:extLst>
              <a:ext uri="{FF2B5EF4-FFF2-40B4-BE49-F238E27FC236}">
                <a16:creationId xmlns:a16="http://schemas.microsoft.com/office/drawing/2014/main" id="{1CB1BD2F-2372-23C4-1841-E7E361147024}"/>
              </a:ext>
            </a:extLst>
          </p:cNvPr>
          <p:cNvSpPr txBox="1"/>
          <p:nvPr/>
        </p:nvSpPr>
        <p:spPr>
          <a:xfrm>
            <a:off x="867533" y="609575"/>
            <a:ext cx="3834581" cy="369332"/>
          </a:xfrm>
          <a:prstGeom prst="rect">
            <a:avLst/>
          </a:prstGeom>
          <a:noFill/>
          <a:ln>
            <a:solidFill>
              <a:schemeClr val="tx1"/>
            </a:solidFill>
          </a:ln>
        </p:spPr>
        <p:txBody>
          <a:bodyPr wrap="square" lIns="91440" tIns="45720" rIns="91440" bIns="45720" rtlCol="0" anchor="t">
            <a:spAutoFit/>
          </a:bodyPr>
          <a:lstStyle/>
          <a:p>
            <a:pPr algn="ctr"/>
            <a:r>
              <a:rPr lang="en-IN" b="1">
                <a:latin typeface="Times New Roman"/>
                <a:cs typeface="Times New Roman"/>
              </a:rPr>
              <a:t>During Normal Operation </a:t>
            </a:r>
            <a:endParaRPr lang="en-IN" b="1">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649A47AD-E622-1E80-9AAF-97B7256FD2A0}"/>
              </a:ext>
            </a:extLst>
          </p:cNvPr>
          <p:cNvSpPr txBox="1"/>
          <p:nvPr/>
        </p:nvSpPr>
        <p:spPr>
          <a:xfrm>
            <a:off x="7627123" y="545717"/>
            <a:ext cx="3834581" cy="369332"/>
          </a:xfrm>
          <a:prstGeom prst="rect">
            <a:avLst/>
          </a:prstGeom>
          <a:noFill/>
          <a:ln>
            <a:solidFill>
              <a:schemeClr val="tx1"/>
            </a:solidFill>
          </a:ln>
        </p:spPr>
        <p:txBody>
          <a:bodyPr wrap="square" lIns="91440" tIns="45720" rIns="91440" bIns="45720" rtlCol="0" anchor="t">
            <a:spAutoFit/>
          </a:bodyPr>
          <a:lstStyle/>
          <a:p>
            <a:pPr algn="ctr"/>
            <a:r>
              <a:rPr lang="en-IN" b="1">
                <a:latin typeface="Times New Roman"/>
                <a:cs typeface="Times New Roman"/>
              </a:rPr>
              <a:t>During Short Circuit</a:t>
            </a:r>
            <a:endParaRPr lang="en-IN" b="1">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0C6DD4B-12C9-5825-B94A-5ADCDB3B41DD}"/>
              </a:ext>
            </a:extLst>
          </p:cNvPr>
          <p:cNvSpPr txBox="1"/>
          <p:nvPr/>
        </p:nvSpPr>
        <p:spPr>
          <a:xfrm>
            <a:off x="6274840" y="978907"/>
            <a:ext cx="5917160" cy="3693319"/>
          </a:xfrm>
          <a:prstGeom prst="rect">
            <a:avLst/>
          </a:prstGeom>
          <a:solidFill>
            <a:srgbClr val="F7F2ED">
              <a:alpha val="1961"/>
            </a:srgbClr>
          </a:solidFill>
          <a:ln>
            <a:solidFill>
              <a:srgbClr val="002C00"/>
            </a:solidFill>
          </a:ln>
        </p:spPr>
        <p:txBody>
          <a:bodyPr wrap="square" lIns="91440" tIns="45720" rIns="91440" bIns="45720" rtlCol="0" anchor="t">
            <a:spAutoFit/>
          </a:bodyPr>
          <a:lstStyle/>
          <a:p>
            <a:pPr marL="285750" indent="-285750" algn="just">
              <a:buFont typeface="Wingdings" panose="05000000000000000000" pitchFamily="2" charset="2"/>
              <a:buChar char="Ø"/>
            </a:pPr>
            <a:r>
              <a:rPr lang="en-IN" sz="1700">
                <a:latin typeface="Times New Roman"/>
                <a:ea typeface="+mn-lt"/>
                <a:cs typeface="+mn-lt"/>
              </a:rPr>
              <a:t>During a short-circuit condition, the output terminal is shorted </a:t>
            </a:r>
            <a:r>
              <a:rPr lang="en-IN" sz="1700">
                <a:latin typeface="Times New Roman"/>
                <a:ea typeface="Calibri"/>
                <a:cs typeface="Calibri"/>
              </a:rPr>
              <a:t>and hence the load resistance is </a:t>
            </a:r>
            <a:r>
              <a:rPr lang="en-IN" sz="1600"/>
              <a:t>≈  </a:t>
            </a:r>
            <a:r>
              <a:rPr lang="en-IN" sz="1700">
                <a:latin typeface="Times New Roman"/>
                <a:ea typeface="Calibri"/>
                <a:cs typeface="Calibri"/>
              </a:rPr>
              <a:t>0 </a:t>
            </a:r>
            <a:r>
              <a:rPr lang="el-GR" sz="1600"/>
              <a:t>Ω</a:t>
            </a:r>
            <a:r>
              <a:rPr lang="en-IN" sz="1600"/>
              <a:t>  </a:t>
            </a:r>
            <a:r>
              <a:rPr lang="en-IN" sz="1600">
                <a:latin typeface="Times New Roman" panose="02020603050405020304" pitchFamily="18" charset="0"/>
                <a:cs typeface="Times New Roman" panose="02020603050405020304" pitchFamily="18" charset="0"/>
              </a:rPr>
              <a:t>and </a:t>
            </a:r>
            <a:r>
              <a:rPr lang="en-IN" sz="1600"/>
              <a:t> </a:t>
            </a:r>
            <a:r>
              <a:rPr lang="en-IN" sz="1600">
                <a:latin typeface="Times New Roman" panose="02020603050405020304" pitchFamily="18" charset="0"/>
                <a:cs typeface="Times New Roman" panose="02020603050405020304" pitchFamily="18" charset="0"/>
              </a:rPr>
              <a:t>output voltage is also 0V ,so due this the LED path of PC817 is forward biased and it turns ON .When LED is ON the internal phototransistor also gets ON .</a:t>
            </a:r>
            <a:r>
              <a:rPr lang="en-IN" sz="1600">
                <a:latin typeface="Times New Roman" panose="02020603050405020304" pitchFamily="18" charset="0"/>
                <a:ea typeface="Calibri"/>
                <a:cs typeface="Times New Roman" panose="02020603050405020304" pitchFamily="18" charset="0"/>
              </a:rPr>
              <a:t>When the phototransistor is ON it pulls the MOSFET gate to ground through the 100k resistor connected to ground .</a:t>
            </a:r>
          </a:p>
          <a:p>
            <a:pPr marL="285750" indent="-285750" algn="just">
              <a:buFont typeface="Wingdings" panose="05000000000000000000" pitchFamily="2" charset="2"/>
              <a:buChar char="Ø"/>
            </a:pPr>
            <a:r>
              <a:rPr lang="en-IN" sz="1700">
                <a:latin typeface="Times New Roman" panose="02020603050405020304" pitchFamily="18" charset="0"/>
                <a:ea typeface="Calibri"/>
                <a:cs typeface="Times New Roman" panose="02020603050405020304" pitchFamily="18" charset="0"/>
              </a:rPr>
              <a:t>Now the MOSET gate has 0V and hence VGS &lt;Vth ,so the MOSFET is OFF and behave like open switch. The drain-to-source path opens so current does not flow to the load and disconnects the load from the supply and thereby protecting the circuit from the damage.</a:t>
            </a:r>
          </a:p>
          <a:p>
            <a:pPr marL="285750" indent="-285750" algn="just">
              <a:buFont typeface="Wingdings" panose="05000000000000000000" pitchFamily="2" charset="2"/>
              <a:buChar char="Ø"/>
            </a:pPr>
            <a:r>
              <a:rPr lang="en-IN" sz="1700">
                <a:latin typeface="Times New Roman" panose="02020603050405020304" pitchFamily="18" charset="0"/>
                <a:ea typeface="Calibri"/>
                <a:cs typeface="Times New Roman" panose="02020603050405020304" pitchFamily="18" charset="0"/>
              </a:rPr>
              <a:t>Due the forward biased path of the LED ,the indication LED current path is ON so current flows through the LED and the LED turns ON indicating the short circuit.</a:t>
            </a:r>
          </a:p>
        </p:txBody>
      </p:sp>
      <p:pic>
        <p:nvPicPr>
          <p:cNvPr id="2" name="Picture 1">
            <a:extLst>
              <a:ext uri="{FF2B5EF4-FFF2-40B4-BE49-F238E27FC236}">
                <a16:creationId xmlns:a16="http://schemas.microsoft.com/office/drawing/2014/main" id="{484115DD-FF8A-3FB1-55F2-F2488C9FB497}"/>
              </a:ext>
            </a:extLst>
          </p:cNvPr>
          <p:cNvPicPr>
            <a:picLocks noChangeAspect="1"/>
          </p:cNvPicPr>
          <p:nvPr/>
        </p:nvPicPr>
        <p:blipFill rotWithShape="1">
          <a:blip r:embed="rId4">
            <a:extLst>
              <a:ext uri="{28A0092B-C50C-407E-A947-70E740481C1C}">
                <a14:useLocalDpi xmlns:a14="http://schemas.microsoft.com/office/drawing/2010/main" val="0"/>
              </a:ext>
            </a:extLst>
          </a:blip>
          <a:srcRect r="2899" b="22293"/>
          <a:stretch>
            <a:fillRect/>
          </a:stretch>
        </p:blipFill>
        <p:spPr bwMode="auto">
          <a:xfrm>
            <a:off x="6444522" y="4835518"/>
            <a:ext cx="5426833" cy="1861415"/>
          </a:xfrm>
          <a:prstGeom prst="rect">
            <a:avLst/>
          </a:prstGeom>
          <a:ln>
            <a:solidFill>
              <a:schemeClr val="tx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7584283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0468E2-DA33-363D-DB43-0B11499B21D8}"/>
              </a:ext>
            </a:extLst>
          </p:cNvPr>
          <p:cNvSpPr/>
          <p:nvPr/>
        </p:nvSpPr>
        <p:spPr>
          <a:xfrm>
            <a:off x="271618" y="907747"/>
            <a:ext cx="11648761" cy="55401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dirty="0">
                <a:latin typeface="Times New Roman" panose="02020603050405020304" pitchFamily="18" charset="0"/>
                <a:cs typeface="Times New Roman" panose="02020603050405020304" pitchFamily="18" charset="0"/>
              </a:rPr>
              <a:t>VISTEON SCHOLAR PROGRAM</a:t>
            </a:r>
          </a:p>
          <a:p>
            <a:r>
              <a:rPr lang="en-US" sz="2400"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Title :How Cars Have Evolved Over the Last 2 Decades (≈ 2005–2025)</a:t>
            </a:r>
          </a:p>
          <a:p>
            <a:r>
              <a:rPr lang="en-US" b="1" dirty="0">
                <a:latin typeface="Times New Roman" panose="02020603050405020304" pitchFamily="18" charset="0"/>
                <a:cs typeface="Times New Roman" panose="02020603050405020304" pitchFamily="18" charset="0"/>
              </a:rPr>
              <a:t>  NAME :Sahana Mathapati</a:t>
            </a:r>
          </a:p>
          <a:p>
            <a:r>
              <a:rPr lang="en-US" b="1" dirty="0">
                <a:latin typeface="Times New Roman" panose="02020603050405020304" pitchFamily="18" charset="0"/>
                <a:cs typeface="Times New Roman" panose="02020603050405020304" pitchFamily="18" charset="0"/>
              </a:rPr>
              <a:t>COLLEGE: KLE Technological University ,Hubli</a:t>
            </a:r>
          </a:p>
          <a:p>
            <a:r>
              <a:rPr lang="en-US" b="1" dirty="0">
                <a:latin typeface="Times New Roman" panose="02020603050405020304" pitchFamily="18" charset="0"/>
                <a:cs typeface="Times New Roman" panose="02020603050405020304" pitchFamily="18" charset="0"/>
              </a:rPr>
              <a:t> Pre Assignment -1</a:t>
            </a:r>
          </a:p>
          <a:p>
            <a:endParaRPr lang="en-US"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DBDA6761-3494-A306-4286-0A6C298F50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4033837" y="677227"/>
            <a:ext cx="4124325" cy="5495925"/>
          </a:xfrm>
          <a:prstGeom prst="rect">
            <a:avLst/>
          </a:prstGeom>
        </p:spPr>
      </p:pic>
      <p:sp>
        <p:nvSpPr>
          <p:cNvPr id="4" name="Flowchart: Connector 3">
            <a:extLst>
              <a:ext uri="{FF2B5EF4-FFF2-40B4-BE49-F238E27FC236}">
                <a16:creationId xmlns:a16="http://schemas.microsoft.com/office/drawing/2014/main" id="{3ECCEA5D-66DC-2CCB-0654-8043A680C743}"/>
              </a:ext>
            </a:extLst>
          </p:cNvPr>
          <p:cNvSpPr/>
          <p:nvPr/>
        </p:nvSpPr>
        <p:spPr>
          <a:xfrm>
            <a:off x="4335780" y="3017519"/>
            <a:ext cx="762000" cy="815340"/>
          </a:xfrm>
          <a:prstGeom prst="flowChartConnector">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cxnSp>
        <p:nvCxnSpPr>
          <p:cNvPr id="5" name="Straight Arrow Connector 4">
            <a:extLst>
              <a:ext uri="{FF2B5EF4-FFF2-40B4-BE49-F238E27FC236}">
                <a16:creationId xmlns:a16="http://schemas.microsoft.com/office/drawing/2014/main" id="{7FA9AF89-B2BA-144B-1070-2BF6CA550E44}"/>
              </a:ext>
            </a:extLst>
          </p:cNvPr>
          <p:cNvCxnSpPr>
            <a:cxnSpLocks/>
            <a:stCxn id="4" idx="0"/>
          </p:cNvCxnSpPr>
          <p:nvPr/>
        </p:nvCxnSpPr>
        <p:spPr>
          <a:xfrm flipH="1" flipV="1">
            <a:off x="4206240" y="2042160"/>
            <a:ext cx="510540" cy="97535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36147A6-F471-A467-44AA-B80BC5E34B8D}"/>
              </a:ext>
            </a:extLst>
          </p:cNvPr>
          <p:cNvSpPr txBox="1"/>
          <p:nvPr/>
        </p:nvSpPr>
        <p:spPr>
          <a:xfrm>
            <a:off x="3554730" y="1728607"/>
            <a:ext cx="1162050" cy="307777"/>
          </a:xfrm>
          <a:prstGeom prst="rect">
            <a:avLst/>
          </a:prstGeom>
          <a:noFill/>
          <a:ln>
            <a:solidFill>
              <a:schemeClr val="tx1"/>
            </a:solidFill>
          </a:ln>
        </p:spPr>
        <p:txBody>
          <a:bodyPr wrap="square" rtlCol="0">
            <a:spAutoFit/>
          </a:bodyPr>
          <a:lstStyle/>
          <a:p>
            <a:r>
              <a:rPr lang="en-IN" sz="1400" b="1">
                <a:latin typeface="Times New Roman" panose="02020603050405020304" pitchFamily="18" charset="0"/>
                <a:cs typeface="Times New Roman" panose="02020603050405020304" pitchFamily="18" charset="0"/>
              </a:rPr>
              <a:t>Zener diode</a:t>
            </a:r>
          </a:p>
        </p:txBody>
      </p:sp>
      <p:sp>
        <p:nvSpPr>
          <p:cNvPr id="7" name="Flowchart: Connector 6">
            <a:extLst>
              <a:ext uri="{FF2B5EF4-FFF2-40B4-BE49-F238E27FC236}">
                <a16:creationId xmlns:a16="http://schemas.microsoft.com/office/drawing/2014/main" id="{48055E61-FB65-1ACA-3A6E-70884E9FE2C9}"/>
              </a:ext>
            </a:extLst>
          </p:cNvPr>
          <p:cNvSpPr/>
          <p:nvPr/>
        </p:nvSpPr>
        <p:spPr>
          <a:xfrm>
            <a:off x="5379720" y="4411980"/>
            <a:ext cx="548640" cy="571500"/>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Arrow Connector 7">
            <a:extLst>
              <a:ext uri="{FF2B5EF4-FFF2-40B4-BE49-F238E27FC236}">
                <a16:creationId xmlns:a16="http://schemas.microsoft.com/office/drawing/2014/main" id="{631734A3-7D18-8C44-BCED-4BAAEE86DD2C}"/>
              </a:ext>
            </a:extLst>
          </p:cNvPr>
          <p:cNvCxnSpPr>
            <a:cxnSpLocks/>
            <a:stCxn id="7" idx="3"/>
          </p:cNvCxnSpPr>
          <p:nvPr/>
        </p:nvCxnSpPr>
        <p:spPr>
          <a:xfrm flipH="1">
            <a:off x="5280660" y="4899786"/>
            <a:ext cx="179406" cy="380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A726627-CF10-F9C1-4DB4-FBE2D334A24A}"/>
              </a:ext>
            </a:extLst>
          </p:cNvPr>
          <p:cNvSpPr txBox="1"/>
          <p:nvPr/>
        </p:nvSpPr>
        <p:spPr>
          <a:xfrm>
            <a:off x="4849962" y="5298935"/>
            <a:ext cx="861396" cy="276999"/>
          </a:xfrm>
          <a:prstGeom prst="rect">
            <a:avLst/>
          </a:prstGeom>
          <a:noFill/>
          <a:ln>
            <a:solidFill>
              <a:schemeClr val="tx1"/>
            </a:solidFill>
          </a:ln>
        </p:spPr>
        <p:txBody>
          <a:bodyPr wrap="square" rtlCol="0">
            <a:spAutoFit/>
          </a:bodyPr>
          <a:lstStyle/>
          <a:p>
            <a:r>
              <a:rPr lang="en-IN" sz="1200" b="1">
                <a:latin typeface="Times New Roman" panose="02020603050405020304" pitchFamily="18" charset="0"/>
                <a:cs typeface="Times New Roman" panose="02020603050405020304" pitchFamily="18" charset="0"/>
              </a:rPr>
              <a:t>Ground</a:t>
            </a:r>
          </a:p>
        </p:txBody>
      </p:sp>
      <p:sp>
        <p:nvSpPr>
          <p:cNvPr id="10" name="Rectangle 9">
            <a:extLst>
              <a:ext uri="{FF2B5EF4-FFF2-40B4-BE49-F238E27FC236}">
                <a16:creationId xmlns:a16="http://schemas.microsoft.com/office/drawing/2014/main" id="{9BFDC301-FF0E-2477-B96E-CDD29EAAA19D}"/>
              </a:ext>
            </a:extLst>
          </p:cNvPr>
          <p:cNvSpPr/>
          <p:nvPr/>
        </p:nvSpPr>
        <p:spPr>
          <a:xfrm rot="21410599">
            <a:off x="6960251" y="1812812"/>
            <a:ext cx="1750471" cy="926439"/>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 name="Straight Arrow Connector 10">
            <a:extLst>
              <a:ext uri="{FF2B5EF4-FFF2-40B4-BE49-F238E27FC236}">
                <a16:creationId xmlns:a16="http://schemas.microsoft.com/office/drawing/2014/main" id="{61694898-35D4-6DBA-3A18-BFBF6BE394E2}"/>
              </a:ext>
            </a:extLst>
          </p:cNvPr>
          <p:cNvCxnSpPr/>
          <p:nvPr/>
        </p:nvCxnSpPr>
        <p:spPr>
          <a:xfrm>
            <a:off x="8671560" y="2232660"/>
            <a:ext cx="419100" cy="0"/>
          </a:xfrm>
          <a:prstGeom prst="straightConnector1">
            <a:avLst/>
          </a:prstGeom>
          <a:ln w="190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030856A-0464-E203-AE94-8C51A70B248D}"/>
              </a:ext>
            </a:extLst>
          </p:cNvPr>
          <p:cNvSpPr txBox="1"/>
          <p:nvPr/>
        </p:nvSpPr>
        <p:spPr>
          <a:xfrm>
            <a:off x="9121141" y="2078771"/>
            <a:ext cx="861059" cy="523220"/>
          </a:xfrm>
          <a:prstGeom prst="rect">
            <a:avLst/>
          </a:prstGeom>
          <a:noFill/>
          <a:ln>
            <a:solidFill>
              <a:schemeClr val="tx1"/>
            </a:solidFill>
          </a:ln>
        </p:spPr>
        <p:txBody>
          <a:bodyPr wrap="square" rtlCol="0">
            <a:spAutoFit/>
          </a:bodyPr>
          <a:lstStyle/>
          <a:p>
            <a:r>
              <a:rPr lang="en-IN" sz="1400" b="1">
                <a:latin typeface="Times New Roman" panose="02020603050405020304" pitchFamily="18" charset="0"/>
                <a:cs typeface="Times New Roman" panose="02020603050405020304" pitchFamily="18" charset="0"/>
              </a:rPr>
              <a:t>Output voltage</a:t>
            </a:r>
          </a:p>
        </p:txBody>
      </p:sp>
      <p:sp>
        <p:nvSpPr>
          <p:cNvPr id="14" name="TextBox 13">
            <a:extLst>
              <a:ext uri="{FF2B5EF4-FFF2-40B4-BE49-F238E27FC236}">
                <a16:creationId xmlns:a16="http://schemas.microsoft.com/office/drawing/2014/main" id="{33967A40-65DF-92EE-998D-E89F5F45762C}"/>
              </a:ext>
            </a:extLst>
          </p:cNvPr>
          <p:cNvSpPr txBox="1"/>
          <p:nvPr/>
        </p:nvSpPr>
        <p:spPr>
          <a:xfrm>
            <a:off x="-1" y="0"/>
            <a:ext cx="3647769" cy="369332"/>
          </a:xfrm>
          <a:prstGeom prst="rect">
            <a:avLst/>
          </a:prstGeom>
          <a:solidFill>
            <a:schemeClr val="tx2">
              <a:lumMod val="20000"/>
              <a:lumOff val="80000"/>
            </a:schemeClr>
          </a:solidFill>
        </p:spPr>
        <p:txBody>
          <a:bodyPr wrap="square">
            <a:spAutoFit/>
          </a:bodyPr>
          <a:lstStyle/>
          <a:p>
            <a:r>
              <a:rPr lang="en-US" sz="1800" b="1">
                <a:latin typeface="Times New Roman" panose="02020603050405020304" pitchFamily="18" charset="0"/>
                <a:cs typeface="Times New Roman" panose="02020603050405020304" pitchFamily="18" charset="0"/>
              </a:rPr>
              <a:t>Mini Project  (</a:t>
            </a:r>
            <a:r>
              <a:rPr lang="en-IN"/>
              <a:t>23EECW301</a:t>
            </a:r>
            <a:r>
              <a:rPr lang="en-US" sz="1800" b="1">
                <a:latin typeface="Times New Roman" panose="02020603050405020304" pitchFamily="18" charset="0"/>
                <a:cs typeface="Times New Roman" panose="02020603050405020304" pitchFamily="18" charset="0"/>
              </a:rPr>
              <a:t>)</a:t>
            </a:r>
            <a:endParaRPr lang="en-IN" sz="1800"/>
          </a:p>
        </p:txBody>
      </p:sp>
      <p:sp>
        <p:nvSpPr>
          <p:cNvPr id="15" name="TextBox 14">
            <a:extLst>
              <a:ext uri="{FF2B5EF4-FFF2-40B4-BE49-F238E27FC236}">
                <a16:creationId xmlns:a16="http://schemas.microsoft.com/office/drawing/2014/main" id="{C321CCAE-AEC6-6C24-ACC3-358D4A68BC0E}"/>
              </a:ext>
            </a:extLst>
          </p:cNvPr>
          <p:cNvSpPr txBox="1"/>
          <p:nvPr/>
        </p:nvSpPr>
        <p:spPr>
          <a:xfrm>
            <a:off x="4411744" y="175784"/>
            <a:ext cx="4006391" cy="646331"/>
          </a:xfrm>
          <a:prstGeom prst="rect">
            <a:avLst/>
          </a:prstGeom>
          <a:noFill/>
          <a:ln>
            <a:solidFill>
              <a:schemeClr val="tx1"/>
            </a:solidFill>
          </a:ln>
        </p:spPr>
        <p:txBody>
          <a:bodyPr wrap="square" lIns="91440" tIns="45720" rIns="91440" bIns="45720" rtlCol="0" anchor="t">
            <a:spAutoFit/>
          </a:bodyPr>
          <a:lstStyle/>
          <a:p>
            <a:pPr algn="ctr"/>
            <a:r>
              <a:rPr lang="en-IN" b="1" dirty="0">
                <a:latin typeface="Times New Roman" panose="02020603050405020304" pitchFamily="18" charset="0"/>
                <a:cs typeface="Times New Roman" panose="02020603050405020304" pitchFamily="18" charset="0"/>
              </a:rPr>
              <a:t>HARDWARE IMPLEMENTATION RESULTS</a:t>
            </a:r>
          </a:p>
        </p:txBody>
      </p:sp>
      <p:pic>
        <p:nvPicPr>
          <p:cNvPr id="16" name="Picture 15" descr="KLE Technological University in Hubballi">
            <a:extLst>
              <a:ext uri="{FF2B5EF4-FFF2-40B4-BE49-F238E27FC236}">
                <a16:creationId xmlns:a16="http://schemas.microsoft.com/office/drawing/2014/main" id="{3959EB14-0BFD-F107-A217-41DD9EDB52EB}"/>
              </a:ext>
            </a:extLst>
          </p:cNvPr>
          <p:cNvPicPr>
            <a:picLocks noChangeAspect="1"/>
          </p:cNvPicPr>
          <p:nvPr/>
        </p:nvPicPr>
        <p:blipFill rotWithShape="1">
          <a:blip r:embed="rId3">
            <a:extLst>
              <a:ext uri="{28A0092B-C50C-407E-A947-70E740481C1C}">
                <a14:useLocalDpi xmlns:a14="http://schemas.microsoft.com/office/drawing/2010/main" val="0"/>
              </a:ext>
            </a:extLst>
          </a:blip>
          <a:srcRect t="37713" b="37711"/>
          <a:stretch/>
        </p:blipFill>
        <p:spPr bwMode="auto">
          <a:xfrm>
            <a:off x="9544414" y="0"/>
            <a:ext cx="2647586" cy="38618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524934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1C5C975-720F-9F42-A250-226A7C4BF026}"/>
              </a:ext>
            </a:extLst>
          </p:cNvPr>
          <p:cNvSpPr/>
          <p:nvPr/>
        </p:nvSpPr>
        <p:spPr>
          <a:xfrm>
            <a:off x="271619" y="860612"/>
            <a:ext cx="11648761" cy="55401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dirty="0">
                <a:latin typeface="Times New Roman" panose="02020603050405020304" pitchFamily="18" charset="0"/>
                <a:cs typeface="Times New Roman" panose="02020603050405020304" pitchFamily="18" charset="0"/>
              </a:rPr>
              <a:t>VISTEON SCHOLAR PROGRAM</a:t>
            </a:r>
          </a:p>
          <a:p>
            <a:r>
              <a:rPr lang="en-US" sz="2400"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Title :How Cars Have Evolved Over the Last 2 Decades (≈ 2005–2025)</a:t>
            </a:r>
          </a:p>
          <a:p>
            <a:r>
              <a:rPr lang="en-US" b="1" dirty="0">
                <a:latin typeface="Times New Roman" panose="02020603050405020304" pitchFamily="18" charset="0"/>
                <a:cs typeface="Times New Roman" panose="02020603050405020304" pitchFamily="18" charset="0"/>
              </a:rPr>
              <a:t>  NAME :Sahana Mathapati</a:t>
            </a:r>
          </a:p>
          <a:p>
            <a:r>
              <a:rPr lang="en-US" b="1" dirty="0">
                <a:latin typeface="Times New Roman" panose="02020603050405020304" pitchFamily="18" charset="0"/>
                <a:cs typeface="Times New Roman" panose="02020603050405020304" pitchFamily="18" charset="0"/>
              </a:rPr>
              <a:t>COLLEGE: KLE Technological University ,Hubli</a:t>
            </a:r>
          </a:p>
          <a:p>
            <a:r>
              <a:rPr lang="en-US" b="1" dirty="0">
                <a:latin typeface="Times New Roman" panose="02020603050405020304" pitchFamily="18" charset="0"/>
                <a:cs typeface="Times New Roman" panose="02020603050405020304" pitchFamily="18" charset="0"/>
              </a:rPr>
              <a:t> Pre Assignment -1</a:t>
            </a:r>
          </a:p>
          <a:p>
            <a:endParaRPr lang="en-US"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82EDF1F-6D11-F140-0784-B31D1DCEFD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48037" y="1366837"/>
            <a:ext cx="5495925" cy="4124325"/>
          </a:xfrm>
          <a:prstGeom prst="rect">
            <a:avLst/>
          </a:prstGeom>
        </p:spPr>
      </p:pic>
      <p:sp>
        <p:nvSpPr>
          <p:cNvPr id="4" name="Rectangle 3">
            <a:extLst>
              <a:ext uri="{FF2B5EF4-FFF2-40B4-BE49-F238E27FC236}">
                <a16:creationId xmlns:a16="http://schemas.microsoft.com/office/drawing/2014/main" id="{2C849EDC-2C28-20DD-0588-04EED3150CCE}"/>
              </a:ext>
            </a:extLst>
          </p:cNvPr>
          <p:cNvSpPr/>
          <p:nvPr/>
        </p:nvSpPr>
        <p:spPr>
          <a:xfrm>
            <a:off x="4160520" y="2042160"/>
            <a:ext cx="1036320" cy="1051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Flowchart: Connector 4">
            <a:extLst>
              <a:ext uri="{FF2B5EF4-FFF2-40B4-BE49-F238E27FC236}">
                <a16:creationId xmlns:a16="http://schemas.microsoft.com/office/drawing/2014/main" id="{8D875BCF-C18E-FD0D-8CF3-0421E9C61E75}"/>
              </a:ext>
            </a:extLst>
          </p:cNvPr>
          <p:cNvSpPr/>
          <p:nvPr/>
        </p:nvSpPr>
        <p:spPr>
          <a:xfrm>
            <a:off x="5867400" y="3642359"/>
            <a:ext cx="762000" cy="815340"/>
          </a:xfrm>
          <a:prstGeom prst="flowChartConnector">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cxnSp>
        <p:nvCxnSpPr>
          <p:cNvPr id="6" name="Straight Arrow Connector 5">
            <a:extLst>
              <a:ext uri="{FF2B5EF4-FFF2-40B4-BE49-F238E27FC236}">
                <a16:creationId xmlns:a16="http://schemas.microsoft.com/office/drawing/2014/main" id="{26FADDB7-797E-D404-3DDA-1114DE2E73B7}"/>
              </a:ext>
            </a:extLst>
          </p:cNvPr>
          <p:cNvCxnSpPr>
            <a:cxnSpLocks/>
            <a:stCxn id="5" idx="6"/>
          </p:cNvCxnSpPr>
          <p:nvPr/>
        </p:nvCxnSpPr>
        <p:spPr>
          <a:xfrm>
            <a:off x="6629400" y="4050029"/>
            <a:ext cx="1356360" cy="84963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42A1344-13DA-6EB7-28B3-74309CCCDE5D}"/>
              </a:ext>
            </a:extLst>
          </p:cNvPr>
          <p:cNvSpPr txBox="1"/>
          <p:nvPr/>
        </p:nvSpPr>
        <p:spPr>
          <a:xfrm>
            <a:off x="7387590" y="4883287"/>
            <a:ext cx="1162050" cy="523220"/>
          </a:xfrm>
          <a:prstGeom prst="rect">
            <a:avLst/>
          </a:prstGeom>
          <a:noFill/>
          <a:ln>
            <a:solidFill>
              <a:schemeClr val="tx1"/>
            </a:solidFill>
          </a:ln>
        </p:spPr>
        <p:txBody>
          <a:bodyPr wrap="square" rtlCol="0">
            <a:spAutoFit/>
          </a:bodyPr>
          <a:lstStyle/>
          <a:p>
            <a:r>
              <a:rPr lang="en-IN" sz="1400" b="1">
                <a:latin typeface="Times New Roman" panose="02020603050405020304" pitchFamily="18" charset="0"/>
                <a:cs typeface="Times New Roman" panose="02020603050405020304" pitchFamily="18" charset="0"/>
              </a:rPr>
              <a:t>Charging indicator</a:t>
            </a:r>
          </a:p>
        </p:txBody>
      </p:sp>
      <p:sp>
        <p:nvSpPr>
          <p:cNvPr id="8" name="TextBox 7">
            <a:extLst>
              <a:ext uri="{FF2B5EF4-FFF2-40B4-BE49-F238E27FC236}">
                <a16:creationId xmlns:a16="http://schemas.microsoft.com/office/drawing/2014/main" id="{81B8937C-33D7-D348-CDBE-B777E42A57AA}"/>
              </a:ext>
            </a:extLst>
          </p:cNvPr>
          <p:cNvSpPr txBox="1"/>
          <p:nvPr/>
        </p:nvSpPr>
        <p:spPr>
          <a:xfrm>
            <a:off x="-1" y="0"/>
            <a:ext cx="3647769" cy="369332"/>
          </a:xfrm>
          <a:prstGeom prst="rect">
            <a:avLst/>
          </a:prstGeom>
          <a:solidFill>
            <a:schemeClr val="tx2">
              <a:lumMod val="20000"/>
              <a:lumOff val="80000"/>
            </a:schemeClr>
          </a:solidFill>
        </p:spPr>
        <p:txBody>
          <a:bodyPr wrap="square">
            <a:spAutoFit/>
          </a:bodyPr>
          <a:lstStyle/>
          <a:p>
            <a:r>
              <a:rPr lang="en-US" sz="1800" b="1">
                <a:latin typeface="Times New Roman" panose="02020603050405020304" pitchFamily="18" charset="0"/>
                <a:cs typeface="Times New Roman" panose="02020603050405020304" pitchFamily="18" charset="0"/>
              </a:rPr>
              <a:t>Mini Project  (</a:t>
            </a:r>
            <a:r>
              <a:rPr lang="en-IN"/>
              <a:t>23EECW301</a:t>
            </a:r>
            <a:r>
              <a:rPr lang="en-US" sz="1800" b="1">
                <a:latin typeface="Times New Roman" panose="02020603050405020304" pitchFamily="18" charset="0"/>
                <a:cs typeface="Times New Roman" panose="02020603050405020304" pitchFamily="18" charset="0"/>
              </a:rPr>
              <a:t>)</a:t>
            </a:r>
            <a:endParaRPr lang="en-IN" sz="1800"/>
          </a:p>
        </p:txBody>
      </p:sp>
      <p:pic>
        <p:nvPicPr>
          <p:cNvPr id="13" name="Picture 12" descr="KLE Technological University in Hubballi">
            <a:extLst>
              <a:ext uri="{FF2B5EF4-FFF2-40B4-BE49-F238E27FC236}">
                <a16:creationId xmlns:a16="http://schemas.microsoft.com/office/drawing/2014/main" id="{76197BA4-4C7D-233C-EC45-26198FABB4CB}"/>
              </a:ext>
            </a:extLst>
          </p:cNvPr>
          <p:cNvPicPr>
            <a:picLocks noChangeAspect="1"/>
          </p:cNvPicPr>
          <p:nvPr/>
        </p:nvPicPr>
        <p:blipFill rotWithShape="1">
          <a:blip r:embed="rId3">
            <a:extLst>
              <a:ext uri="{28A0092B-C50C-407E-A947-70E740481C1C}">
                <a14:useLocalDpi xmlns:a14="http://schemas.microsoft.com/office/drawing/2010/main" val="0"/>
              </a:ext>
            </a:extLst>
          </a:blip>
          <a:srcRect t="37713" b="37711"/>
          <a:stretch/>
        </p:blipFill>
        <p:spPr bwMode="auto">
          <a:xfrm>
            <a:off x="9544414" y="0"/>
            <a:ext cx="2647586" cy="386180"/>
          </a:xfrm>
          <a:prstGeom prst="rect">
            <a:avLst/>
          </a:prstGeom>
          <a:noFill/>
          <a:ln>
            <a:noFill/>
          </a:ln>
          <a:extLst>
            <a:ext uri="{53640926-AAD7-44D8-BBD7-CCE9431645EC}">
              <a14:shadowObscured xmlns:a14="http://schemas.microsoft.com/office/drawing/2010/main"/>
            </a:ext>
          </a:extLst>
        </p:spPr>
      </p:pic>
      <p:sp>
        <p:nvSpPr>
          <p:cNvPr id="9" name="TextBox 8">
            <a:extLst>
              <a:ext uri="{FF2B5EF4-FFF2-40B4-BE49-F238E27FC236}">
                <a16:creationId xmlns:a16="http://schemas.microsoft.com/office/drawing/2014/main" id="{B6FA0D77-0FA0-B383-5563-388B810423F3}"/>
              </a:ext>
            </a:extLst>
          </p:cNvPr>
          <p:cNvSpPr txBox="1"/>
          <p:nvPr/>
        </p:nvSpPr>
        <p:spPr>
          <a:xfrm>
            <a:off x="4411744" y="175784"/>
            <a:ext cx="4006391" cy="646331"/>
          </a:xfrm>
          <a:prstGeom prst="rect">
            <a:avLst/>
          </a:prstGeom>
          <a:noFill/>
          <a:ln>
            <a:solidFill>
              <a:schemeClr val="tx1"/>
            </a:solidFill>
          </a:ln>
        </p:spPr>
        <p:txBody>
          <a:bodyPr wrap="square" lIns="91440" tIns="45720" rIns="91440" bIns="45720" rtlCol="0" anchor="t">
            <a:spAutoFit/>
          </a:bodyPr>
          <a:lstStyle/>
          <a:p>
            <a:pPr algn="ctr"/>
            <a:r>
              <a:rPr lang="en-IN" b="1" dirty="0">
                <a:latin typeface="Times New Roman" panose="02020603050405020304" pitchFamily="18" charset="0"/>
                <a:cs typeface="Times New Roman" panose="02020603050405020304" pitchFamily="18" charset="0"/>
              </a:rPr>
              <a:t>HARDWARE IMPLEMENTATION RESULTS</a:t>
            </a:r>
          </a:p>
        </p:txBody>
      </p:sp>
    </p:spTree>
    <p:extLst>
      <p:ext uri="{BB962C8B-B14F-4D97-AF65-F5344CB8AC3E}">
        <p14:creationId xmlns:p14="http://schemas.microsoft.com/office/powerpoint/2010/main" val="23231907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30DE9-0CE4-9545-54A5-648D1FFEDA3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12501C3-181B-4508-67B4-3E9333DCD6E2}"/>
              </a:ext>
            </a:extLst>
          </p:cNvPr>
          <p:cNvSpPr/>
          <p:nvPr/>
        </p:nvSpPr>
        <p:spPr>
          <a:xfrm>
            <a:off x="271619" y="860612"/>
            <a:ext cx="11648761" cy="554018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latin typeface="Times New Roman" panose="02020603050405020304" pitchFamily="18" charset="0"/>
                <a:cs typeface="Times New Roman" panose="02020603050405020304" pitchFamily="18" charset="0"/>
              </a:rPr>
              <a:t>Questions encountered during the project</a:t>
            </a:r>
            <a:r>
              <a:rPr lang="en-US" sz="3200" b="1" dirty="0">
                <a:latin typeface="Times New Roman" panose="02020603050405020304" pitchFamily="18" charset="0"/>
                <a:cs typeface="Times New Roman" panose="02020603050405020304" pitchFamily="18" charset="0"/>
              </a:rPr>
              <a:t> M</a:t>
            </a:r>
          </a:p>
          <a:p>
            <a:r>
              <a:rPr lang="en-US" sz="2400"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Title :How Cars Have Evolved Over the Last 2 Decades (≈ 2005–2025)</a:t>
            </a:r>
          </a:p>
          <a:p>
            <a:r>
              <a:rPr lang="en-US" b="1" dirty="0">
                <a:latin typeface="Times New Roman" panose="02020603050405020304" pitchFamily="18" charset="0"/>
                <a:cs typeface="Times New Roman" panose="02020603050405020304" pitchFamily="18" charset="0"/>
              </a:rPr>
              <a:t>  NAME :Sahana Mathapati</a:t>
            </a:r>
          </a:p>
          <a:p>
            <a:r>
              <a:rPr lang="en-US" b="1" dirty="0">
                <a:latin typeface="Times New Roman" panose="02020603050405020304" pitchFamily="18" charset="0"/>
                <a:cs typeface="Times New Roman" panose="02020603050405020304" pitchFamily="18" charset="0"/>
              </a:rPr>
              <a:t>COLLEGE: KLE Technological University ,Hubli</a:t>
            </a:r>
          </a:p>
          <a:p>
            <a:r>
              <a:rPr lang="en-US" b="1" dirty="0">
                <a:latin typeface="Times New Roman" panose="02020603050405020304" pitchFamily="18" charset="0"/>
                <a:cs typeface="Times New Roman" panose="02020603050405020304" pitchFamily="18" charset="0"/>
              </a:rPr>
              <a:t> Pre Assignment -1</a:t>
            </a:r>
          </a:p>
          <a:p>
            <a:endParaRPr lang="en-US"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5D2D0E13-DA7F-2DE3-C19D-9C30C08815D3}"/>
              </a:ext>
            </a:extLst>
          </p:cNvPr>
          <p:cNvSpPr txBox="1"/>
          <p:nvPr/>
        </p:nvSpPr>
        <p:spPr>
          <a:xfrm>
            <a:off x="-1" y="0"/>
            <a:ext cx="3647769" cy="369332"/>
          </a:xfrm>
          <a:prstGeom prst="rect">
            <a:avLst/>
          </a:prstGeom>
          <a:solidFill>
            <a:schemeClr val="tx2">
              <a:lumMod val="20000"/>
              <a:lumOff val="80000"/>
            </a:schemeClr>
          </a:solidFill>
        </p:spPr>
        <p:txBody>
          <a:bodyPr wrap="square">
            <a:spAutoFit/>
          </a:bodyPr>
          <a:lstStyle/>
          <a:p>
            <a:r>
              <a:rPr lang="en-US" sz="1800" b="1">
                <a:latin typeface="Times New Roman" panose="02020603050405020304" pitchFamily="18" charset="0"/>
                <a:cs typeface="Times New Roman" panose="02020603050405020304" pitchFamily="18" charset="0"/>
              </a:rPr>
              <a:t>Mini Project  (</a:t>
            </a:r>
            <a:r>
              <a:rPr lang="en-IN"/>
              <a:t>23EECW301</a:t>
            </a:r>
            <a:r>
              <a:rPr lang="en-US" sz="1800" b="1">
                <a:latin typeface="Times New Roman" panose="02020603050405020304" pitchFamily="18" charset="0"/>
                <a:cs typeface="Times New Roman" panose="02020603050405020304" pitchFamily="18" charset="0"/>
              </a:rPr>
              <a:t>)</a:t>
            </a:r>
            <a:endParaRPr lang="en-IN" sz="1800"/>
          </a:p>
        </p:txBody>
      </p:sp>
      <p:pic>
        <p:nvPicPr>
          <p:cNvPr id="13" name="Picture 12" descr="KLE Technological University in Hubballi">
            <a:extLst>
              <a:ext uri="{FF2B5EF4-FFF2-40B4-BE49-F238E27FC236}">
                <a16:creationId xmlns:a16="http://schemas.microsoft.com/office/drawing/2014/main" id="{398DAB8E-FEA8-668E-924A-188E411759C9}"/>
              </a:ext>
            </a:extLst>
          </p:cNvPr>
          <p:cNvPicPr>
            <a:picLocks noChangeAspect="1"/>
          </p:cNvPicPr>
          <p:nvPr/>
        </p:nvPicPr>
        <p:blipFill rotWithShape="1">
          <a:blip r:embed="rId2">
            <a:extLst>
              <a:ext uri="{28A0092B-C50C-407E-A947-70E740481C1C}">
                <a14:useLocalDpi xmlns:a14="http://schemas.microsoft.com/office/drawing/2010/main" val="0"/>
              </a:ext>
            </a:extLst>
          </a:blip>
          <a:srcRect t="37713" b="37711"/>
          <a:stretch/>
        </p:blipFill>
        <p:spPr bwMode="auto">
          <a:xfrm>
            <a:off x="9544414" y="0"/>
            <a:ext cx="2647586" cy="38618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3924806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KLE Technological University in Hubballi">
            <a:extLst>
              <a:ext uri="{FF2B5EF4-FFF2-40B4-BE49-F238E27FC236}">
                <a16:creationId xmlns:a16="http://schemas.microsoft.com/office/drawing/2014/main" id="{D1FE8257-33A0-C1A5-CC83-02DF8D990561}"/>
              </a:ext>
            </a:extLst>
          </p:cNvPr>
          <p:cNvPicPr>
            <a:picLocks noChangeAspect="1"/>
          </p:cNvPicPr>
          <p:nvPr/>
        </p:nvPicPr>
        <p:blipFill rotWithShape="1">
          <a:blip r:embed="rId2">
            <a:extLst>
              <a:ext uri="{28A0092B-C50C-407E-A947-70E740481C1C}">
                <a14:useLocalDpi xmlns:a14="http://schemas.microsoft.com/office/drawing/2010/main" val="0"/>
              </a:ext>
            </a:extLst>
          </a:blip>
          <a:srcRect t="37713" b="37711"/>
          <a:stretch/>
        </p:blipFill>
        <p:spPr bwMode="auto">
          <a:xfrm>
            <a:off x="9544414" y="0"/>
            <a:ext cx="2647586" cy="623017"/>
          </a:xfrm>
          <a:prstGeom prst="rect">
            <a:avLst/>
          </a:prstGeom>
          <a:noFill/>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5756E0C2-EF82-B4CF-51F5-6A56D53D5AF9}"/>
              </a:ext>
            </a:extLst>
          </p:cNvPr>
          <p:cNvSpPr txBox="1"/>
          <p:nvPr/>
        </p:nvSpPr>
        <p:spPr>
          <a:xfrm>
            <a:off x="-1" y="0"/>
            <a:ext cx="3647769" cy="369332"/>
          </a:xfrm>
          <a:prstGeom prst="rect">
            <a:avLst/>
          </a:prstGeom>
          <a:solidFill>
            <a:schemeClr val="tx2">
              <a:lumMod val="20000"/>
              <a:lumOff val="80000"/>
            </a:schemeClr>
          </a:solidFill>
        </p:spPr>
        <p:txBody>
          <a:bodyPr wrap="square">
            <a:spAutoFit/>
          </a:bodyPr>
          <a:lstStyle/>
          <a:p>
            <a:r>
              <a:rPr lang="en-US" sz="1800" b="1">
                <a:latin typeface="Times New Roman" panose="02020603050405020304" pitchFamily="18" charset="0"/>
                <a:cs typeface="Times New Roman" panose="02020603050405020304" pitchFamily="18" charset="0"/>
              </a:rPr>
              <a:t>Mini Project  (</a:t>
            </a:r>
            <a:r>
              <a:rPr lang="en-IN"/>
              <a:t>23EECW301</a:t>
            </a:r>
            <a:r>
              <a:rPr lang="en-US" sz="1800" b="1">
                <a:latin typeface="Times New Roman" panose="02020603050405020304" pitchFamily="18" charset="0"/>
                <a:cs typeface="Times New Roman" panose="02020603050405020304" pitchFamily="18" charset="0"/>
              </a:rPr>
              <a:t>)</a:t>
            </a:r>
            <a:endParaRPr lang="en-IN" sz="1800"/>
          </a:p>
        </p:txBody>
      </p:sp>
      <p:graphicFrame>
        <p:nvGraphicFramePr>
          <p:cNvPr id="6" name="Table 5">
            <a:extLst>
              <a:ext uri="{FF2B5EF4-FFF2-40B4-BE49-F238E27FC236}">
                <a16:creationId xmlns:a16="http://schemas.microsoft.com/office/drawing/2014/main" id="{BEDA8E41-45C1-3A7B-D98B-C0B794D2D19D}"/>
              </a:ext>
            </a:extLst>
          </p:cNvPr>
          <p:cNvGraphicFramePr>
            <a:graphicFrameLocks noGrp="1"/>
          </p:cNvGraphicFramePr>
          <p:nvPr>
            <p:extLst>
              <p:ext uri="{D42A27DB-BD31-4B8C-83A1-F6EECF244321}">
                <p14:modId xmlns:p14="http://schemas.microsoft.com/office/powerpoint/2010/main" val="366260435"/>
              </p:ext>
            </p:extLst>
          </p:nvPr>
        </p:nvGraphicFramePr>
        <p:xfrm>
          <a:off x="117987" y="867150"/>
          <a:ext cx="11956026" cy="5568082"/>
        </p:xfrm>
        <a:graphic>
          <a:graphicData uri="http://schemas.openxmlformats.org/drawingml/2006/table">
            <a:tbl>
              <a:tblPr firstRow="1" bandRow="1">
                <a:tableStyleId>{5C22544A-7EE6-4342-B048-85BDC9FD1C3A}</a:tableStyleId>
              </a:tblPr>
              <a:tblGrid>
                <a:gridCol w="11956026">
                  <a:extLst>
                    <a:ext uri="{9D8B030D-6E8A-4147-A177-3AD203B41FA5}">
                      <a16:colId xmlns:a16="http://schemas.microsoft.com/office/drawing/2014/main" val="3690383400"/>
                    </a:ext>
                  </a:extLst>
                </a:gridCol>
              </a:tblGrid>
              <a:tr h="755173">
                <a:tc>
                  <a:txBody>
                    <a:bodyPr/>
                    <a:lstStyle/>
                    <a:p>
                      <a:pPr marL="342900" indent="-342900">
                        <a:buAutoNum type="arabicPeriod"/>
                      </a:pPr>
                      <a:r>
                        <a:rPr lang="en-IN" b="1">
                          <a:solidFill>
                            <a:schemeClr val="tx1"/>
                          </a:solidFill>
                          <a:latin typeface="Times New Roman"/>
                          <a:cs typeface="Times New Roman"/>
                        </a:rPr>
                        <a:t>What Output is expected ?</a:t>
                      </a:r>
                    </a:p>
                    <a:p>
                      <a:pPr marL="285750" indent="-285750">
                        <a:buFont typeface="Wingdings" panose="05000000000000000000" pitchFamily="2" charset="2"/>
                        <a:buChar char="Ø"/>
                      </a:pPr>
                      <a:r>
                        <a:rPr lang="en-IN" b="0">
                          <a:solidFill>
                            <a:schemeClr val="tx1"/>
                          </a:solidFill>
                          <a:latin typeface="Times New Roman"/>
                          <a:cs typeface="Times New Roman"/>
                        </a:rPr>
                        <a:t>The output the specifications are : 5V , 1A DC supply.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5627482"/>
                  </a:ext>
                </a:extLst>
              </a:tr>
              <a:tr h="825909">
                <a:tc>
                  <a:txBody>
                    <a:bodyPr/>
                    <a:lstStyle/>
                    <a:p>
                      <a:r>
                        <a:rPr lang="en-IN" b="1">
                          <a:latin typeface="Times New Roman"/>
                          <a:cs typeface="Times New Roman"/>
                        </a:rPr>
                        <a:t>2. What does 5V , 1A DC supply actually mean ?</a:t>
                      </a:r>
                    </a:p>
                    <a:p>
                      <a:pPr marL="285750" indent="-285750">
                        <a:buFont typeface="Wingdings" panose="05000000000000000000" pitchFamily="2" charset="2"/>
                        <a:buChar char="Ø"/>
                      </a:pPr>
                      <a:r>
                        <a:rPr lang="en-IN" b="0">
                          <a:latin typeface="Times New Roman"/>
                          <a:cs typeface="Times New Roman"/>
                        </a:rPr>
                        <a:t>It means the output should provide 5v constant supply voltage and the current ranging from 0 to 1A.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1310812"/>
                  </a:ext>
                </a:extLst>
              </a:tr>
              <a:tr h="806246">
                <a:tc>
                  <a:txBody>
                    <a:bodyPr/>
                    <a:lstStyle/>
                    <a:p>
                      <a:r>
                        <a:rPr lang="en-IN" b="1">
                          <a:latin typeface="Times New Roman"/>
                          <a:cs typeface="Times New Roman"/>
                        </a:rPr>
                        <a:t>3. Why the current is Variable or 0 to 1A ?</a:t>
                      </a:r>
                    </a:p>
                    <a:p>
                      <a:pPr marL="285750" indent="-285750">
                        <a:buFont typeface="Wingdings" panose="05000000000000000000" pitchFamily="2" charset="2"/>
                        <a:buChar char="Ø"/>
                      </a:pPr>
                      <a:r>
                        <a:rPr lang="en-IN" b="0">
                          <a:latin typeface="Times New Roman"/>
                          <a:cs typeface="Times New Roman"/>
                        </a:rPr>
                        <a:t>Because the current value will vary according to load , meaning that the load will draw how much current it needs.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3354296"/>
                  </a:ext>
                </a:extLst>
              </a:tr>
              <a:tr h="996017">
                <a:tc>
                  <a:txBody>
                    <a:bodyPr/>
                    <a:lstStyle/>
                    <a:p>
                      <a:pPr marL="0" indent="0">
                        <a:buFont typeface="Wingdings" panose="05000000000000000000" pitchFamily="2" charset="2"/>
                        <a:buNone/>
                      </a:pPr>
                      <a:r>
                        <a:rPr lang="en-IN" b="1">
                          <a:latin typeface="Times New Roman"/>
                          <a:cs typeface="Times New Roman"/>
                        </a:rPr>
                        <a:t>4. What if output current is very less than required by the device ?</a:t>
                      </a:r>
                    </a:p>
                    <a:p>
                      <a:pPr marL="285750" indent="-285750">
                        <a:buFont typeface="Wingdings" panose="05000000000000000000" pitchFamily="2" charset="2"/>
                        <a:buChar char="Ø"/>
                      </a:pPr>
                      <a:r>
                        <a:rPr lang="en-IN" b="0">
                          <a:latin typeface="Times New Roman"/>
                          <a:cs typeface="Times New Roman"/>
                        </a:rPr>
                        <a:t>If this occurs then the power supply doesn’t work properly and the output voltage may vary and the device will not charge properly (phone may show like “slow charging”);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3868199"/>
                  </a:ext>
                </a:extLst>
              </a:tr>
              <a:tr h="996017">
                <a:tc>
                  <a:txBody>
                    <a:bodyPr/>
                    <a:lstStyle/>
                    <a:p>
                      <a:r>
                        <a:rPr lang="en-IN" b="1">
                          <a:latin typeface="Times New Roman"/>
                          <a:cs typeface="Times New Roman"/>
                        </a:rPr>
                        <a:t>5. How much Power is wasted as heat?</a:t>
                      </a:r>
                    </a:p>
                    <a:p>
                      <a:pPr marL="285750" lvl="0" indent="-285750">
                        <a:buFont typeface="Wingdings"/>
                        <a:buChar char="Ø"/>
                      </a:pPr>
                      <a:r>
                        <a:rPr lang="en-IN" b="1">
                          <a:solidFill>
                            <a:schemeClr val="tx1"/>
                          </a:solidFill>
                          <a:latin typeface="Times New Roman"/>
                          <a:cs typeface="Times New Roman"/>
                        </a:rPr>
                        <a:t> </a:t>
                      </a:r>
                      <a:r>
                        <a:rPr lang="en-IN" sz="1800" b="0" i="0" u="none" strike="noStrike" noProof="0">
                          <a:solidFill>
                            <a:schemeClr val="tx1"/>
                          </a:solidFill>
                        </a:rPr>
                        <a:t>P=(Vin−</a:t>
                      </a:r>
                      <a:r>
                        <a:rPr lang="en-IN" sz="1800" b="0" i="0" u="none" strike="noStrike" noProof="0" err="1">
                          <a:solidFill>
                            <a:schemeClr val="tx1"/>
                          </a:solidFill>
                        </a:rPr>
                        <a:t>Vout</a:t>
                      </a:r>
                      <a:r>
                        <a:rPr lang="en-IN" sz="1800" b="0" i="0" u="none" strike="noStrike" noProof="0">
                          <a:solidFill>
                            <a:schemeClr val="tx1"/>
                          </a:solidFill>
                        </a:rPr>
                        <a:t>) × current (I)         </a:t>
                      </a:r>
                      <a:br>
                        <a:rPr lang="en-IN" sz="1800" b="0" i="0" u="none" strike="noStrike" noProof="0">
                          <a:solidFill>
                            <a:srgbClr val="000000"/>
                          </a:solidFill>
                        </a:rPr>
                      </a:br>
                      <a:r>
                        <a:rPr lang="en-IN" sz="1800" b="0" i="0" u="none" strike="noStrike" noProof="0">
                          <a:solidFill>
                            <a:schemeClr val="tx1"/>
                          </a:solidFill>
                        </a:rPr>
                        <a:t>At Vin = 12V, </a:t>
                      </a:r>
                      <a:r>
                        <a:rPr lang="en-IN" sz="1800" b="0" i="0" u="none" strike="noStrike" noProof="0" err="1">
                          <a:solidFill>
                            <a:schemeClr val="tx1"/>
                          </a:solidFill>
                        </a:rPr>
                        <a:t>Vout</a:t>
                      </a:r>
                      <a:r>
                        <a:rPr lang="en-IN" sz="1800" b="0" i="0" u="none" strike="noStrike" noProof="0">
                          <a:solidFill>
                            <a:schemeClr val="tx1"/>
                          </a:solidFill>
                        </a:rPr>
                        <a:t> = 5V,  I = 1A → 7</a:t>
                      </a:r>
                      <a:r>
                        <a:rPr lang="en-IN" sz="1800" b="1" i="0" u="none" strike="noStrike" noProof="0">
                          <a:solidFill>
                            <a:schemeClr val="tx1"/>
                          </a:solidFill>
                        </a:rPr>
                        <a:t>W heat!</a:t>
                      </a:r>
                    </a:p>
                    <a:p>
                      <a:pPr marL="285750" lvl="0" indent="-285750">
                        <a:buFont typeface="Wingdings"/>
                        <a:buChar char="Ø"/>
                      </a:pPr>
                      <a:endParaRPr lang="en-IN" b="1">
                        <a:solidFill>
                          <a:schemeClr val="tx1"/>
                        </a:solidFill>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5016278"/>
                  </a:ext>
                </a:extLst>
              </a:tr>
              <a:tr h="996017">
                <a:tc>
                  <a:txBody>
                    <a:bodyPr/>
                    <a:lstStyle/>
                    <a:p>
                      <a:pPr marL="0" lvl="0" indent="0" algn="l">
                        <a:buNone/>
                      </a:pPr>
                      <a:r>
                        <a:rPr lang="en-IN" b="1">
                          <a:latin typeface="Times New Roman"/>
                          <a:cs typeface="Times New Roman"/>
                        </a:rPr>
                        <a:t>6. Why we used specifically diode 1N4007?</a:t>
                      </a:r>
                    </a:p>
                    <a:p>
                      <a:pPr marL="285750" lvl="0" indent="-285750" algn="l">
                        <a:buFont typeface="Wingdings"/>
                        <a:buChar char="Ø"/>
                      </a:pPr>
                      <a:r>
                        <a:rPr lang="en-IN" b="0">
                          <a:latin typeface="Times New Roman"/>
                          <a:cs typeface="Times New Roman"/>
                        </a:rPr>
                        <a:t>They are rectifier diodes , rated for 1A current low cost and standard for power supplies.</a:t>
                      </a:r>
                      <a:br>
                        <a:rPr lang="en-IN" b="0">
                          <a:latin typeface="Times New Roman"/>
                          <a:cs typeface="Times New Roman"/>
                        </a:rPr>
                      </a:br>
                      <a:endParaRPr lang="en-IN" b="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2059146"/>
                  </a:ext>
                </a:extLst>
              </a:tr>
            </a:tbl>
          </a:graphicData>
        </a:graphic>
      </p:graphicFrame>
      <p:sp>
        <p:nvSpPr>
          <p:cNvPr id="7" name="TextBox 6">
            <a:extLst>
              <a:ext uri="{FF2B5EF4-FFF2-40B4-BE49-F238E27FC236}">
                <a16:creationId xmlns:a16="http://schemas.microsoft.com/office/drawing/2014/main" id="{082E1FE7-94DC-CD02-6DAA-3BC65E70A50E}"/>
              </a:ext>
            </a:extLst>
          </p:cNvPr>
          <p:cNvSpPr txBox="1"/>
          <p:nvPr/>
        </p:nvSpPr>
        <p:spPr>
          <a:xfrm>
            <a:off x="4424516" y="430805"/>
            <a:ext cx="3834581" cy="369332"/>
          </a:xfrm>
          <a:prstGeom prst="rect">
            <a:avLst/>
          </a:prstGeom>
          <a:noFill/>
          <a:ln>
            <a:solidFill>
              <a:schemeClr val="tx1"/>
            </a:solidFill>
          </a:ln>
        </p:spPr>
        <p:txBody>
          <a:bodyPr wrap="square" rtlCol="0">
            <a:spAutoFit/>
          </a:bodyPr>
          <a:lstStyle/>
          <a:p>
            <a:pPr algn="ctr"/>
            <a:r>
              <a:rPr lang="en-IN" b="1">
                <a:latin typeface="Times New Roman" panose="02020603050405020304" pitchFamily="18" charset="0"/>
                <a:cs typeface="Times New Roman" panose="02020603050405020304" pitchFamily="18" charset="0"/>
              </a:rPr>
              <a:t>OUTPUT SPECIFICATIONS</a:t>
            </a:r>
          </a:p>
        </p:txBody>
      </p:sp>
    </p:spTree>
    <p:extLst>
      <p:ext uri="{BB962C8B-B14F-4D97-AF65-F5344CB8AC3E}">
        <p14:creationId xmlns:p14="http://schemas.microsoft.com/office/powerpoint/2010/main" val="11605709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585DA-D038-DF7C-F0E8-0D18FCCA3998}"/>
            </a:ext>
          </a:extLst>
        </p:cNvPr>
        <p:cNvGrpSpPr/>
        <p:nvPr/>
      </p:nvGrpSpPr>
      <p:grpSpPr>
        <a:xfrm>
          <a:off x="0" y="0"/>
          <a:ext cx="0" cy="0"/>
          <a:chOff x="0" y="0"/>
          <a:chExt cx="0" cy="0"/>
        </a:xfrm>
      </p:grpSpPr>
      <p:pic>
        <p:nvPicPr>
          <p:cNvPr id="4" name="Picture 3" descr="KLE Technological University in Hubballi">
            <a:extLst>
              <a:ext uri="{FF2B5EF4-FFF2-40B4-BE49-F238E27FC236}">
                <a16:creationId xmlns:a16="http://schemas.microsoft.com/office/drawing/2014/main" id="{34325C6B-80F1-7607-B08A-7B7D0039B4F0}"/>
              </a:ext>
            </a:extLst>
          </p:cNvPr>
          <p:cNvPicPr>
            <a:picLocks noChangeAspect="1"/>
          </p:cNvPicPr>
          <p:nvPr/>
        </p:nvPicPr>
        <p:blipFill rotWithShape="1">
          <a:blip r:embed="rId2">
            <a:extLst>
              <a:ext uri="{28A0092B-C50C-407E-A947-70E740481C1C}">
                <a14:useLocalDpi xmlns:a14="http://schemas.microsoft.com/office/drawing/2010/main" val="0"/>
              </a:ext>
            </a:extLst>
          </a:blip>
          <a:srcRect t="37713" b="37711"/>
          <a:stretch/>
        </p:blipFill>
        <p:spPr bwMode="auto">
          <a:xfrm>
            <a:off x="9544414" y="0"/>
            <a:ext cx="2647586" cy="623017"/>
          </a:xfrm>
          <a:prstGeom prst="rect">
            <a:avLst/>
          </a:prstGeom>
          <a:noFill/>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B2D86FE3-F03F-16F3-705B-B81E9948442A}"/>
              </a:ext>
            </a:extLst>
          </p:cNvPr>
          <p:cNvSpPr txBox="1"/>
          <p:nvPr/>
        </p:nvSpPr>
        <p:spPr>
          <a:xfrm>
            <a:off x="-1" y="0"/>
            <a:ext cx="3647769" cy="369332"/>
          </a:xfrm>
          <a:prstGeom prst="rect">
            <a:avLst/>
          </a:prstGeom>
          <a:solidFill>
            <a:schemeClr val="tx2">
              <a:lumMod val="20000"/>
              <a:lumOff val="80000"/>
            </a:schemeClr>
          </a:solidFill>
        </p:spPr>
        <p:txBody>
          <a:bodyPr wrap="square">
            <a:spAutoFit/>
          </a:bodyPr>
          <a:lstStyle/>
          <a:p>
            <a:r>
              <a:rPr lang="en-US" sz="1800" b="1">
                <a:latin typeface="Times New Roman" panose="02020603050405020304" pitchFamily="18" charset="0"/>
                <a:cs typeface="Times New Roman" panose="02020603050405020304" pitchFamily="18" charset="0"/>
              </a:rPr>
              <a:t>Mini Project  (</a:t>
            </a:r>
            <a:r>
              <a:rPr lang="en-IN"/>
              <a:t>23EECW301</a:t>
            </a:r>
            <a:r>
              <a:rPr lang="en-US" sz="1800" b="1">
                <a:latin typeface="Times New Roman" panose="02020603050405020304" pitchFamily="18" charset="0"/>
                <a:cs typeface="Times New Roman" panose="02020603050405020304" pitchFamily="18" charset="0"/>
              </a:rPr>
              <a:t>)</a:t>
            </a:r>
            <a:endParaRPr lang="en-IN" sz="1800"/>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E82AB293-E007-26B5-ADB3-8F5A64A4D728}"/>
                  </a:ext>
                </a:extLst>
              </p:cNvPr>
              <p:cNvGraphicFramePr>
                <a:graphicFrameLocks noGrp="1"/>
              </p:cNvGraphicFramePr>
              <p:nvPr>
                <p:extLst>
                  <p:ext uri="{D42A27DB-BD31-4B8C-83A1-F6EECF244321}">
                    <p14:modId xmlns:p14="http://schemas.microsoft.com/office/powerpoint/2010/main" val="3573425278"/>
                  </p:ext>
                </p:extLst>
              </p:nvPr>
            </p:nvGraphicFramePr>
            <p:xfrm>
              <a:off x="117987" y="867150"/>
              <a:ext cx="11956026" cy="5310608"/>
            </p:xfrm>
            <a:graphic>
              <a:graphicData uri="http://schemas.openxmlformats.org/drawingml/2006/table">
                <a:tbl>
                  <a:tblPr firstRow="1" bandRow="1">
                    <a:tableStyleId>{5C22544A-7EE6-4342-B048-85BDC9FD1C3A}</a:tableStyleId>
                  </a:tblPr>
                  <a:tblGrid>
                    <a:gridCol w="11956026">
                      <a:extLst>
                        <a:ext uri="{9D8B030D-6E8A-4147-A177-3AD203B41FA5}">
                          <a16:colId xmlns:a16="http://schemas.microsoft.com/office/drawing/2014/main" val="3690383400"/>
                        </a:ext>
                      </a:extLst>
                    </a:gridCol>
                  </a:tblGrid>
                  <a:tr h="755173">
                    <a:tc>
                      <a:txBody>
                        <a:bodyPr/>
                        <a:lstStyle/>
                        <a:p>
                          <a:pPr marL="342900" indent="-342900">
                            <a:buAutoNum type="arabicPeriod"/>
                          </a:pPr>
                          <a:r>
                            <a:rPr lang="en-IN" b="1">
                              <a:solidFill>
                                <a:schemeClr val="tx1"/>
                              </a:solidFill>
                              <a:latin typeface="Times New Roman"/>
                              <a:cs typeface="Times New Roman"/>
                            </a:rPr>
                            <a:t>What is the supply we are providing ?</a:t>
                          </a:r>
                        </a:p>
                        <a:p>
                          <a:pPr marL="285750" indent="-285750">
                            <a:buFont typeface="Wingdings" panose="05000000000000000000" pitchFamily="2" charset="2"/>
                            <a:buChar char="Ø"/>
                          </a:pPr>
                          <a:r>
                            <a:rPr lang="en-IN" b="0">
                              <a:solidFill>
                                <a:schemeClr val="tx1"/>
                              </a:solidFill>
                              <a:latin typeface="Times New Roman"/>
                              <a:cs typeface="Times New Roman"/>
                            </a:rPr>
                            <a:t>Single</a:t>
                          </a:r>
                          <a:r>
                            <a:rPr lang="en-IN" b="0" baseline="0">
                              <a:solidFill>
                                <a:schemeClr val="tx1"/>
                              </a:solidFill>
                              <a:latin typeface="Times New Roman"/>
                              <a:cs typeface="Times New Roman"/>
                            </a:rPr>
                            <a:t> Phase </a:t>
                          </a:r>
                          <a:r>
                            <a:rPr lang="en-IN" b="0">
                              <a:solidFill>
                                <a:schemeClr val="tx1"/>
                              </a:solidFill>
                              <a:latin typeface="Times New Roman"/>
                              <a:cs typeface="Times New Roman"/>
                            </a:rPr>
                            <a:t>230V , 50Hz AC input and it has a maximum or peak voltage (</a:t>
                          </a:r>
                          <a14:m>
                            <m:oMath xmlns:m="http://schemas.openxmlformats.org/officeDocument/2006/math">
                              <m:sSub>
                                <m:sSubPr>
                                  <m:ctrlPr>
                                    <a:rPr lang="en-IN" b="0" i="1" dirty="0" smtClean="0">
                                      <a:solidFill>
                                        <a:schemeClr val="tx1"/>
                                      </a:solidFill>
                                      <a:latin typeface="Cambria Math" panose="02040503050406030204" pitchFamily="18" charset="0"/>
                                      <a:cs typeface="Times New Roman" panose="02020603050405020304" pitchFamily="18" charset="0"/>
                                    </a:rPr>
                                  </m:ctrlPr>
                                </m:sSubPr>
                                <m:e>
                                  <m:r>
                                    <a:rPr lang="en-IN" b="0" i="1" dirty="0" smtClean="0">
                                      <a:solidFill>
                                        <a:schemeClr val="tx1"/>
                                      </a:solidFill>
                                      <a:latin typeface="Cambria Math" panose="02040503050406030204" pitchFamily="18" charset="0"/>
                                      <a:cs typeface="Times New Roman" panose="02020603050405020304" pitchFamily="18" charset="0"/>
                                    </a:rPr>
                                    <m:t>𝑉</m:t>
                                  </m:r>
                                </m:e>
                                <m:sub>
                                  <m:r>
                                    <a:rPr lang="en-IN" b="0" i="1" dirty="0" smtClean="0">
                                      <a:solidFill>
                                        <a:schemeClr val="tx1"/>
                                      </a:solidFill>
                                      <a:latin typeface="Cambria Math" panose="02040503050406030204" pitchFamily="18" charset="0"/>
                                      <a:cs typeface="Times New Roman" panose="02020603050405020304" pitchFamily="18" charset="0"/>
                                    </a:rPr>
                                    <m:t>𝑝𝑒𝑎𝑘</m:t>
                                  </m:r>
                                </m:sub>
                              </m:sSub>
                            </m:oMath>
                          </a14:m>
                          <a:r>
                            <a:rPr lang="en-IN" b="0">
                              <a:solidFill>
                                <a:schemeClr val="tx1"/>
                              </a:solidFill>
                              <a:latin typeface="Times New Roman"/>
                              <a:cs typeface="Times New Roman"/>
                            </a:rPr>
                            <a:t> = </a:t>
                          </a:r>
                          <a14:m>
                            <m:oMath xmlns:m="http://schemas.openxmlformats.org/officeDocument/2006/math">
                              <m:sSub>
                                <m:sSubPr>
                                  <m:ctrlPr>
                                    <a:rPr lang="en-IN" b="0" i="1" dirty="0" smtClean="0">
                                      <a:solidFill>
                                        <a:schemeClr val="tx1"/>
                                      </a:solidFill>
                                      <a:latin typeface="Cambria Math" panose="02040503050406030204" pitchFamily="18" charset="0"/>
                                      <a:cs typeface="Times New Roman" panose="02020603050405020304" pitchFamily="18" charset="0"/>
                                    </a:rPr>
                                  </m:ctrlPr>
                                </m:sSubPr>
                                <m:e>
                                  <m:r>
                                    <a:rPr lang="en-IN" b="0" i="1" dirty="0" smtClean="0">
                                      <a:solidFill>
                                        <a:schemeClr val="tx1"/>
                                      </a:solidFill>
                                      <a:latin typeface="Cambria Math" panose="02040503050406030204" pitchFamily="18" charset="0"/>
                                      <a:cs typeface="Times New Roman" panose="02020603050405020304" pitchFamily="18" charset="0"/>
                                    </a:rPr>
                                    <m:t>𝑉</m:t>
                                  </m:r>
                                </m:e>
                                <m:sub>
                                  <m:r>
                                    <a:rPr lang="en-IN" b="0" i="1" dirty="0" smtClean="0">
                                      <a:solidFill>
                                        <a:schemeClr val="tx1"/>
                                      </a:solidFill>
                                      <a:latin typeface="Cambria Math" panose="02040503050406030204" pitchFamily="18" charset="0"/>
                                      <a:cs typeface="Times New Roman" panose="02020603050405020304" pitchFamily="18" charset="0"/>
                                    </a:rPr>
                                    <m:t>𝑅𝑀𝑆</m:t>
                                  </m:r>
                                </m:sub>
                              </m:sSub>
                              <m:r>
                                <a:rPr lang="en-IN" b="0" i="1" dirty="0" smtClean="0">
                                  <a:solidFill>
                                    <a:schemeClr val="tx1"/>
                                  </a:solidFill>
                                  <a:latin typeface="Cambria Math" panose="02040503050406030204" pitchFamily="18" charset="0"/>
                                  <a:cs typeface="Times New Roman" panose="02020603050405020304" pitchFamily="18" charset="0"/>
                                </a:rPr>
                                <m:t> </m:t>
                              </m:r>
                              <m:r>
                                <a:rPr lang="en-IN" b="0" i="1"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rad>
                                <m:radPr>
                                  <m:degHide m:val="on"/>
                                  <m:ctrlPr>
                                    <a:rPr lang="en-IN" b="0" i="1"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radPr>
                                <m:deg/>
                                <m:e>
                                  <m:r>
                                    <a:rPr lang="en-IN" b="0" i="1"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2</m:t>
                                  </m:r>
                                </m:e>
                              </m:rad>
                              <m:r>
                                <a:rPr lang="en-IN" b="0" i="1" dirty="0"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en-IN" b="0">
                              <a:solidFill>
                                <a:schemeClr val="tx1"/>
                              </a:solidFill>
                              <a:latin typeface="Times New Roman"/>
                              <a:cs typeface="Times New Roman"/>
                            </a:rPr>
                            <a:t> </a:t>
                          </a:r>
                          <a:r>
                            <a:rPr lang="en-IN" b="0" baseline="0">
                              <a:solidFill>
                                <a:schemeClr val="tx1"/>
                              </a:solidFill>
                              <a:latin typeface="Times New Roman"/>
                              <a:cs typeface="Times New Roman"/>
                            </a:rPr>
                            <a:t> is 325V.</a:t>
                          </a:r>
                        </a:p>
                        <a:p>
                          <a:pPr marL="285750" indent="-285750">
                            <a:buFont typeface="Wingdings" panose="05000000000000000000" pitchFamily="2" charset="2"/>
                            <a:buChar char="Ø"/>
                          </a:pPr>
                          <a:r>
                            <a:rPr lang="en-IN" b="0" baseline="0">
                              <a:solidFill>
                                <a:schemeClr val="tx1"/>
                              </a:solidFill>
                              <a:latin typeface="Times New Roman"/>
                              <a:cs typeface="Times New Roman"/>
                            </a:rPr>
                            <a:t>So the Ac input swin</a:t>
                          </a:r>
                          <a:r>
                            <a:rPr lang="en-IN" b="0" baseline="0">
                              <a:solidFill>
                                <a:schemeClr val="tx1"/>
                              </a:solidFill>
                              <a:latin typeface="Times New Roman" panose="02020603050405020304" pitchFamily="18" charset="0"/>
                              <a:cs typeface="Times New Roman" panose="02020603050405020304" pitchFamily="18" charset="0"/>
                            </a:rPr>
                            <a:t>gs between  “ -325 V to +325 V ”</a:t>
                          </a:r>
                          <a:endParaRPr lang="en-IN" b="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5627482"/>
                      </a:ext>
                    </a:extLst>
                  </a:tr>
                  <a:tr h="825909">
                    <a:tc>
                      <a:txBody>
                        <a:bodyPr/>
                        <a:lstStyle/>
                        <a:p>
                          <a:r>
                            <a:rPr lang="en-IN" b="1">
                              <a:latin typeface="Times New Roman"/>
                              <a:cs typeface="Times New Roman"/>
                            </a:rPr>
                            <a:t>2. What is Power Factor ? What is the value of that here ?</a:t>
                          </a:r>
                        </a:p>
                        <a:p>
                          <a:pPr marL="285750" indent="-285750">
                            <a:buFont typeface="Wingdings" panose="05000000000000000000" pitchFamily="2" charset="2"/>
                            <a:buChar char="Ø"/>
                          </a:pPr>
                          <a:r>
                            <a:rPr lang="en-IN" b="0">
                              <a:latin typeface="Times New Roman"/>
                              <a:cs typeface="Times New Roman"/>
                            </a:rPr>
                            <a:t>Power factor Indicates phase difference between voltage &amp; current (P.F = V I cos(Ø) ).</a:t>
                          </a:r>
                        </a:p>
                        <a:p>
                          <a:pPr marL="285750" indent="-285750">
                            <a:buFont typeface="Wingdings" panose="05000000000000000000" pitchFamily="2" charset="2"/>
                            <a:buChar char="Ø"/>
                          </a:pPr>
                          <a:r>
                            <a:rPr lang="en-IN" b="0">
                              <a:latin typeface="Times New Roman"/>
                              <a:cs typeface="Times New Roman"/>
                            </a:rPr>
                            <a:t>The power factor depends on the Load and for resistive load , P.F = 1.</a:t>
                          </a:r>
                        </a:p>
                        <a:p>
                          <a:pPr marL="285750" indent="-285750">
                            <a:buFont typeface="Wingdings" panose="05000000000000000000" pitchFamily="2" charset="2"/>
                            <a:buChar char="Ø"/>
                          </a:pPr>
                          <a:r>
                            <a:rPr lang="en-IN" b="0">
                              <a:latin typeface="Times New Roman"/>
                              <a:cs typeface="Times New Roman"/>
                            </a:rPr>
                            <a:t>But as transformer is here the Power Factor = 0.8. meaning that current lags behind voltage by </a:t>
                          </a:r>
                          <a14:m>
                            <m:oMath xmlns:m="http://schemas.openxmlformats.org/officeDocument/2006/math">
                              <m:sSup>
                                <m:sSupPr>
                                  <m:ctrlPr>
                                    <a:rPr lang="en-IN" b="0" i="1" smtClean="0">
                                      <a:latin typeface="Cambria Math" panose="02040503050406030204" pitchFamily="18" charset="0"/>
                                      <a:cs typeface="Times New Roman"/>
                                    </a:rPr>
                                  </m:ctrlPr>
                                </m:sSupPr>
                                <m:e>
                                  <m:r>
                                    <a:rPr lang="en-IN" b="0" i="1" smtClean="0">
                                      <a:latin typeface="Cambria Math" panose="02040503050406030204" pitchFamily="18" charset="0"/>
                                      <a:cs typeface="Times New Roman"/>
                                    </a:rPr>
                                    <m:t>𝑐𝑜𝑠</m:t>
                                  </m:r>
                                </m:e>
                                <m:sup>
                                  <m:r>
                                    <a:rPr lang="en-IN" b="0" i="1" smtClean="0">
                                      <a:latin typeface="Cambria Math" panose="02040503050406030204" pitchFamily="18" charset="0"/>
                                      <a:cs typeface="Times New Roman"/>
                                    </a:rPr>
                                    <m:t>−1</m:t>
                                  </m:r>
                                </m:sup>
                              </m:sSup>
                              <m:r>
                                <a:rPr lang="en-IN" b="0" i="1" smtClean="0">
                                  <a:latin typeface="Cambria Math" panose="02040503050406030204" pitchFamily="18" charset="0"/>
                                  <a:cs typeface="Times New Roman"/>
                                </a:rPr>
                                <m:t>(0.8)˚</m:t>
                              </m:r>
                            </m:oMath>
                          </a14:m>
                          <a:r>
                            <a:rPr lang="en-IN" b="0">
                              <a:latin typeface="Times New Roman"/>
                              <a:cs typeface="Times New Roman"/>
                            </a:rPr>
                            <a:t> </a:t>
                          </a:r>
                          <a:r>
                            <a:rPr lang="en-IN" b="0" baseline="0">
                              <a:latin typeface="Times New Roman"/>
                              <a:cs typeface="Times New Roman"/>
                            </a:rPr>
                            <a:t> = 37˚.</a:t>
                          </a:r>
                        </a:p>
                        <a:p>
                          <a:pPr marL="285750" indent="-285750">
                            <a:buFont typeface="Wingdings" panose="05000000000000000000" pitchFamily="2" charset="2"/>
                            <a:buChar char="Ø"/>
                          </a:pPr>
                          <a:r>
                            <a:rPr lang="en-IN" b="0" baseline="0">
                              <a:latin typeface="Times New Roman"/>
                              <a:cs typeface="Times New Roman"/>
                            </a:rPr>
                            <a:t>It means that circuit uses only 80% of the total input power.</a:t>
                          </a:r>
                          <a:endParaRPr lang="en-IN" b="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1310812"/>
                      </a:ext>
                    </a:extLst>
                  </a:tr>
                  <a:tr h="806246">
                    <a:tc>
                      <a:txBody>
                        <a:bodyPr/>
                        <a:lstStyle/>
                        <a:p>
                          <a:r>
                            <a:rPr lang="en-IN" b="1">
                              <a:latin typeface="Times New Roman" panose="02020603050405020304" pitchFamily="18" charset="0"/>
                              <a:cs typeface="Times New Roman" panose="02020603050405020304" pitchFamily="18" charset="0"/>
                            </a:rPr>
                            <a:t>4. </a:t>
                          </a:r>
                          <a:r>
                            <a:rPr lang="en-IN" sz="1800" b="1" i="0" u="none" strike="noStrike" noProof="0">
                              <a:latin typeface="Times New Roman" panose="02020603050405020304" pitchFamily="18" charset="0"/>
                              <a:cs typeface="Times New Roman" panose="02020603050405020304" pitchFamily="18" charset="0"/>
                            </a:rPr>
                            <a:t>What is DC Offset?</a:t>
                          </a:r>
                        </a:p>
                        <a:p>
                          <a:pPr marL="285750" lvl="0" indent="-285750" algn="l">
                            <a:lnSpc>
                              <a:spcPct val="100000"/>
                            </a:lnSpc>
                            <a:spcBef>
                              <a:spcPts val="0"/>
                            </a:spcBef>
                            <a:spcAft>
                              <a:spcPts val="0"/>
                            </a:spcAft>
                            <a:buFont typeface="Wingdings"/>
                            <a:buChar char="Ø"/>
                          </a:pPr>
                          <a:r>
                            <a:rPr lang="en-IN" sz="1800" b="0" i="0" u="none" strike="noStrike" noProof="0">
                              <a:latin typeface="Times New Roman" panose="02020603050405020304" pitchFamily="18" charset="0"/>
                              <a:cs typeface="Times New Roman" panose="02020603050405020304" pitchFamily="18" charset="0"/>
                            </a:rPr>
                            <a:t>DC offset means the AC waveform is shifted above or below zero. In other words, the current or voltage doesn’t swing equally on both sides of zero.</a:t>
                          </a:r>
                          <a:endParaRPr lang="en-IN">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3354296"/>
                      </a:ext>
                    </a:extLst>
                  </a:tr>
                  <a:tr h="996017">
                    <a:tc>
                      <a:txBody>
                        <a:bodyPr/>
                        <a:lstStyle/>
                        <a:p>
                          <a:pPr marL="0" indent="0">
                            <a:buFont typeface="Wingdings" panose="05000000000000000000" pitchFamily="2" charset="2"/>
                            <a:buNone/>
                          </a:pPr>
                          <a:r>
                            <a:rPr lang="en-IN" b="1">
                              <a:latin typeface="Times New Roman" panose="02020603050405020304" pitchFamily="18" charset="0"/>
                              <a:cs typeface="Times New Roman" panose="02020603050405020304" pitchFamily="18" charset="0"/>
                            </a:rPr>
                            <a:t>5. Why DC offset is zero?</a:t>
                          </a:r>
                        </a:p>
                        <a:p>
                          <a:pPr marL="285750" lvl="0" indent="-285750">
                            <a:buFont typeface="Wingdings" panose="05000000000000000000" pitchFamily="2" charset="2"/>
                            <a:buChar char="Ø"/>
                          </a:pPr>
                          <a:r>
                            <a:rPr lang="en-IN" sz="1800" b="0" i="0" u="none" strike="noStrike" noProof="0">
                              <a:latin typeface="Times New Roman" panose="02020603050405020304" pitchFamily="18" charset="0"/>
                              <a:cs typeface="Times New Roman" panose="02020603050405020304" pitchFamily="18" charset="0"/>
                            </a:rPr>
                            <a:t>The transformer works only with pure AC that changes direction 50 times a second. If any DC (offset) is present, it will cause heating and damage. So, the input to the transformer must have </a:t>
                          </a:r>
                          <a:r>
                            <a:rPr lang="en-IN" sz="1800" b="1" i="0" u="none" strike="noStrike" noProof="0">
                              <a:latin typeface="Times New Roman" panose="02020603050405020304" pitchFamily="18" charset="0"/>
                              <a:cs typeface="Times New Roman" panose="02020603050405020304" pitchFamily="18" charset="0"/>
                            </a:rPr>
                            <a:t>zero DC offset</a:t>
                          </a:r>
                          <a:r>
                            <a:rPr lang="en-IN" sz="1800" b="0" i="0" u="none" strike="noStrike" noProof="0">
                              <a:latin typeface="Times New Roman" panose="02020603050405020304" pitchFamily="18" charset="0"/>
                              <a:cs typeface="Times New Roman" panose="02020603050405020304" pitchFamily="18" charset="0"/>
                            </a:rPr>
                            <a:t>.</a:t>
                          </a:r>
                          <a:endParaRPr lang="en-IN" b="1">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3868199"/>
                      </a:ext>
                    </a:extLst>
                  </a:tr>
                  <a:tr h="996017">
                    <a:tc>
                      <a:txBody>
                        <a:bodyPr/>
                        <a:lstStyle/>
                        <a:p>
                          <a:endParaRPr lang="en-IN" b="1">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5016278"/>
                      </a:ext>
                    </a:extLst>
                  </a:tr>
                </a:tbl>
              </a:graphicData>
            </a:graphic>
          </p:graphicFrame>
        </mc:Choice>
        <mc:Fallback xmlns="">
          <p:graphicFrame>
            <p:nvGraphicFramePr>
              <p:cNvPr id="6" name="Table 5">
                <a:extLst>
                  <a:ext uri="{FF2B5EF4-FFF2-40B4-BE49-F238E27FC236}">
                    <a16:creationId xmlns:a16="http://schemas.microsoft.com/office/drawing/2014/main" id="{E82AB293-E007-26B5-ADB3-8F5A64A4D728}"/>
                  </a:ext>
                </a:extLst>
              </p:cNvPr>
              <p:cNvGraphicFramePr>
                <a:graphicFrameLocks noGrp="1"/>
              </p:cNvGraphicFramePr>
              <p:nvPr>
                <p:extLst>
                  <p:ext uri="{D42A27DB-BD31-4B8C-83A1-F6EECF244321}">
                    <p14:modId xmlns:p14="http://schemas.microsoft.com/office/powerpoint/2010/main" val="3573425278"/>
                  </p:ext>
                </p:extLst>
              </p:nvPr>
            </p:nvGraphicFramePr>
            <p:xfrm>
              <a:off x="117987" y="867150"/>
              <a:ext cx="11956026" cy="5310608"/>
            </p:xfrm>
            <a:graphic>
              <a:graphicData uri="http://schemas.openxmlformats.org/drawingml/2006/table">
                <a:tbl>
                  <a:tblPr firstRow="1" bandRow="1">
                    <a:tableStyleId>{5C22544A-7EE6-4342-B048-85BDC9FD1C3A}</a:tableStyleId>
                  </a:tblPr>
                  <a:tblGrid>
                    <a:gridCol w="11956026">
                      <a:extLst>
                        <a:ext uri="{9D8B030D-6E8A-4147-A177-3AD203B41FA5}">
                          <a16:colId xmlns:a16="http://schemas.microsoft.com/office/drawing/2014/main" val="3690383400"/>
                        </a:ext>
                      </a:extLst>
                    </a:gridCol>
                  </a:tblGrid>
                  <a:tr h="941134">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 t="-3226" r="-102" b="-463871"/>
                          </a:stretch>
                        </a:blipFill>
                      </a:tcPr>
                    </a:tc>
                    <a:extLst>
                      <a:ext uri="{0D108BD9-81ED-4DB2-BD59-A6C34878D82A}">
                        <a16:rowId xmlns:a16="http://schemas.microsoft.com/office/drawing/2014/main" val="3855627482"/>
                      </a:ext>
                    </a:extLst>
                  </a:tr>
                  <a:tr h="14630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 t="-66667" r="-102" b="-199583"/>
                          </a:stretch>
                        </a:blipFill>
                      </a:tcPr>
                    </a:tc>
                    <a:extLst>
                      <a:ext uri="{0D108BD9-81ED-4DB2-BD59-A6C34878D82A}">
                        <a16:rowId xmlns:a16="http://schemas.microsoft.com/office/drawing/2014/main" val="661310812"/>
                      </a:ext>
                    </a:extLst>
                  </a:tr>
                  <a:tr h="914400">
                    <a:tc>
                      <a:txBody>
                        <a:bodyPr/>
                        <a:lstStyle/>
                        <a:p>
                          <a:r>
                            <a:rPr lang="en-IN" b="1">
                              <a:latin typeface="Times New Roman" panose="02020603050405020304" pitchFamily="18" charset="0"/>
                              <a:cs typeface="Times New Roman" panose="02020603050405020304" pitchFamily="18" charset="0"/>
                            </a:rPr>
                            <a:t>4. </a:t>
                          </a:r>
                          <a:r>
                            <a:rPr lang="en-IN" sz="1800" b="1" i="0" u="none" strike="noStrike" noProof="0">
                              <a:latin typeface="Times New Roman" panose="02020603050405020304" pitchFamily="18" charset="0"/>
                              <a:cs typeface="Times New Roman" panose="02020603050405020304" pitchFamily="18" charset="0"/>
                            </a:rPr>
                            <a:t>What is DC Offset?</a:t>
                          </a:r>
                        </a:p>
                        <a:p>
                          <a:pPr marL="285750" lvl="0" indent="-285750" algn="l">
                            <a:lnSpc>
                              <a:spcPct val="100000"/>
                            </a:lnSpc>
                            <a:spcBef>
                              <a:spcPts val="0"/>
                            </a:spcBef>
                            <a:spcAft>
                              <a:spcPts val="0"/>
                            </a:spcAft>
                            <a:buFont typeface="Wingdings"/>
                            <a:buChar char="Ø"/>
                          </a:pPr>
                          <a:r>
                            <a:rPr lang="en-IN" sz="1800" b="0" i="0" u="none" strike="noStrike" noProof="0">
                              <a:latin typeface="Times New Roman" panose="02020603050405020304" pitchFamily="18" charset="0"/>
                              <a:cs typeface="Times New Roman" panose="02020603050405020304" pitchFamily="18" charset="0"/>
                            </a:rPr>
                            <a:t>DC offset means the AC waveform is shifted above or below zero. In other words, the current or voltage doesn’t swing equally on both sides of zero.</a:t>
                          </a:r>
                          <a:endParaRPr lang="en-IN">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3354296"/>
                      </a:ext>
                    </a:extLst>
                  </a:tr>
                  <a:tr h="996017">
                    <a:tc>
                      <a:txBody>
                        <a:bodyPr/>
                        <a:lstStyle/>
                        <a:p>
                          <a:pPr marL="0" indent="0">
                            <a:buFont typeface="Wingdings" panose="05000000000000000000" pitchFamily="2" charset="2"/>
                            <a:buNone/>
                          </a:pPr>
                          <a:r>
                            <a:rPr lang="en-IN" b="1">
                              <a:latin typeface="Times New Roman" panose="02020603050405020304" pitchFamily="18" charset="0"/>
                              <a:cs typeface="Times New Roman" panose="02020603050405020304" pitchFamily="18" charset="0"/>
                            </a:rPr>
                            <a:t>5. Why DC offset is zero?</a:t>
                          </a:r>
                        </a:p>
                        <a:p>
                          <a:pPr marL="285750" lvl="0" indent="-285750">
                            <a:buFont typeface="Wingdings" panose="05000000000000000000" pitchFamily="2" charset="2"/>
                            <a:buChar char="Ø"/>
                          </a:pPr>
                          <a:r>
                            <a:rPr lang="en-IN" sz="1800" b="0" i="0" u="none" strike="noStrike" noProof="0">
                              <a:latin typeface="Times New Roman" panose="02020603050405020304" pitchFamily="18" charset="0"/>
                              <a:cs typeface="Times New Roman" panose="02020603050405020304" pitchFamily="18" charset="0"/>
                            </a:rPr>
                            <a:t>The transformer works only with pure AC that changes direction 50 times a second. If any DC (offset) is present, it will cause heating and damage. So, the input to the transformer must have </a:t>
                          </a:r>
                          <a:r>
                            <a:rPr lang="en-IN" sz="1800" b="1" i="0" u="none" strike="noStrike" noProof="0">
                              <a:latin typeface="Times New Roman" panose="02020603050405020304" pitchFamily="18" charset="0"/>
                              <a:cs typeface="Times New Roman" panose="02020603050405020304" pitchFamily="18" charset="0"/>
                            </a:rPr>
                            <a:t>zero DC offset</a:t>
                          </a:r>
                          <a:r>
                            <a:rPr lang="en-IN" sz="1800" b="0" i="0" u="none" strike="noStrike" noProof="0">
                              <a:latin typeface="Times New Roman" panose="02020603050405020304" pitchFamily="18" charset="0"/>
                              <a:cs typeface="Times New Roman" panose="02020603050405020304" pitchFamily="18" charset="0"/>
                            </a:rPr>
                            <a:t>.</a:t>
                          </a:r>
                          <a:endParaRPr lang="en-IN" b="1">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3868199"/>
                      </a:ext>
                    </a:extLst>
                  </a:tr>
                  <a:tr h="996017">
                    <a:tc>
                      <a:txBody>
                        <a:bodyPr/>
                        <a:lstStyle/>
                        <a:p>
                          <a:endParaRPr lang="en-IN" b="1">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5016278"/>
                      </a:ext>
                    </a:extLst>
                  </a:tr>
                </a:tbl>
              </a:graphicData>
            </a:graphic>
          </p:graphicFrame>
        </mc:Fallback>
      </mc:AlternateContent>
      <p:sp>
        <p:nvSpPr>
          <p:cNvPr id="7" name="TextBox 6">
            <a:extLst>
              <a:ext uri="{FF2B5EF4-FFF2-40B4-BE49-F238E27FC236}">
                <a16:creationId xmlns:a16="http://schemas.microsoft.com/office/drawing/2014/main" id="{CBC31963-624A-33B4-C4CC-4956BED5ECF0}"/>
              </a:ext>
            </a:extLst>
          </p:cNvPr>
          <p:cNvSpPr txBox="1"/>
          <p:nvPr/>
        </p:nvSpPr>
        <p:spPr>
          <a:xfrm>
            <a:off x="4424516" y="430805"/>
            <a:ext cx="3834581" cy="369332"/>
          </a:xfrm>
          <a:prstGeom prst="rect">
            <a:avLst/>
          </a:prstGeom>
          <a:noFill/>
          <a:ln>
            <a:solidFill>
              <a:schemeClr val="tx1"/>
            </a:solidFill>
          </a:ln>
        </p:spPr>
        <p:txBody>
          <a:bodyPr wrap="square" rtlCol="0">
            <a:spAutoFit/>
          </a:bodyPr>
          <a:lstStyle/>
          <a:p>
            <a:pPr algn="ctr"/>
            <a:r>
              <a:rPr lang="en-IN" b="1">
                <a:latin typeface="Times New Roman" panose="02020603050405020304" pitchFamily="18" charset="0"/>
                <a:cs typeface="Times New Roman" panose="02020603050405020304" pitchFamily="18" charset="0"/>
              </a:rPr>
              <a:t>INPUT SUPPLY</a:t>
            </a:r>
          </a:p>
        </p:txBody>
      </p:sp>
    </p:spTree>
    <p:extLst>
      <p:ext uri="{BB962C8B-B14F-4D97-AF65-F5344CB8AC3E}">
        <p14:creationId xmlns:p14="http://schemas.microsoft.com/office/powerpoint/2010/main" val="1332485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D6D1A-B4E6-F47B-B38D-CAF3F8F853C2}"/>
            </a:ext>
          </a:extLst>
        </p:cNvPr>
        <p:cNvGrpSpPr/>
        <p:nvPr/>
      </p:nvGrpSpPr>
      <p:grpSpPr>
        <a:xfrm>
          <a:off x="0" y="0"/>
          <a:ext cx="0" cy="0"/>
          <a:chOff x="0" y="0"/>
          <a:chExt cx="0" cy="0"/>
        </a:xfrm>
      </p:grpSpPr>
      <p:pic>
        <p:nvPicPr>
          <p:cNvPr id="4" name="Picture 3" descr="KLE Technological University in Hubballi">
            <a:extLst>
              <a:ext uri="{FF2B5EF4-FFF2-40B4-BE49-F238E27FC236}">
                <a16:creationId xmlns:a16="http://schemas.microsoft.com/office/drawing/2014/main" id="{2BCCC292-78FA-8F60-4845-81E6779C1D9D}"/>
              </a:ext>
            </a:extLst>
          </p:cNvPr>
          <p:cNvPicPr>
            <a:picLocks noChangeAspect="1"/>
          </p:cNvPicPr>
          <p:nvPr/>
        </p:nvPicPr>
        <p:blipFill rotWithShape="1">
          <a:blip r:embed="rId2">
            <a:extLst>
              <a:ext uri="{28A0092B-C50C-407E-A947-70E740481C1C}">
                <a14:useLocalDpi xmlns:a14="http://schemas.microsoft.com/office/drawing/2010/main" val="0"/>
              </a:ext>
            </a:extLst>
          </a:blip>
          <a:srcRect t="37713" b="37711"/>
          <a:stretch/>
        </p:blipFill>
        <p:spPr bwMode="auto">
          <a:xfrm>
            <a:off x="9544414" y="0"/>
            <a:ext cx="2647586" cy="623017"/>
          </a:xfrm>
          <a:prstGeom prst="rect">
            <a:avLst/>
          </a:prstGeom>
          <a:noFill/>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B769372D-1538-CE35-CB82-24AAF4A7CDCE}"/>
              </a:ext>
            </a:extLst>
          </p:cNvPr>
          <p:cNvSpPr txBox="1"/>
          <p:nvPr/>
        </p:nvSpPr>
        <p:spPr>
          <a:xfrm>
            <a:off x="-1" y="0"/>
            <a:ext cx="3647769" cy="369332"/>
          </a:xfrm>
          <a:prstGeom prst="rect">
            <a:avLst/>
          </a:prstGeom>
          <a:solidFill>
            <a:schemeClr val="tx2">
              <a:lumMod val="20000"/>
              <a:lumOff val="80000"/>
            </a:schemeClr>
          </a:solidFill>
        </p:spPr>
        <p:txBody>
          <a:bodyPr wrap="square">
            <a:spAutoFit/>
          </a:bodyPr>
          <a:lstStyle/>
          <a:p>
            <a:r>
              <a:rPr lang="en-US" sz="1800" b="1">
                <a:latin typeface="Times New Roman" panose="02020603050405020304" pitchFamily="18" charset="0"/>
                <a:cs typeface="Times New Roman" panose="02020603050405020304" pitchFamily="18" charset="0"/>
              </a:rPr>
              <a:t>Mini Project  (</a:t>
            </a:r>
            <a:r>
              <a:rPr lang="en-IN"/>
              <a:t>23EECW301</a:t>
            </a:r>
            <a:r>
              <a:rPr lang="en-US" sz="1800" b="1">
                <a:latin typeface="Times New Roman" panose="02020603050405020304" pitchFamily="18" charset="0"/>
                <a:cs typeface="Times New Roman" panose="02020603050405020304" pitchFamily="18" charset="0"/>
              </a:rPr>
              <a:t>)</a:t>
            </a:r>
            <a:endParaRPr lang="en-IN" sz="1800"/>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EA219986-FA81-C1F5-8AE2-7ACA7C1B1FFD}"/>
                  </a:ext>
                </a:extLst>
              </p:cNvPr>
              <p:cNvGraphicFramePr>
                <a:graphicFrameLocks noGrp="1"/>
              </p:cNvGraphicFramePr>
              <p:nvPr>
                <p:extLst>
                  <p:ext uri="{D42A27DB-BD31-4B8C-83A1-F6EECF244321}">
                    <p14:modId xmlns:p14="http://schemas.microsoft.com/office/powerpoint/2010/main" val="869495430"/>
                  </p:ext>
                </p:extLst>
              </p:nvPr>
            </p:nvGraphicFramePr>
            <p:xfrm>
              <a:off x="117987" y="1060190"/>
              <a:ext cx="11956026" cy="4814843"/>
            </p:xfrm>
            <a:graphic>
              <a:graphicData uri="http://schemas.openxmlformats.org/drawingml/2006/table">
                <a:tbl>
                  <a:tblPr firstRow="1" bandRow="1">
                    <a:tableStyleId>{5C22544A-7EE6-4342-B048-85BDC9FD1C3A}</a:tableStyleId>
                  </a:tblPr>
                  <a:tblGrid>
                    <a:gridCol w="11956026">
                      <a:extLst>
                        <a:ext uri="{9D8B030D-6E8A-4147-A177-3AD203B41FA5}">
                          <a16:colId xmlns:a16="http://schemas.microsoft.com/office/drawing/2014/main" val="3690383400"/>
                        </a:ext>
                      </a:extLst>
                    </a:gridCol>
                  </a:tblGrid>
                  <a:tr h="603496">
                    <a:tc>
                      <a:txBody>
                        <a:bodyPr/>
                        <a:lstStyle/>
                        <a:p>
                          <a:pPr marL="342900" indent="-342900">
                            <a:buAutoNum type="arabicPeriod"/>
                          </a:pPr>
                          <a:r>
                            <a:rPr lang="en-IN" b="1">
                              <a:solidFill>
                                <a:schemeClr val="tx1"/>
                              </a:solidFill>
                              <a:latin typeface="Times New Roman"/>
                              <a:cs typeface="Times New Roman"/>
                            </a:rPr>
                            <a:t>Transformer we are using is :</a:t>
                          </a:r>
                        </a:p>
                        <a:p>
                          <a:pPr marL="285750" indent="-285750">
                            <a:buFont typeface="Wingdings" panose="05000000000000000000" pitchFamily="2" charset="2"/>
                            <a:buChar char="Ø"/>
                          </a:pPr>
                          <a:r>
                            <a:rPr lang="en-IN" b="0">
                              <a:solidFill>
                                <a:schemeClr val="tx1"/>
                              </a:solidFill>
                              <a:latin typeface="Times New Roman"/>
                              <a:cs typeface="Times New Roman"/>
                            </a:rPr>
                            <a:t>12 – 0 – 12 V center tapped transformer.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5627482"/>
                      </a:ext>
                    </a:extLst>
                  </a:tr>
                  <a:tr h="653787">
                    <a:tc>
                      <a:txBody>
                        <a:bodyPr/>
                        <a:lstStyle/>
                        <a:p>
                          <a:r>
                            <a:rPr lang="en-IN" b="1">
                              <a:latin typeface="Times New Roman"/>
                              <a:cs typeface="Times New Roman"/>
                            </a:rPr>
                            <a:t>2. What is the output of this transformer ?</a:t>
                          </a:r>
                        </a:p>
                        <a:p>
                          <a:pPr marL="285750" indent="-285750">
                            <a:buFont typeface="Wingdings" panose="05000000000000000000" pitchFamily="2" charset="2"/>
                            <a:buChar char="Ø"/>
                          </a:pPr>
                          <a:r>
                            <a:rPr lang="en-IN" b="0">
                              <a:latin typeface="Times New Roman"/>
                              <a:cs typeface="Times New Roman"/>
                            </a:rPr>
                            <a:t>V (RMS) = 12 V , i.e  Vpeak = 16.96 V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1310812"/>
                      </a:ext>
                    </a:extLst>
                  </a:tr>
                  <a:tr h="729225">
                    <a:tc>
                      <a:txBody>
                        <a:bodyPr/>
                        <a:lstStyle/>
                        <a:p>
                          <a:r>
                            <a:rPr lang="en-IN" b="1">
                              <a:latin typeface="Times New Roman"/>
                              <a:cs typeface="Times New Roman"/>
                            </a:rPr>
                            <a:t>3.  How the primary and secondary turns of transformer are related ?</a:t>
                          </a:r>
                        </a:p>
                        <a:p>
                          <a:pPr marL="285750" indent="-285750">
                            <a:buFont typeface="Wingdings" panose="05000000000000000000" pitchFamily="2" charset="2"/>
                            <a:buChar char="Ø"/>
                          </a:pPr>
                          <a:r>
                            <a:rPr lang="en-IN" b="0">
                              <a:cs typeface="Times New Roman"/>
                            </a:rPr>
                            <a:t>  </a:t>
                          </a:r>
                          <a14:m>
                            <m:oMath xmlns:m="http://schemas.openxmlformats.org/officeDocument/2006/math">
                              <m:f>
                                <m:fPr>
                                  <m:ctrlPr>
                                    <a:rPr lang="en-IN" b="0" i="1" dirty="0" smtClean="0">
                                      <a:latin typeface="Cambria Math" panose="02040503050406030204" pitchFamily="18" charset="0"/>
                                      <a:cs typeface="Times New Roman" panose="02020603050405020304" pitchFamily="18" charset="0"/>
                                    </a:rPr>
                                  </m:ctrlPr>
                                </m:fPr>
                                <m:num>
                                  <m:sSub>
                                    <m:sSubPr>
                                      <m:ctrlPr>
                                        <a:rPr lang="en-IN" b="0" i="1" dirty="0" smtClean="0">
                                          <a:latin typeface="Cambria Math" panose="02040503050406030204" pitchFamily="18" charset="0"/>
                                          <a:cs typeface="Times New Roman" panose="02020603050405020304" pitchFamily="18" charset="0"/>
                                        </a:rPr>
                                      </m:ctrlPr>
                                    </m:sSubPr>
                                    <m:e>
                                      <m:r>
                                        <a:rPr lang="en-IN" b="0" i="1" dirty="0" smtClean="0">
                                          <a:latin typeface="Cambria Math" panose="02040503050406030204" pitchFamily="18" charset="0"/>
                                          <a:cs typeface="Times New Roman" panose="02020603050405020304" pitchFamily="18" charset="0"/>
                                        </a:rPr>
                                        <m:t>𝑁</m:t>
                                      </m:r>
                                    </m:e>
                                    <m:sub>
                                      <m:r>
                                        <a:rPr lang="en-IN" b="0" i="1" dirty="0" smtClean="0">
                                          <a:latin typeface="Cambria Math" panose="02040503050406030204" pitchFamily="18" charset="0"/>
                                          <a:cs typeface="Times New Roman" panose="02020603050405020304" pitchFamily="18" charset="0"/>
                                        </a:rPr>
                                        <m:t>𝑝</m:t>
                                      </m:r>
                                    </m:sub>
                                  </m:sSub>
                                </m:num>
                                <m:den>
                                  <m:r>
                                    <a:rPr lang="en-IN" b="0" i="1" dirty="0" smtClean="0">
                                      <a:latin typeface="Cambria Math" panose="02040503050406030204" pitchFamily="18" charset="0"/>
                                      <a:cs typeface="Times New Roman" panose="02020603050405020304" pitchFamily="18" charset="0"/>
                                    </a:rPr>
                                    <m:t>𝑁𝑠</m:t>
                                  </m:r>
                                </m:den>
                              </m:f>
                              <m:r>
                                <a:rPr lang="en-IN" b="0" i="1" dirty="0" smtClean="0">
                                  <a:latin typeface="Cambria Math" panose="02040503050406030204" pitchFamily="18" charset="0"/>
                                  <a:cs typeface="Times New Roman" panose="02020603050405020304" pitchFamily="18" charset="0"/>
                                </a:rPr>
                                <m:t>= </m:t>
                              </m:r>
                              <m:f>
                                <m:fPr>
                                  <m:ctrlPr>
                                    <a:rPr lang="en-IN" b="0" i="1" dirty="0" smtClean="0">
                                      <a:latin typeface="Cambria Math" panose="02040503050406030204" pitchFamily="18" charset="0"/>
                                      <a:cs typeface="Times New Roman" panose="02020603050405020304" pitchFamily="18" charset="0"/>
                                    </a:rPr>
                                  </m:ctrlPr>
                                </m:fPr>
                                <m:num>
                                  <m:sSub>
                                    <m:sSubPr>
                                      <m:ctrlPr>
                                        <a:rPr lang="en-IN" b="0" i="1" dirty="0" smtClean="0">
                                          <a:latin typeface="Cambria Math" panose="02040503050406030204" pitchFamily="18" charset="0"/>
                                          <a:cs typeface="Times New Roman" panose="02020603050405020304" pitchFamily="18" charset="0"/>
                                        </a:rPr>
                                      </m:ctrlPr>
                                    </m:sSubPr>
                                    <m:e>
                                      <m:r>
                                        <a:rPr lang="en-IN" b="0" i="1" dirty="0" smtClean="0">
                                          <a:latin typeface="Cambria Math" panose="02040503050406030204" pitchFamily="18" charset="0"/>
                                          <a:cs typeface="Times New Roman" panose="02020603050405020304" pitchFamily="18" charset="0"/>
                                        </a:rPr>
                                        <m:t>𝑉</m:t>
                                      </m:r>
                                    </m:e>
                                    <m:sub>
                                      <m:r>
                                        <a:rPr lang="en-IN" b="0" i="1" dirty="0" smtClean="0">
                                          <a:latin typeface="Cambria Math" panose="02040503050406030204" pitchFamily="18" charset="0"/>
                                          <a:cs typeface="Times New Roman" panose="02020603050405020304" pitchFamily="18" charset="0"/>
                                        </a:rPr>
                                        <m:t>𝑝</m:t>
                                      </m:r>
                                    </m:sub>
                                  </m:sSub>
                                </m:num>
                                <m:den>
                                  <m:sSub>
                                    <m:sSubPr>
                                      <m:ctrlPr>
                                        <a:rPr lang="en-IN" b="0" i="1" dirty="0" smtClean="0">
                                          <a:latin typeface="Cambria Math" panose="02040503050406030204" pitchFamily="18" charset="0"/>
                                          <a:cs typeface="Times New Roman" panose="02020603050405020304" pitchFamily="18" charset="0"/>
                                        </a:rPr>
                                      </m:ctrlPr>
                                    </m:sSubPr>
                                    <m:e>
                                      <m:r>
                                        <a:rPr lang="en-IN" b="0" i="1" dirty="0" smtClean="0">
                                          <a:latin typeface="Cambria Math" panose="02040503050406030204" pitchFamily="18" charset="0"/>
                                          <a:cs typeface="Times New Roman" panose="02020603050405020304" pitchFamily="18" charset="0"/>
                                        </a:rPr>
                                        <m:t>𝑉</m:t>
                                      </m:r>
                                    </m:e>
                                    <m:sub>
                                      <m:r>
                                        <a:rPr lang="en-IN" b="0" i="1" dirty="0" smtClean="0">
                                          <a:latin typeface="Cambria Math" panose="02040503050406030204" pitchFamily="18" charset="0"/>
                                          <a:cs typeface="Times New Roman" panose="02020603050405020304" pitchFamily="18" charset="0"/>
                                        </a:rPr>
                                        <m:t>𝑠</m:t>
                                      </m:r>
                                    </m:sub>
                                  </m:sSub>
                                </m:den>
                              </m:f>
                            </m:oMath>
                          </a14:m>
                          <a:r>
                            <a:rPr lang="en-IN" b="0">
                              <a:latin typeface="Times New Roman"/>
                              <a:cs typeface="Times New Roman"/>
                            </a:rPr>
                            <a:t>   ; </a:t>
                          </a:r>
                          <a:r>
                            <a:rPr lang="en-IN" sz="1600" b="0">
                              <a:latin typeface="Times New Roman"/>
                              <a:cs typeface="Times New Roman"/>
                            </a:rPr>
                            <a:t>where</a:t>
                          </a:r>
                          <a:r>
                            <a:rPr lang="en-IN" sz="1600" b="0" baseline="0">
                              <a:latin typeface="Times New Roman"/>
                              <a:cs typeface="Times New Roman"/>
                            </a:rPr>
                            <a:t> , N = Number of turns , V = Voltage , p = pr</a:t>
                          </a:r>
                          <a:r>
                            <a:rPr lang="en-IN" sz="1600" b="0" baseline="0">
                              <a:latin typeface="Times New Roman" panose="02020603050405020304" pitchFamily="18" charset="0"/>
                              <a:cs typeface="Times New Roman" panose="02020603050405020304" pitchFamily="18" charset="0"/>
                            </a:rPr>
                            <a:t>imary side , s = secondary side </a:t>
                          </a:r>
                          <a:endParaRPr lang="en-IN" b="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3354296"/>
                      </a:ext>
                    </a:extLst>
                  </a:tr>
                  <a:tr h="905244">
                    <a:tc>
                      <a:txBody>
                        <a:bodyPr/>
                        <a:lstStyle/>
                        <a:p>
                          <a:pPr marL="0" indent="0">
                            <a:buFont typeface="Wingdings" panose="05000000000000000000" pitchFamily="2" charset="2"/>
                            <a:buNone/>
                          </a:pPr>
                          <a:r>
                            <a:rPr lang="en-IN" b="1">
                              <a:latin typeface="Times New Roman"/>
                              <a:cs typeface="Times New Roman"/>
                            </a:rPr>
                            <a:t>4. How the inductances of primary and secondary side of transformer are related ?</a:t>
                          </a:r>
                        </a:p>
                        <a:p>
                          <a:pPr marL="285750" indent="-285750">
                            <a:buFont typeface="Wingdings" panose="05000000000000000000" pitchFamily="2" charset="2"/>
                            <a:buChar char="Ø"/>
                          </a:pPr>
                          <a:r>
                            <a:rPr lang="en-IN" b="0">
                              <a:latin typeface="Times New Roman"/>
                              <a:cs typeface="Times New Roman"/>
                            </a:rPr>
                            <a:t> </a:t>
                          </a:r>
                          <a14:m>
                            <m:oMath xmlns:m="http://schemas.openxmlformats.org/officeDocument/2006/math">
                              <m:f>
                                <m:fPr>
                                  <m:ctrlPr>
                                    <a:rPr lang="en-IN" b="0" i="1" dirty="0" smtClean="0">
                                      <a:latin typeface="Cambria Math" panose="02040503050406030204" pitchFamily="18" charset="0"/>
                                      <a:cs typeface="Times New Roman" panose="02020603050405020304" pitchFamily="18" charset="0"/>
                                    </a:rPr>
                                  </m:ctrlPr>
                                </m:fPr>
                                <m:num>
                                  <m:sSub>
                                    <m:sSubPr>
                                      <m:ctrlPr>
                                        <a:rPr lang="en-IN" b="0" i="1" dirty="0" smtClean="0">
                                          <a:latin typeface="Cambria Math" panose="02040503050406030204" pitchFamily="18" charset="0"/>
                                          <a:cs typeface="Times New Roman" panose="02020603050405020304" pitchFamily="18" charset="0"/>
                                        </a:rPr>
                                      </m:ctrlPr>
                                    </m:sSubPr>
                                    <m:e>
                                      <m:r>
                                        <a:rPr lang="en-IN" b="0" i="1" dirty="0" smtClean="0">
                                          <a:latin typeface="Cambria Math" panose="02040503050406030204" pitchFamily="18" charset="0"/>
                                          <a:cs typeface="Times New Roman" panose="02020603050405020304" pitchFamily="18" charset="0"/>
                                        </a:rPr>
                                        <m:t>𝐿</m:t>
                                      </m:r>
                                    </m:e>
                                    <m:sub>
                                      <m:r>
                                        <a:rPr lang="en-IN" b="0" i="1" dirty="0" smtClean="0">
                                          <a:latin typeface="Cambria Math" panose="02040503050406030204" pitchFamily="18" charset="0"/>
                                          <a:cs typeface="Times New Roman" panose="02020603050405020304" pitchFamily="18" charset="0"/>
                                        </a:rPr>
                                        <m:t>𝑝</m:t>
                                      </m:r>
                                    </m:sub>
                                  </m:sSub>
                                </m:num>
                                <m:den>
                                  <m:r>
                                    <a:rPr lang="en-IN" b="0" i="1" dirty="0" smtClean="0">
                                      <a:latin typeface="Cambria Math" panose="02040503050406030204" pitchFamily="18" charset="0"/>
                                      <a:cs typeface="Times New Roman" panose="02020603050405020304" pitchFamily="18" charset="0"/>
                                    </a:rPr>
                                    <m:t>𝐿𝑠</m:t>
                                  </m:r>
                                </m:den>
                              </m:f>
                              <m:r>
                                <a:rPr lang="en-IN" b="0" i="1" dirty="0" smtClean="0">
                                  <a:latin typeface="Cambria Math" panose="02040503050406030204" pitchFamily="18" charset="0"/>
                                  <a:cs typeface="Times New Roman" panose="02020603050405020304" pitchFamily="18" charset="0"/>
                                </a:rPr>
                                <m:t>=</m:t>
                              </m:r>
                              <m:sSup>
                                <m:sSupPr>
                                  <m:ctrlPr>
                                    <a:rPr lang="en-IN" b="0" i="1" dirty="0" smtClean="0">
                                      <a:latin typeface="Cambria Math" panose="02040503050406030204" pitchFamily="18" charset="0"/>
                                      <a:cs typeface="Times New Roman" panose="02020603050405020304" pitchFamily="18" charset="0"/>
                                    </a:rPr>
                                  </m:ctrlPr>
                                </m:sSupPr>
                                <m:e>
                                  <m:r>
                                    <a:rPr lang="en-IN" b="0" i="1" dirty="0" smtClean="0">
                                      <a:latin typeface="Cambria Math" panose="02040503050406030204" pitchFamily="18" charset="0"/>
                                      <a:cs typeface="Times New Roman" panose="02020603050405020304" pitchFamily="18" charset="0"/>
                                    </a:rPr>
                                    <m:t>( </m:t>
                                  </m:r>
                                  <m:f>
                                    <m:fPr>
                                      <m:ctrlPr>
                                        <a:rPr lang="en-IN" b="0" i="1" dirty="0" smtClean="0">
                                          <a:latin typeface="Cambria Math" panose="02040503050406030204" pitchFamily="18" charset="0"/>
                                          <a:cs typeface="Times New Roman" panose="02020603050405020304" pitchFamily="18" charset="0"/>
                                        </a:rPr>
                                      </m:ctrlPr>
                                    </m:fPr>
                                    <m:num>
                                      <m:sSub>
                                        <m:sSubPr>
                                          <m:ctrlPr>
                                            <a:rPr lang="en-IN" b="0" i="1" dirty="0" smtClean="0">
                                              <a:latin typeface="Cambria Math" panose="02040503050406030204" pitchFamily="18" charset="0"/>
                                              <a:cs typeface="Times New Roman" panose="02020603050405020304" pitchFamily="18" charset="0"/>
                                            </a:rPr>
                                          </m:ctrlPr>
                                        </m:sSubPr>
                                        <m:e>
                                          <m:r>
                                            <a:rPr lang="en-IN" b="0" i="1" dirty="0" smtClean="0">
                                              <a:latin typeface="Cambria Math" panose="02040503050406030204" pitchFamily="18" charset="0"/>
                                              <a:cs typeface="Times New Roman" panose="02020603050405020304" pitchFamily="18" charset="0"/>
                                            </a:rPr>
                                            <m:t>𝑁</m:t>
                                          </m:r>
                                        </m:e>
                                        <m:sub>
                                          <m:r>
                                            <a:rPr lang="en-IN" b="0" i="1" dirty="0" smtClean="0">
                                              <a:latin typeface="Cambria Math" panose="02040503050406030204" pitchFamily="18" charset="0"/>
                                              <a:cs typeface="Times New Roman" panose="02020603050405020304" pitchFamily="18" charset="0"/>
                                            </a:rPr>
                                            <m:t>𝑝</m:t>
                                          </m:r>
                                        </m:sub>
                                      </m:sSub>
                                    </m:num>
                                    <m:den>
                                      <m:sSub>
                                        <m:sSubPr>
                                          <m:ctrlPr>
                                            <a:rPr lang="en-IN" b="0" i="1" dirty="0" smtClean="0">
                                              <a:latin typeface="Cambria Math" panose="02040503050406030204" pitchFamily="18" charset="0"/>
                                              <a:cs typeface="Times New Roman" panose="02020603050405020304" pitchFamily="18" charset="0"/>
                                            </a:rPr>
                                          </m:ctrlPr>
                                        </m:sSubPr>
                                        <m:e>
                                          <m:r>
                                            <a:rPr lang="en-IN" b="0" i="1" dirty="0" smtClean="0">
                                              <a:latin typeface="Cambria Math" panose="02040503050406030204" pitchFamily="18" charset="0"/>
                                              <a:cs typeface="Times New Roman" panose="02020603050405020304" pitchFamily="18" charset="0"/>
                                            </a:rPr>
                                            <m:t>𝑁</m:t>
                                          </m:r>
                                        </m:e>
                                        <m:sub>
                                          <m:r>
                                            <a:rPr lang="en-IN" b="0" i="1" dirty="0" smtClean="0">
                                              <a:latin typeface="Cambria Math" panose="02040503050406030204" pitchFamily="18" charset="0"/>
                                              <a:cs typeface="Times New Roman" panose="02020603050405020304" pitchFamily="18" charset="0"/>
                                            </a:rPr>
                                            <m:t>𝑠</m:t>
                                          </m:r>
                                        </m:sub>
                                      </m:sSub>
                                    </m:den>
                                  </m:f>
                                  <m:r>
                                    <a:rPr lang="en-IN" b="0" i="1" dirty="0" smtClean="0">
                                      <a:latin typeface="Cambria Math" panose="02040503050406030204" pitchFamily="18" charset="0"/>
                                      <a:cs typeface="Times New Roman" panose="02020603050405020304" pitchFamily="18" charset="0"/>
                                    </a:rPr>
                                    <m:t> )</m:t>
                                  </m:r>
                                </m:e>
                                <m:sup>
                                  <m:r>
                                    <a:rPr lang="en-IN" b="0" i="1" dirty="0" smtClean="0">
                                      <a:latin typeface="Cambria Math" panose="02040503050406030204" pitchFamily="18" charset="0"/>
                                      <a:cs typeface="Times New Roman" panose="02020603050405020304" pitchFamily="18" charset="0"/>
                                    </a:rPr>
                                    <m:t>2</m:t>
                                  </m:r>
                                </m:sup>
                              </m:sSup>
                            </m:oMath>
                          </a14:m>
                          <a:r>
                            <a:rPr lang="en-IN" b="0">
                              <a:latin typeface="Times New Roman"/>
                              <a:cs typeface="Times New Roman"/>
                            </a:rPr>
                            <a:t>  ;  </a:t>
                          </a:r>
                          <a:r>
                            <a:rPr lang="en-IN" sz="1800" b="0">
                              <a:latin typeface="Times New Roman"/>
                              <a:cs typeface="Times New Roman"/>
                            </a:rPr>
                            <a:t>where</a:t>
                          </a:r>
                          <a:r>
                            <a:rPr lang="en-IN" sz="1800" b="0" baseline="0">
                              <a:latin typeface="Times New Roman"/>
                              <a:cs typeface="Times New Roman"/>
                            </a:rPr>
                            <a:t> , N = Number of turns , L = Inductance ,</a:t>
                          </a:r>
                          <a:r>
                            <a:rPr lang="en-IN" sz="1800" b="0" baseline="0">
                              <a:latin typeface="Times New Roman" panose="02020603050405020304" pitchFamily="18" charset="0"/>
                              <a:cs typeface="Times New Roman" panose="02020603050405020304" pitchFamily="18" charset="0"/>
                            </a:rPr>
                            <a:t> p = primary side , s = secondary side </a:t>
                          </a:r>
                          <a:endParaRPr lang="en-IN" b="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3868199"/>
                      </a:ext>
                    </a:extLst>
                  </a:tr>
                  <a:tr h="905244">
                    <a:tc>
                      <a:txBody>
                        <a:bodyPr/>
                        <a:lstStyle/>
                        <a:p>
                          <a:r>
                            <a:rPr lang="en-IN" b="1">
                              <a:latin typeface="Times New Roman"/>
                              <a:cs typeface="Times New Roman"/>
                            </a:rPr>
                            <a:t>5. what is the short circuit protection used?</a:t>
                          </a:r>
                        </a:p>
                        <a:p>
                          <a:pPr marL="285750" lvl="0" indent="-285750">
                            <a:buFont typeface="Wingdings"/>
                            <a:buChar char="Ø"/>
                          </a:pPr>
                          <a:r>
                            <a:rPr lang="en-IN" b="0">
                              <a:latin typeface="Times New Roman"/>
                              <a:cs typeface="Times New Roman"/>
                            </a:rPr>
                            <a:t>In-built protection in 7805 IC cuts output when cureent exceeds 1.1A.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5016278"/>
                      </a:ext>
                    </a:extLst>
                  </a:tr>
                  <a:tr h="905244">
                    <a:tc>
                      <a:txBody>
                        <a:bodyPr/>
                        <a:lstStyle/>
                        <a:p>
                          <a:r>
                            <a:rPr lang="en-IN" b="1">
                              <a:latin typeface="Times New Roman"/>
                              <a:cs typeface="Times New Roman"/>
                            </a:rPr>
                            <a:t>6. What is the purpose of the transformer in the mobile charger?</a:t>
                          </a:r>
                          <a:endParaRPr lang="en-IN" b="1">
                            <a:latin typeface="Times New Roman" panose="02020603050405020304" pitchFamily="18" charset="0"/>
                            <a:cs typeface="Times New Roman" panose="02020603050405020304" pitchFamily="18" charset="0"/>
                          </a:endParaRPr>
                        </a:p>
                        <a:p>
                          <a:pPr marL="285750" lvl="0" indent="-285750">
                            <a:buFont typeface="Wingdings"/>
                            <a:buChar char="Ø"/>
                          </a:pPr>
                          <a:r>
                            <a:rPr lang="en-IN" b="0">
                              <a:latin typeface="Times New Roman"/>
                              <a:cs typeface="Times New Roman"/>
                            </a:rPr>
                            <a:t> Converting AC mains from 230V AC to 12V AC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2059146"/>
                      </a:ext>
                    </a:extLst>
                  </a:tr>
                </a:tbl>
              </a:graphicData>
            </a:graphic>
          </p:graphicFrame>
        </mc:Choice>
        <mc:Fallback xmlns="">
          <p:graphicFrame>
            <p:nvGraphicFramePr>
              <p:cNvPr id="6" name="Table 5">
                <a:extLst>
                  <a:ext uri="{FF2B5EF4-FFF2-40B4-BE49-F238E27FC236}">
                    <a16:creationId xmlns:a16="http://schemas.microsoft.com/office/drawing/2014/main" id="{EA219986-FA81-C1F5-8AE2-7ACA7C1B1FFD}"/>
                  </a:ext>
                </a:extLst>
              </p:cNvPr>
              <p:cNvGraphicFramePr>
                <a:graphicFrameLocks noGrp="1"/>
              </p:cNvGraphicFramePr>
              <p:nvPr>
                <p:extLst>
                  <p:ext uri="{D42A27DB-BD31-4B8C-83A1-F6EECF244321}">
                    <p14:modId xmlns:p14="http://schemas.microsoft.com/office/powerpoint/2010/main" val="869495430"/>
                  </p:ext>
                </p:extLst>
              </p:nvPr>
            </p:nvGraphicFramePr>
            <p:xfrm>
              <a:off x="117987" y="1060190"/>
              <a:ext cx="11956026" cy="4814843"/>
            </p:xfrm>
            <a:graphic>
              <a:graphicData uri="http://schemas.openxmlformats.org/drawingml/2006/table">
                <a:tbl>
                  <a:tblPr firstRow="1" bandRow="1">
                    <a:tableStyleId>{5C22544A-7EE6-4342-B048-85BDC9FD1C3A}</a:tableStyleId>
                  </a:tblPr>
                  <a:tblGrid>
                    <a:gridCol w="11956026">
                      <a:extLst>
                        <a:ext uri="{9D8B030D-6E8A-4147-A177-3AD203B41FA5}">
                          <a16:colId xmlns:a16="http://schemas.microsoft.com/office/drawing/2014/main" val="3690383400"/>
                        </a:ext>
                      </a:extLst>
                    </a:gridCol>
                  </a:tblGrid>
                  <a:tr h="640080">
                    <a:tc>
                      <a:txBody>
                        <a:bodyPr/>
                        <a:lstStyle/>
                        <a:p>
                          <a:pPr marL="342900" indent="-342900">
                            <a:buAutoNum type="arabicPeriod"/>
                          </a:pPr>
                          <a:r>
                            <a:rPr lang="en-IN" b="1">
                              <a:solidFill>
                                <a:schemeClr val="tx1"/>
                              </a:solidFill>
                              <a:latin typeface="Times New Roman"/>
                              <a:cs typeface="Times New Roman"/>
                            </a:rPr>
                            <a:t>Transformer we are using is :</a:t>
                          </a:r>
                        </a:p>
                        <a:p>
                          <a:pPr marL="285750" indent="-285750">
                            <a:buFont typeface="Wingdings" panose="05000000000000000000" pitchFamily="2" charset="2"/>
                            <a:buChar char="Ø"/>
                          </a:pPr>
                          <a:r>
                            <a:rPr lang="en-IN" b="0">
                              <a:solidFill>
                                <a:schemeClr val="tx1"/>
                              </a:solidFill>
                              <a:latin typeface="Times New Roman"/>
                              <a:cs typeface="Times New Roman"/>
                            </a:rPr>
                            <a:t>12 – 0 – 12 V center tapped transformer.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5627482"/>
                      </a:ext>
                    </a:extLst>
                  </a:tr>
                  <a:tr h="653787">
                    <a:tc>
                      <a:txBody>
                        <a:bodyPr/>
                        <a:lstStyle/>
                        <a:p>
                          <a:r>
                            <a:rPr lang="en-IN" b="1">
                              <a:latin typeface="Times New Roman"/>
                              <a:cs typeface="Times New Roman"/>
                            </a:rPr>
                            <a:t>2. What is the output of this transformer ?</a:t>
                          </a:r>
                        </a:p>
                        <a:p>
                          <a:pPr marL="285750" indent="-285750">
                            <a:buFont typeface="Wingdings" panose="05000000000000000000" pitchFamily="2" charset="2"/>
                            <a:buChar char="Ø"/>
                          </a:pPr>
                          <a:r>
                            <a:rPr lang="en-IN" b="0">
                              <a:latin typeface="Times New Roman"/>
                              <a:cs typeface="Times New Roman"/>
                            </a:rPr>
                            <a:t>V (RMS) = 12 V , i.e  Vpeak = 16.96 V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1310812"/>
                      </a:ext>
                    </a:extLst>
                  </a:tr>
                  <a:tr h="805244">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 t="-165152" r="-102" b="-339394"/>
                          </a:stretch>
                        </a:blipFill>
                      </a:tcPr>
                    </a:tc>
                    <a:extLst>
                      <a:ext uri="{0D108BD9-81ED-4DB2-BD59-A6C34878D82A}">
                        <a16:rowId xmlns:a16="http://schemas.microsoft.com/office/drawing/2014/main" val="1643354296"/>
                      </a:ext>
                    </a:extLst>
                  </a:tr>
                  <a:tr h="905244">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 t="-234899" r="-102" b="-200671"/>
                          </a:stretch>
                        </a:blipFill>
                      </a:tcPr>
                    </a:tc>
                    <a:extLst>
                      <a:ext uri="{0D108BD9-81ED-4DB2-BD59-A6C34878D82A}">
                        <a16:rowId xmlns:a16="http://schemas.microsoft.com/office/drawing/2014/main" val="3523868199"/>
                      </a:ext>
                    </a:extLst>
                  </a:tr>
                  <a:tr h="905244">
                    <a:tc>
                      <a:txBody>
                        <a:bodyPr/>
                        <a:lstStyle/>
                        <a:p>
                          <a:r>
                            <a:rPr lang="en-IN" b="1">
                              <a:latin typeface="Times New Roman"/>
                              <a:cs typeface="Times New Roman"/>
                            </a:rPr>
                            <a:t>5. what is the short circuit protection used?</a:t>
                          </a:r>
                        </a:p>
                        <a:p>
                          <a:pPr marL="285750" lvl="0" indent="-285750">
                            <a:buFont typeface="Wingdings"/>
                            <a:buChar char="Ø"/>
                          </a:pPr>
                          <a:r>
                            <a:rPr lang="en-IN" b="0">
                              <a:latin typeface="Times New Roman"/>
                              <a:cs typeface="Times New Roman"/>
                            </a:rPr>
                            <a:t>In-built protection in 7805 IC cuts output when cureent exceeds 1.1A.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5016278"/>
                      </a:ext>
                    </a:extLst>
                  </a:tr>
                  <a:tr h="905244">
                    <a:tc>
                      <a:txBody>
                        <a:bodyPr/>
                        <a:lstStyle/>
                        <a:p>
                          <a:r>
                            <a:rPr lang="en-IN" b="1">
                              <a:latin typeface="Times New Roman"/>
                              <a:cs typeface="Times New Roman"/>
                            </a:rPr>
                            <a:t>6. What is the purpose of the transformer in the mobile charger?</a:t>
                          </a:r>
                          <a:endParaRPr lang="en-IN" b="1">
                            <a:latin typeface="Times New Roman" panose="02020603050405020304" pitchFamily="18" charset="0"/>
                            <a:cs typeface="Times New Roman" panose="02020603050405020304" pitchFamily="18" charset="0"/>
                          </a:endParaRPr>
                        </a:p>
                        <a:p>
                          <a:pPr marL="285750" lvl="0" indent="-285750">
                            <a:buFont typeface="Wingdings"/>
                            <a:buChar char="Ø"/>
                          </a:pPr>
                          <a:r>
                            <a:rPr lang="en-IN" b="0">
                              <a:latin typeface="Times New Roman"/>
                              <a:cs typeface="Times New Roman"/>
                            </a:rPr>
                            <a:t> Converting AC mains from 230V AC to 12V AC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2059146"/>
                      </a:ext>
                    </a:extLst>
                  </a:tr>
                </a:tbl>
              </a:graphicData>
            </a:graphic>
          </p:graphicFrame>
        </mc:Fallback>
      </mc:AlternateContent>
      <p:sp>
        <p:nvSpPr>
          <p:cNvPr id="7" name="TextBox 6">
            <a:extLst>
              <a:ext uri="{FF2B5EF4-FFF2-40B4-BE49-F238E27FC236}">
                <a16:creationId xmlns:a16="http://schemas.microsoft.com/office/drawing/2014/main" id="{733C737B-08E9-D4D8-250C-3F1B89C6EB85}"/>
              </a:ext>
            </a:extLst>
          </p:cNvPr>
          <p:cNvSpPr txBox="1"/>
          <p:nvPr/>
        </p:nvSpPr>
        <p:spPr>
          <a:xfrm>
            <a:off x="4424516" y="430805"/>
            <a:ext cx="3834581" cy="369332"/>
          </a:xfrm>
          <a:prstGeom prst="rect">
            <a:avLst/>
          </a:prstGeom>
          <a:noFill/>
          <a:ln>
            <a:solidFill>
              <a:schemeClr val="tx1"/>
            </a:solidFill>
          </a:ln>
        </p:spPr>
        <p:txBody>
          <a:bodyPr wrap="square" rtlCol="0">
            <a:spAutoFit/>
          </a:bodyPr>
          <a:lstStyle/>
          <a:p>
            <a:pPr algn="ctr"/>
            <a:r>
              <a:rPr lang="en-IN" b="1">
                <a:latin typeface="Times New Roman" panose="02020603050405020304" pitchFamily="18" charset="0"/>
                <a:cs typeface="Times New Roman" panose="02020603050405020304" pitchFamily="18" charset="0"/>
              </a:rPr>
              <a:t>TRANSFORMER</a:t>
            </a:r>
          </a:p>
        </p:txBody>
      </p:sp>
    </p:spTree>
    <p:extLst>
      <p:ext uri="{BB962C8B-B14F-4D97-AF65-F5344CB8AC3E}">
        <p14:creationId xmlns:p14="http://schemas.microsoft.com/office/powerpoint/2010/main" val="5048812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AFAAA-F031-59FF-3AC7-3E3A11739200}"/>
            </a:ext>
          </a:extLst>
        </p:cNvPr>
        <p:cNvGrpSpPr/>
        <p:nvPr/>
      </p:nvGrpSpPr>
      <p:grpSpPr>
        <a:xfrm>
          <a:off x="0" y="0"/>
          <a:ext cx="0" cy="0"/>
          <a:chOff x="0" y="0"/>
          <a:chExt cx="0" cy="0"/>
        </a:xfrm>
      </p:grpSpPr>
      <p:pic>
        <p:nvPicPr>
          <p:cNvPr id="4" name="Picture 3" descr="KLE Technological University in Hubballi">
            <a:extLst>
              <a:ext uri="{FF2B5EF4-FFF2-40B4-BE49-F238E27FC236}">
                <a16:creationId xmlns:a16="http://schemas.microsoft.com/office/drawing/2014/main" id="{7369817A-4B67-A558-A399-0019275A8DAF}"/>
              </a:ext>
            </a:extLst>
          </p:cNvPr>
          <p:cNvPicPr>
            <a:picLocks noChangeAspect="1"/>
          </p:cNvPicPr>
          <p:nvPr/>
        </p:nvPicPr>
        <p:blipFill rotWithShape="1">
          <a:blip r:embed="rId2">
            <a:extLst>
              <a:ext uri="{28A0092B-C50C-407E-A947-70E740481C1C}">
                <a14:useLocalDpi xmlns:a14="http://schemas.microsoft.com/office/drawing/2010/main" val="0"/>
              </a:ext>
            </a:extLst>
          </a:blip>
          <a:srcRect t="37713" b="37711"/>
          <a:stretch/>
        </p:blipFill>
        <p:spPr bwMode="auto">
          <a:xfrm>
            <a:off x="9544414" y="0"/>
            <a:ext cx="2647586" cy="623017"/>
          </a:xfrm>
          <a:prstGeom prst="rect">
            <a:avLst/>
          </a:prstGeom>
          <a:noFill/>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899374F5-46A3-53A9-6551-1AED811CB49B}"/>
              </a:ext>
            </a:extLst>
          </p:cNvPr>
          <p:cNvSpPr txBox="1"/>
          <p:nvPr/>
        </p:nvSpPr>
        <p:spPr>
          <a:xfrm>
            <a:off x="-1" y="0"/>
            <a:ext cx="3647769" cy="369332"/>
          </a:xfrm>
          <a:prstGeom prst="rect">
            <a:avLst/>
          </a:prstGeom>
          <a:solidFill>
            <a:schemeClr val="tx2">
              <a:lumMod val="20000"/>
              <a:lumOff val="80000"/>
            </a:schemeClr>
          </a:solidFill>
        </p:spPr>
        <p:txBody>
          <a:bodyPr wrap="square">
            <a:spAutoFit/>
          </a:bodyPr>
          <a:lstStyle/>
          <a:p>
            <a:r>
              <a:rPr lang="en-US" sz="1800" b="1">
                <a:latin typeface="Times New Roman" panose="02020603050405020304" pitchFamily="18" charset="0"/>
                <a:cs typeface="Times New Roman" panose="02020603050405020304" pitchFamily="18" charset="0"/>
              </a:rPr>
              <a:t>Mini Project  (</a:t>
            </a:r>
            <a:r>
              <a:rPr lang="en-IN"/>
              <a:t>23EECW301</a:t>
            </a:r>
            <a:r>
              <a:rPr lang="en-US" sz="1800" b="1">
                <a:latin typeface="Times New Roman" panose="02020603050405020304" pitchFamily="18" charset="0"/>
                <a:cs typeface="Times New Roman" panose="02020603050405020304" pitchFamily="18" charset="0"/>
              </a:rPr>
              <a:t>)</a:t>
            </a:r>
            <a:endParaRPr lang="en-IN" sz="1800"/>
          </a:p>
        </p:txBody>
      </p:sp>
      <p:graphicFrame>
        <p:nvGraphicFramePr>
          <p:cNvPr id="6" name="Table 5">
            <a:extLst>
              <a:ext uri="{FF2B5EF4-FFF2-40B4-BE49-F238E27FC236}">
                <a16:creationId xmlns:a16="http://schemas.microsoft.com/office/drawing/2014/main" id="{B472BBBA-B2FF-14E7-F278-99BD6A38F245}"/>
              </a:ext>
            </a:extLst>
          </p:cNvPr>
          <p:cNvGraphicFramePr>
            <a:graphicFrameLocks noGrp="1"/>
          </p:cNvGraphicFramePr>
          <p:nvPr>
            <p:extLst>
              <p:ext uri="{D42A27DB-BD31-4B8C-83A1-F6EECF244321}">
                <p14:modId xmlns:p14="http://schemas.microsoft.com/office/powerpoint/2010/main" val="3960990755"/>
              </p:ext>
            </p:extLst>
          </p:nvPr>
        </p:nvGraphicFramePr>
        <p:xfrm>
          <a:off x="148682" y="929266"/>
          <a:ext cx="11836841" cy="5871692"/>
        </p:xfrm>
        <a:graphic>
          <a:graphicData uri="http://schemas.openxmlformats.org/drawingml/2006/table">
            <a:tbl>
              <a:tblPr firstRow="1" bandRow="1">
                <a:tableStyleId>{5C22544A-7EE6-4342-B048-85BDC9FD1C3A}</a:tableStyleId>
              </a:tblPr>
              <a:tblGrid>
                <a:gridCol w="11836841">
                  <a:extLst>
                    <a:ext uri="{9D8B030D-6E8A-4147-A177-3AD203B41FA5}">
                      <a16:colId xmlns:a16="http://schemas.microsoft.com/office/drawing/2014/main" val="3690383400"/>
                    </a:ext>
                  </a:extLst>
                </a:gridCol>
              </a:tblGrid>
              <a:tr h="955709">
                <a:tc>
                  <a:txBody>
                    <a:bodyPr/>
                    <a:lstStyle/>
                    <a:p>
                      <a:pPr marL="0" indent="0">
                        <a:buNone/>
                      </a:pPr>
                      <a:r>
                        <a:rPr lang="en-IN" b="1">
                          <a:solidFill>
                            <a:schemeClr val="tx1"/>
                          </a:solidFill>
                          <a:latin typeface="Times New Roman"/>
                          <a:cs typeface="Times New Roman"/>
                        </a:rPr>
                        <a:t>1</a:t>
                      </a:r>
                      <a:r>
                        <a:rPr lang="en-IN" b="0">
                          <a:solidFill>
                            <a:schemeClr val="tx1"/>
                          </a:solidFill>
                          <a:latin typeface="Times New Roman"/>
                          <a:cs typeface="Times New Roman"/>
                        </a:rPr>
                        <a:t>.</a:t>
                      </a:r>
                      <a:r>
                        <a:rPr lang="en-IN" sz="1800" b="1" i="0" u="none" strike="noStrike" noProof="0">
                          <a:solidFill>
                            <a:schemeClr val="tx1"/>
                          </a:solidFill>
                          <a:latin typeface="Times New Roman"/>
                        </a:rPr>
                        <a:t> What is the purpose of a Bridge Rectifier and what does it do to the AC signal?</a:t>
                      </a:r>
                    </a:p>
                    <a:p>
                      <a:pPr marL="285750" lvl="0" indent="-285750">
                        <a:buFont typeface="Wingdings"/>
                        <a:buChar char="Ø"/>
                      </a:pPr>
                      <a:r>
                        <a:rPr lang="en-IN" sz="1800" b="0" i="0" u="none" strike="noStrike" noProof="0">
                          <a:solidFill>
                            <a:schemeClr val="tx1"/>
                          </a:solidFill>
                          <a:latin typeface="Times New Roman"/>
                        </a:rPr>
                        <a:t>A Bridge Rectifier converts AC (alternating current) to DC (direct current) by allowing current to flow in only one direction. It uses both positive and negative half-cycles of the AC signal, unlike half-wave rectifiers which use only one half-cycle.</a:t>
                      </a:r>
                      <a:endParaRPr lang="en-IN" sz="1800" b="1" i="0" u="none" strike="noStrike" noProof="0">
                        <a:solidFill>
                          <a:schemeClr val="tx1"/>
                        </a:solidFill>
                        <a:latin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5627482"/>
                  </a:ext>
                </a:extLst>
              </a:tr>
              <a:tr h="1242421">
                <a:tc>
                  <a:txBody>
                    <a:bodyPr/>
                    <a:lstStyle/>
                    <a:p>
                      <a:pPr lvl="0">
                        <a:buNone/>
                      </a:pPr>
                      <a:r>
                        <a:rPr lang="en-IN" sz="1800" b="1" i="0" u="none" strike="noStrike" noProof="0">
                          <a:latin typeface="Times New Roman"/>
                        </a:rPr>
                        <a:t>2</a:t>
                      </a:r>
                      <a:r>
                        <a:rPr lang="en-IN" sz="1800" b="1" i="0" u="none" strike="noStrike" noProof="0"/>
                        <a:t>.</a:t>
                      </a:r>
                      <a:r>
                        <a:rPr lang="en-IN" sz="1800" b="0" i="0" u="none" strike="noStrike" noProof="0"/>
                        <a:t> </a:t>
                      </a:r>
                      <a:r>
                        <a:rPr lang="en-IN" sz="1800" b="1" i="0" u="none" strike="noStrike" noProof="0">
                          <a:latin typeface="Times New Roman"/>
                        </a:rPr>
                        <a:t>Why are 4 diodes used in a Bridge Rectifier and what is their arrangement?</a:t>
                      </a:r>
                    </a:p>
                    <a:p>
                      <a:pPr marL="171450" lvl="0" indent="-171450">
                        <a:buFont typeface="Wingdings"/>
                        <a:buChar char="Ø"/>
                      </a:pPr>
                      <a:r>
                        <a:rPr lang="en-IN" sz="1800" b="0" i="0" u="none" strike="noStrike" noProof="0">
                          <a:latin typeface="Times New Roman"/>
                        </a:rPr>
                        <a:t>4 diodes are arranged in a diamond/bridge configuration to create two separate paths for current. During positive half-cycle, diodes 1 &amp; 3 conduct; during negative half-cycle, diodes 2 &amp; 4 conduct. This ensures output is always in the same direction (positive).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1310812"/>
                  </a:ext>
                </a:extLst>
              </a:tr>
              <a:tr h="1242421">
                <a:tc>
                  <a:txBody>
                    <a:bodyPr/>
                    <a:lstStyle/>
                    <a:p>
                      <a:pPr lvl="0">
                        <a:buNone/>
                      </a:pPr>
                      <a:r>
                        <a:rPr lang="en-IN" sz="1800" b="1" i="0" u="none" strike="noStrike" noProof="0">
                          <a:latin typeface="Times New Roman"/>
                        </a:rPr>
                        <a:t>3. How does a Bridge Rectifier differ from a Half-Wave Rectifier?</a:t>
                      </a:r>
                    </a:p>
                    <a:p>
                      <a:pPr marL="171450" lvl="0" indent="-171450">
                        <a:buFont typeface="Wingdings"/>
                        <a:buChar char="Ø"/>
                      </a:pPr>
                      <a:r>
                        <a:rPr lang="en-IN" sz="1800" b="0" i="0" u="none" strike="noStrike" noProof="0">
                          <a:latin typeface="Calibri"/>
                        </a:rPr>
                        <a:t>Half-wave: Uses 1 diode, conducts only one half-cycle (50Hz output), lower efficiency (~40%), high ripples. Bridge (Full-wave): Uses 4 diodes, conducts both half-cycles (100Hz output), higher efficiency (~80%), lower ripples. Bridge rectifier is preferred for better performance.</a:t>
                      </a:r>
                      <a:endParaRPr lang="en-IN" sz="1800" b="0" i="0" u="none" strike="noStrike" noProof="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3354296"/>
                  </a:ext>
                </a:extLst>
              </a:tr>
              <a:tr h="955709">
                <a:tc>
                  <a:txBody>
                    <a:bodyPr/>
                    <a:lstStyle/>
                    <a:p>
                      <a:pPr marL="0" lvl="0" indent="0">
                        <a:buNone/>
                      </a:pPr>
                      <a:r>
                        <a:rPr lang="en-IN" sz="1800" b="1" i="0" u="none" strike="noStrike" noProof="0">
                          <a:latin typeface="Times New Roman"/>
                        </a:rPr>
                        <a:t>4</a:t>
                      </a:r>
                      <a:r>
                        <a:rPr lang="en-IN" sz="1800" b="1" i="0" u="none" strike="noStrike" noProof="0">
                          <a:latin typeface="Calibri"/>
                        </a:rPr>
                        <a:t>.</a:t>
                      </a:r>
                      <a:r>
                        <a:rPr lang="en-IN" sz="1100" b="0" i="0" u="none" strike="noStrike" noProof="0"/>
                        <a:t> </a:t>
                      </a:r>
                      <a:r>
                        <a:rPr lang="en-IN" sz="1800" b="1" i="0" u="none" strike="noStrike" noProof="0">
                          <a:latin typeface="Times New Roman"/>
                        </a:rPr>
                        <a:t>What is the output frequency of a Bridge Rectifier and why does it double from input?</a:t>
                      </a:r>
                    </a:p>
                    <a:p>
                      <a:pPr marL="171450" lvl="0" indent="-171450">
                        <a:buFont typeface="Wingdings"/>
                        <a:buChar char="Ø"/>
                      </a:pPr>
                      <a:r>
                        <a:rPr lang="en-IN" sz="1800" b="0" i="0" u="none" strike="noStrike" noProof="0">
                          <a:latin typeface="Times New Roman"/>
                        </a:rPr>
                        <a:t>Input frequency = 50 Hz (AC). Since the bridge rectifier conducts both positive and negative half-cycles, the output frequency = 100 Hz (doubled). Each cycle of AC provides two pulses in the output, so output pulses = 2 × input frequency.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3868199"/>
                  </a:ext>
                </a:extLst>
              </a:tr>
              <a:tr h="1242421">
                <a:tc>
                  <a:txBody>
                    <a:bodyPr/>
                    <a:lstStyle/>
                    <a:p>
                      <a:pPr lvl="0">
                        <a:buNone/>
                      </a:pPr>
                      <a:r>
                        <a:rPr lang="en-IN" sz="1800" b="1" i="0" u="none" strike="noStrike" noProof="0">
                          <a:latin typeface="Times New Roman"/>
                        </a:rPr>
                        <a:t>5</a:t>
                      </a:r>
                      <a:r>
                        <a:rPr lang="en-IN" sz="1800" b="1" i="0" u="none" strike="noStrike" noProof="0"/>
                        <a:t>.</a:t>
                      </a:r>
                      <a:r>
                        <a:rPr lang="en-IN" sz="1100" b="0" i="0" u="none" strike="noStrike" noProof="0"/>
                        <a:t> </a:t>
                      </a:r>
                      <a:r>
                        <a:rPr lang="en-IN" sz="1800" b="1" i="0" u="none" strike="noStrike" noProof="0">
                          <a:latin typeface="Times New Roman"/>
                        </a:rPr>
                        <a:t>What does "Peak Inverse Voltage (PIV)" mean and why is it important for diode selection?</a:t>
                      </a:r>
                    </a:p>
                    <a:p>
                      <a:pPr marL="171450" lvl="0" indent="-171450">
                        <a:buFont typeface="Wingdings"/>
                        <a:buChar char="Ø"/>
                      </a:pPr>
                      <a:r>
                        <a:rPr lang="en-IN" sz="1800" b="0" i="0" u="none" strike="noStrike" noProof="0">
                          <a:latin typeface="Times New Roman"/>
                        </a:rPr>
                        <a:t>PIV is the maximum reverse voltage a diode must withstand without breaking down. For bridge rectifiers, PIV = Peak voltage of secondary AC = √2 × RMS voltage = √2 × 12 = 16.97V. Diodes must have PIV rating &gt; 16.97V (hence 1N4007 with 1000V PIV is used).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5016278"/>
                  </a:ext>
                </a:extLst>
              </a:tr>
            </a:tbl>
          </a:graphicData>
        </a:graphic>
      </p:graphicFrame>
      <p:sp>
        <p:nvSpPr>
          <p:cNvPr id="7" name="TextBox 6">
            <a:extLst>
              <a:ext uri="{FF2B5EF4-FFF2-40B4-BE49-F238E27FC236}">
                <a16:creationId xmlns:a16="http://schemas.microsoft.com/office/drawing/2014/main" id="{755C8C3D-D5CA-5F83-B132-3C3213A18441}"/>
              </a:ext>
            </a:extLst>
          </p:cNvPr>
          <p:cNvSpPr txBox="1"/>
          <p:nvPr/>
        </p:nvSpPr>
        <p:spPr>
          <a:xfrm>
            <a:off x="4424516" y="430805"/>
            <a:ext cx="3834581" cy="369332"/>
          </a:xfrm>
          <a:prstGeom prst="rect">
            <a:avLst/>
          </a:prstGeom>
          <a:noFill/>
          <a:ln>
            <a:solidFill>
              <a:schemeClr val="tx1"/>
            </a:solidFill>
          </a:ln>
        </p:spPr>
        <p:txBody>
          <a:bodyPr wrap="square" rtlCol="0">
            <a:spAutoFit/>
          </a:bodyPr>
          <a:lstStyle/>
          <a:p>
            <a:pPr algn="ctr"/>
            <a:r>
              <a:rPr lang="en-IN" b="1">
                <a:latin typeface="Times New Roman" panose="02020603050405020304" pitchFamily="18" charset="0"/>
                <a:cs typeface="Times New Roman" panose="02020603050405020304" pitchFamily="18" charset="0"/>
              </a:rPr>
              <a:t>Bridge RECTIFIER</a:t>
            </a:r>
          </a:p>
        </p:txBody>
      </p:sp>
    </p:spTree>
    <p:extLst>
      <p:ext uri="{BB962C8B-B14F-4D97-AF65-F5344CB8AC3E}">
        <p14:creationId xmlns:p14="http://schemas.microsoft.com/office/powerpoint/2010/main" val="8858144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9973F-6AB0-4979-1C2D-905F086312EE}"/>
            </a:ext>
          </a:extLst>
        </p:cNvPr>
        <p:cNvGrpSpPr/>
        <p:nvPr/>
      </p:nvGrpSpPr>
      <p:grpSpPr>
        <a:xfrm>
          <a:off x="0" y="0"/>
          <a:ext cx="0" cy="0"/>
          <a:chOff x="0" y="0"/>
          <a:chExt cx="0" cy="0"/>
        </a:xfrm>
      </p:grpSpPr>
      <p:pic>
        <p:nvPicPr>
          <p:cNvPr id="4" name="Picture 3" descr="KLE Technological University in Hubballi">
            <a:extLst>
              <a:ext uri="{FF2B5EF4-FFF2-40B4-BE49-F238E27FC236}">
                <a16:creationId xmlns:a16="http://schemas.microsoft.com/office/drawing/2014/main" id="{0777B77F-4180-8910-466B-302B0F7B2C3F}"/>
              </a:ext>
            </a:extLst>
          </p:cNvPr>
          <p:cNvPicPr>
            <a:picLocks noChangeAspect="1"/>
          </p:cNvPicPr>
          <p:nvPr/>
        </p:nvPicPr>
        <p:blipFill rotWithShape="1">
          <a:blip r:embed="rId2">
            <a:extLst>
              <a:ext uri="{28A0092B-C50C-407E-A947-70E740481C1C}">
                <a14:useLocalDpi xmlns:a14="http://schemas.microsoft.com/office/drawing/2010/main" val="0"/>
              </a:ext>
            </a:extLst>
          </a:blip>
          <a:srcRect t="37713" b="37711"/>
          <a:stretch/>
        </p:blipFill>
        <p:spPr bwMode="auto">
          <a:xfrm>
            <a:off x="9544414" y="0"/>
            <a:ext cx="2647586" cy="623017"/>
          </a:xfrm>
          <a:prstGeom prst="rect">
            <a:avLst/>
          </a:prstGeom>
          <a:noFill/>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43A74C60-EB53-E8D5-0F53-A4E96690593C}"/>
              </a:ext>
            </a:extLst>
          </p:cNvPr>
          <p:cNvSpPr txBox="1"/>
          <p:nvPr/>
        </p:nvSpPr>
        <p:spPr>
          <a:xfrm>
            <a:off x="-1" y="0"/>
            <a:ext cx="3647769" cy="369332"/>
          </a:xfrm>
          <a:prstGeom prst="rect">
            <a:avLst/>
          </a:prstGeom>
          <a:solidFill>
            <a:schemeClr val="tx2">
              <a:lumMod val="20000"/>
              <a:lumOff val="80000"/>
            </a:schemeClr>
          </a:solidFill>
        </p:spPr>
        <p:txBody>
          <a:bodyPr wrap="square">
            <a:spAutoFit/>
          </a:bodyPr>
          <a:lstStyle/>
          <a:p>
            <a:r>
              <a:rPr lang="en-US" sz="1800" b="1">
                <a:latin typeface="Times New Roman" panose="02020603050405020304" pitchFamily="18" charset="0"/>
                <a:cs typeface="Times New Roman" panose="02020603050405020304" pitchFamily="18" charset="0"/>
              </a:rPr>
              <a:t>Mini Project  (</a:t>
            </a:r>
            <a:r>
              <a:rPr lang="en-IN"/>
              <a:t>23EECW301</a:t>
            </a:r>
            <a:r>
              <a:rPr lang="en-US" sz="1800" b="1">
                <a:latin typeface="Times New Roman" panose="02020603050405020304" pitchFamily="18" charset="0"/>
                <a:cs typeface="Times New Roman" panose="02020603050405020304" pitchFamily="18" charset="0"/>
              </a:rPr>
              <a:t>)</a:t>
            </a:r>
            <a:endParaRPr lang="en-IN" sz="1800"/>
          </a:p>
        </p:txBody>
      </p:sp>
      <p:graphicFrame>
        <p:nvGraphicFramePr>
          <p:cNvPr id="6" name="Table 5">
            <a:extLst>
              <a:ext uri="{FF2B5EF4-FFF2-40B4-BE49-F238E27FC236}">
                <a16:creationId xmlns:a16="http://schemas.microsoft.com/office/drawing/2014/main" id="{C1F3FCD6-E4C6-375B-9896-2C2342C36071}"/>
              </a:ext>
            </a:extLst>
          </p:cNvPr>
          <p:cNvGraphicFramePr>
            <a:graphicFrameLocks noGrp="1"/>
          </p:cNvGraphicFramePr>
          <p:nvPr>
            <p:extLst>
              <p:ext uri="{D42A27DB-BD31-4B8C-83A1-F6EECF244321}">
                <p14:modId xmlns:p14="http://schemas.microsoft.com/office/powerpoint/2010/main" val="4227177304"/>
              </p:ext>
            </p:extLst>
          </p:nvPr>
        </p:nvGraphicFramePr>
        <p:xfrm>
          <a:off x="143565" y="618434"/>
          <a:ext cx="12052677" cy="6745435"/>
        </p:xfrm>
        <a:graphic>
          <a:graphicData uri="http://schemas.openxmlformats.org/drawingml/2006/table">
            <a:tbl>
              <a:tblPr firstRow="1" bandRow="1">
                <a:tableStyleId>{5C22544A-7EE6-4342-B048-85BDC9FD1C3A}</a:tableStyleId>
              </a:tblPr>
              <a:tblGrid>
                <a:gridCol w="12052677">
                  <a:extLst>
                    <a:ext uri="{9D8B030D-6E8A-4147-A177-3AD203B41FA5}">
                      <a16:colId xmlns:a16="http://schemas.microsoft.com/office/drawing/2014/main" val="3690383400"/>
                    </a:ext>
                  </a:extLst>
                </a:gridCol>
              </a:tblGrid>
              <a:tr h="1242391">
                <a:tc>
                  <a:txBody>
                    <a:bodyPr/>
                    <a:lstStyle/>
                    <a:p>
                      <a:pPr marL="0" lvl="0" indent="0">
                        <a:buNone/>
                      </a:pPr>
                      <a:r>
                        <a:rPr lang="en-IN" sz="1800" b="1" i="0" u="none" strike="noStrike" noProof="0">
                          <a:solidFill>
                            <a:schemeClr val="tx1"/>
                          </a:solidFill>
                          <a:latin typeface="Times New Roman"/>
                        </a:rPr>
                        <a:t>6. Why is diode 1N4007 specifically used in the bridge rectifier of this project?</a:t>
                      </a:r>
                    </a:p>
                    <a:p>
                      <a:pPr marL="171450" lvl="0" indent="-171450">
                        <a:buFont typeface="Wingdings"/>
                        <a:buChar char="Ø"/>
                      </a:pPr>
                      <a:r>
                        <a:rPr lang="en-IN" sz="1800" b="0" i="0" u="none" strike="noStrike" noProof="0">
                          <a:solidFill>
                            <a:schemeClr val="tx1"/>
                          </a:solidFill>
                          <a:latin typeface="Times New Roman"/>
                        </a:rPr>
                        <a:t>1N4007 diode has: (1) Peak Inverse Voltage (PIV) = 1000V (very high for safety margin), (2) Maximum forward current = 1A (matches project output), (3) Forward voltage drop ≈ 0.7V (acceptable loss), (4) Cheap and readily available. Perfect for 12V AC input.</a:t>
                      </a:r>
                      <a:endParaRPr lang="en-IN" sz="1800">
                        <a:latin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5627482"/>
                  </a:ext>
                </a:extLst>
              </a:tr>
              <a:tr h="1205957">
                <a:tc>
                  <a:txBody>
                    <a:bodyPr/>
                    <a:lstStyle/>
                    <a:p>
                      <a:pPr lvl="0">
                        <a:buNone/>
                      </a:pPr>
                      <a:r>
                        <a:rPr lang="en-IN" sz="1800" b="1" i="0" u="none" strike="noStrike" noProof="0">
                          <a:latin typeface="Times New Roman"/>
                        </a:rPr>
                        <a:t>7. What is the voltage loss across the Bridge Rectifier due to diode forward voltage drops?</a:t>
                      </a:r>
                    </a:p>
                    <a:p>
                      <a:pPr marL="171450" lvl="0" indent="-171450">
                        <a:buFont typeface="Wingdings"/>
                        <a:buChar char="Ø"/>
                      </a:pPr>
                      <a:r>
                        <a:rPr lang="en-IN" sz="1800" b="0" i="0" u="none" strike="noStrike" noProof="0">
                          <a:latin typeface="Times New Roman"/>
                        </a:rPr>
                        <a:t>Each diode has a forward voltage drop of ~0.7V. In a bridge rectifier, 2 diodes conduct simultaneously, so total voltage drop = 2 × 0.7V = 1.4V. For 12V AC (peak = 16.97V DC), output = 16.97 - 1.4 = 15.57V. This ripple DC is then filtered and regulated.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1310812"/>
                  </a:ext>
                </a:extLst>
              </a:tr>
              <a:tr h="1205957">
                <a:tc>
                  <a:txBody>
                    <a:bodyPr/>
                    <a:lstStyle/>
                    <a:p>
                      <a:pPr lvl="0">
                        <a:buNone/>
                      </a:pPr>
                      <a:r>
                        <a:rPr lang="en-IN" sz="1800" b="1" i="0" u="none" strike="noStrike" noProof="0">
                          <a:latin typeface="Times New Roman"/>
                        </a:rPr>
                        <a:t>8. What is "Ripple Voltage" in the Bridge Rectifier output and why must it be removed?</a:t>
                      </a:r>
                    </a:p>
                    <a:p>
                      <a:pPr marL="171450" lvl="0" indent="-171450">
                        <a:buFont typeface="Wingdings"/>
                        <a:buChar char="Ø"/>
                      </a:pPr>
                      <a:r>
                        <a:rPr lang="en-IN" sz="1800" b="0" i="0" u="none" strike="noStrike" noProof="0">
                          <a:latin typeface="Times New Roman"/>
                        </a:rPr>
                        <a:t>Ripple voltage is the remaining AC component in the "DC" output from the rectifier. It appears as small voltage variations (pulsations) on top of the DC level. It must be removed because: (1) Electronic devices need pure DC, (2) Ripples cause noise and instability, (3) Can damage sensitive components. Solution: Use filter capacitor to smooth 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3354296"/>
                  </a:ext>
                </a:extLst>
              </a:tr>
              <a:tr h="1205957">
                <a:tc>
                  <a:txBody>
                    <a:bodyPr/>
                    <a:lstStyle/>
                    <a:p>
                      <a:pPr marL="0" lvl="0" indent="0">
                        <a:buNone/>
                      </a:pPr>
                      <a:r>
                        <a:rPr lang="en-IN" sz="1800" b="1" i="0" u="none" strike="noStrike" noProof="0">
                          <a:latin typeface="Times New Roman"/>
                        </a:rPr>
                        <a:t>9. How does the Bridge Rectifier output compare to ideal DC in terms of smoothness and ripple factor?</a:t>
                      </a:r>
                    </a:p>
                    <a:p>
                      <a:pPr marL="171450" lvl="0" indent="-171450">
                        <a:buFont typeface="Wingdings"/>
                        <a:buChar char="Ø"/>
                      </a:pPr>
                      <a:r>
                        <a:rPr lang="en-IN" sz="1800" b="0" i="0" u="none" strike="noStrike" noProof="0">
                          <a:latin typeface="Times New Roman"/>
                        </a:rPr>
                        <a:t>Ideal DC: Perfectly flat at constant voltage. Bridge Rectifier output: Has significant ripples. Ripple factor = (RMS value of AC component) / (Average DC value) ≈ 0.48 (or 48%) for unfiltered bridge output. This is why a capacitor filter is essential to reduce ripple factor to &lt;5%.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3868199"/>
                  </a:ext>
                </a:extLst>
              </a:tr>
              <a:tr h="1205957">
                <a:tc>
                  <a:txBody>
                    <a:bodyPr/>
                    <a:lstStyle/>
                    <a:p>
                      <a:pPr lvl="0">
                        <a:buNone/>
                      </a:pPr>
                      <a:r>
                        <a:rPr lang="en-IN" sz="1800" b="1" i="0" u="none" strike="noStrike" noProof="0">
                          <a:latin typeface="Times New Roman"/>
                        </a:rPr>
                        <a:t>10. What is the efficiency of a Bridge Rectifier and how does it compare with other rectifier types?</a:t>
                      </a:r>
                    </a:p>
                    <a:p>
                      <a:pPr marL="171450" lvl="0" indent="-171450">
                        <a:buFont typeface="Wingdings"/>
                        <a:buChar char="Ø"/>
                      </a:pPr>
                      <a:r>
                        <a:rPr lang="en-IN" sz="1800" b="0" i="0" u="none" strike="noStrike" noProof="0">
                          <a:latin typeface="Times New Roman"/>
                        </a:rPr>
                        <a:t>Bridge Rectifier efficiency ≈ 81.2% (defined as: ratio of DC power output to AC power input). Comparison: Half-wave rectifier ≈ 40%, Full-wave </a:t>
                      </a:r>
                      <a:r>
                        <a:rPr lang="en-IN" sz="1800" b="0" i="0" u="none" strike="noStrike" noProof="0" err="1">
                          <a:latin typeface="Times New Roman"/>
                        </a:rPr>
                        <a:t>center</a:t>
                      </a:r>
                      <a:r>
                        <a:rPr lang="en-IN" sz="1800" b="0" i="0" u="none" strike="noStrike" noProof="0">
                          <a:latin typeface="Times New Roman"/>
                        </a:rPr>
                        <a:t>-tap ≈ 81.2%, Bridge rectifier ≈ 81.2%. Bridge rectifier's higher efficiency makes it the preferred choice for power supplies, as less power is wasted as heat.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5016278"/>
                  </a:ext>
                </a:extLst>
              </a:tr>
              <a:tr h="679216">
                <a:tc>
                  <a:txBody>
                    <a:bodyPr/>
                    <a:lstStyle/>
                    <a:p>
                      <a:endParaRPr lang="en-IN" b="1">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2059146"/>
                  </a:ext>
                </a:extLst>
              </a:tr>
            </a:tbl>
          </a:graphicData>
        </a:graphic>
      </p:graphicFrame>
      <p:sp>
        <p:nvSpPr>
          <p:cNvPr id="7" name="TextBox 6">
            <a:extLst>
              <a:ext uri="{FF2B5EF4-FFF2-40B4-BE49-F238E27FC236}">
                <a16:creationId xmlns:a16="http://schemas.microsoft.com/office/drawing/2014/main" id="{6C52A404-3696-65CD-D82D-5A44A79B89D8}"/>
              </a:ext>
            </a:extLst>
          </p:cNvPr>
          <p:cNvSpPr txBox="1"/>
          <p:nvPr/>
        </p:nvSpPr>
        <p:spPr>
          <a:xfrm>
            <a:off x="4181559" y="176805"/>
            <a:ext cx="3834581" cy="369332"/>
          </a:xfrm>
          <a:prstGeom prst="rect">
            <a:avLst/>
          </a:prstGeom>
          <a:noFill/>
          <a:ln>
            <a:solidFill>
              <a:schemeClr val="tx1"/>
            </a:solidFill>
          </a:ln>
        </p:spPr>
        <p:txBody>
          <a:bodyPr wrap="square" rtlCol="0">
            <a:spAutoFit/>
          </a:bodyPr>
          <a:lstStyle/>
          <a:p>
            <a:pPr algn="ctr"/>
            <a:r>
              <a:rPr lang="en-IN" b="1">
                <a:latin typeface="Times New Roman" panose="02020603050405020304" pitchFamily="18" charset="0"/>
                <a:cs typeface="Times New Roman" panose="02020603050405020304" pitchFamily="18" charset="0"/>
              </a:rPr>
              <a:t>Bridge RECTIFIER</a:t>
            </a:r>
          </a:p>
        </p:txBody>
      </p:sp>
    </p:spTree>
    <p:extLst>
      <p:ext uri="{BB962C8B-B14F-4D97-AF65-F5344CB8AC3E}">
        <p14:creationId xmlns:p14="http://schemas.microsoft.com/office/powerpoint/2010/main" val="35581085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8169D-6124-0DEF-1B4F-DBA61920ABEC}"/>
            </a:ext>
          </a:extLst>
        </p:cNvPr>
        <p:cNvGrpSpPr/>
        <p:nvPr/>
      </p:nvGrpSpPr>
      <p:grpSpPr>
        <a:xfrm>
          <a:off x="0" y="0"/>
          <a:ext cx="0" cy="0"/>
          <a:chOff x="0" y="0"/>
          <a:chExt cx="0" cy="0"/>
        </a:xfrm>
      </p:grpSpPr>
      <p:pic>
        <p:nvPicPr>
          <p:cNvPr id="4" name="Picture 3" descr="KLE Technological University in Hubballi">
            <a:extLst>
              <a:ext uri="{FF2B5EF4-FFF2-40B4-BE49-F238E27FC236}">
                <a16:creationId xmlns:a16="http://schemas.microsoft.com/office/drawing/2014/main" id="{CC05226E-DAED-26AA-4041-1ADBB00C41BE}"/>
              </a:ext>
            </a:extLst>
          </p:cNvPr>
          <p:cNvPicPr>
            <a:picLocks noChangeAspect="1"/>
          </p:cNvPicPr>
          <p:nvPr/>
        </p:nvPicPr>
        <p:blipFill rotWithShape="1">
          <a:blip r:embed="rId2">
            <a:extLst>
              <a:ext uri="{28A0092B-C50C-407E-A947-70E740481C1C}">
                <a14:useLocalDpi xmlns:a14="http://schemas.microsoft.com/office/drawing/2010/main" val="0"/>
              </a:ext>
            </a:extLst>
          </a:blip>
          <a:srcRect t="37713" b="37711"/>
          <a:stretch/>
        </p:blipFill>
        <p:spPr bwMode="auto">
          <a:xfrm>
            <a:off x="9544414" y="0"/>
            <a:ext cx="2647586" cy="623017"/>
          </a:xfrm>
          <a:prstGeom prst="rect">
            <a:avLst/>
          </a:prstGeom>
          <a:noFill/>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2DACBD28-FBB5-75CF-7316-9BBFE4BD04F4}"/>
              </a:ext>
            </a:extLst>
          </p:cNvPr>
          <p:cNvSpPr txBox="1"/>
          <p:nvPr/>
        </p:nvSpPr>
        <p:spPr>
          <a:xfrm>
            <a:off x="-1" y="0"/>
            <a:ext cx="3647769" cy="369332"/>
          </a:xfrm>
          <a:prstGeom prst="rect">
            <a:avLst/>
          </a:prstGeom>
          <a:solidFill>
            <a:schemeClr val="tx2">
              <a:lumMod val="20000"/>
              <a:lumOff val="80000"/>
            </a:schemeClr>
          </a:solidFill>
        </p:spPr>
        <p:txBody>
          <a:bodyPr wrap="square">
            <a:spAutoFit/>
          </a:bodyPr>
          <a:lstStyle/>
          <a:p>
            <a:r>
              <a:rPr lang="en-US" sz="1800" b="1">
                <a:latin typeface="Times New Roman" panose="02020603050405020304" pitchFamily="18" charset="0"/>
                <a:cs typeface="Times New Roman" panose="02020603050405020304" pitchFamily="18" charset="0"/>
              </a:rPr>
              <a:t>Mini Project  (</a:t>
            </a:r>
            <a:r>
              <a:rPr lang="en-IN"/>
              <a:t>23EECW301</a:t>
            </a:r>
            <a:r>
              <a:rPr lang="en-US" sz="1800" b="1">
                <a:latin typeface="Times New Roman" panose="02020603050405020304" pitchFamily="18" charset="0"/>
                <a:cs typeface="Times New Roman" panose="02020603050405020304" pitchFamily="18" charset="0"/>
              </a:rPr>
              <a:t>)</a:t>
            </a:r>
            <a:endParaRPr lang="en-IN" sz="1800"/>
          </a:p>
        </p:txBody>
      </p:sp>
      <p:graphicFrame>
        <p:nvGraphicFramePr>
          <p:cNvPr id="6" name="Table 5">
            <a:extLst>
              <a:ext uri="{FF2B5EF4-FFF2-40B4-BE49-F238E27FC236}">
                <a16:creationId xmlns:a16="http://schemas.microsoft.com/office/drawing/2014/main" id="{0DFDA99A-8357-5F64-6F52-71732E813944}"/>
              </a:ext>
            </a:extLst>
          </p:cNvPr>
          <p:cNvGraphicFramePr>
            <a:graphicFrameLocks noGrp="1"/>
          </p:cNvGraphicFramePr>
          <p:nvPr>
            <p:extLst>
              <p:ext uri="{D42A27DB-BD31-4B8C-83A1-F6EECF244321}">
                <p14:modId xmlns:p14="http://schemas.microsoft.com/office/powerpoint/2010/main" val="3899973725"/>
              </p:ext>
            </p:extLst>
          </p:nvPr>
        </p:nvGraphicFramePr>
        <p:xfrm>
          <a:off x="117987" y="650699"/>
          <a:ext cx="11621729" cy="6201358"/>
        </p:xfrm>
        <a:graphic>
          <a:graphicData uri="http://schemas.openxmlformats.org/drawingml/2006/table">
            <a:tbl>
              <a:tblPr firstRow="1" bandRow="1">
                <a:tableStyleId>{5C22544A-7EE6-4342-B048-85BDC9FD1C3A}</a:tableStyleId>
              </a:tblPr>
              <a:tblGrid>
                <a:gridCol w="11621729">
                  <a:extLst>
                    <a:ext uri="{9D8B030D-6E8A-4147-A177-3AD203B41FA5}">
                      <a16:colId xmlns:a16="http://schemas.microsoft.com/office/drawing/2014/main" val="3690383400"/>
                    </a:ext>
                  </a:extLst>
                </a:gridCol>
              </a:tblGrid>
              <a:tr h="1103682">
                <a:tc>
                  <a:txBody>
                    <a:bodyPr/>
                    <a:lstStyle/>
                    <a:p>
                      <a:pPr marL="0" indent="0">
                        <a:buNone/>
                      </a:pPr>
                      <a:r>
                        <a:rPr lang="en-IN" b="1">
                          <a:solidFill>
                            <a:schemeClr val="tx1"/>
                          </a:solidFill>
                          <a:latin typeface="Times New Roman"/>
                          <a:cs typeface="Times New Roman"/>
                        </a:rPr>
                        <a:t>1.</a:t>
                      </a:r>
                      <a:r>
                        <a:rPr lang="en-IN" sz="1800" b="1" i="0" u="none" strike="noStrike" noProof="0">
                          <a:solidFill>
                            <a:schemeClr val="tx1"/>
                          </a:solidFill>
                          <a:latin typeface="Times New Roman"/>
                        </a:rPr>
                        <a:t>What is the purpose of a Filter Capacitor in this power supply circuit?</a:t>
                      </a:r>
                    </a:p>
                    <a:p>
                      <a:pPr marL="171450" lvl="0" indent="-171450">
                        <a:buFont typeface="Wingdings"/>
                        <a:buChar char="Ø"/>
                      </a:pPr>
                      <a:r>
                        <a:rPr lang="en-IN" sz="1800" b="0" i="0" u="none" strike="noStrike" noProof="0">
                          <a:solidFill>
                            <a:schemeClr val="tx1"/>
                          </a:solidFill>
                          <a:latin typeface="Times New Roman"/>
                        </a:rPr>
                        <a:t>A filter capacitor (also called smoothing capacitor) removes ripple voltage from the bridge rectifier output. It stores charge during peaks and releases it during valleys, smoothing the pulsating DC into a relatively pure DC voltage. This reduces ripple factor from ~48% to &lt;5%.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5627482"/>
                  </a:ext>
                </a:extLst>
              </a:tr>
              <a:tr h="1103682">
                <a:tc>
                  <a:txBody>
                    <a:bodyPr/>
                    <a:lstStyle/>
                    <a:p>
                      <a:pPr lvl="0">
                        <a:buNone/>
                      </a:pPr>
                      <a:r>
                        <a:rPr lang="en-IN" sz="2000" b="1" i="0" u="none" strike="noStrike" noProof="0"/>
                        <a:t>2.</a:t>
                      </a:r>
                      <a:r>
                        <a:rPr lang="en-IN" sz="1800" b="1" i="0" u="none" strike="noStrike" noProof="0">
                          <a:latin typeface="Times New Roman"/>
                        </a:rPr>
                        <a:t> Why is a large capacitance value (4700µF) chosen for the filter capacitor?</a:t>
                      </a:r>
                    </a:p>
                    <a:p>
                      <a:pPr marL="171450" lvl="0" indent="-171450">
                        <a:buFont typeface="Wingdings"/>
                        <a:buChar char="Ø"/>
                      </a:pPr>
                      <a:r>
                        <a:rPr lang="en-IN" sz="1800" b="0" i="0" u="none" strike="noStrike" noProof="0">
                          <a:latin typeface="Times New Roman"/>
                        </a:rPr>
                        <a:t>Larger capacitance stores more charge, allowing it to maintain voltage more effectively between rectifier pulses. 1000µF is a compromise between: (1) Large enough to significantly reduce ripples, (2) Small enough to be practical and affordable, (3) Adequate for 1A maximum current output.</a:t>
                      </a:r>
                      <a:endParaRPr lang="en-IN" sz="1800">
                        <a:latin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1310812"/>
                  </a:ext>
                </a:extLst>
              </a:tr>
              <a:tr h="1103682">
                <a:tc>
                  <a:txBody>
                    <a:bodyPr/>
                    <a:lstStyle/>
                    <a:p>
                      <a:pPr lvl="0">
                        <a:buNone/>
                      </a:pPr>
                      <a:r>
                        <a:rPr lang="en-IN" sz="2000" b="1" i="0" u="none" strike="noStrike" noProof="0"/>
                        <a:t>3</a:t>
                      </a:r>
                      <a:r>
                        <a:rPr lang="en-IN" sz="1100" b="0" i="0" u="none" strike="noStrike" noProof="0"/>
                        <a:t>. </a:t>
                      </a:r>
                      <a:r>
                        <a:rPr lang="en-IN" sz="1800" b="1" i="0" u="none" strike="noStrike" noProof="0">
                          <a:latin typeface="Times New Roman"/>
                        </a:rPr>
                        <a:t>How does the Filter Capacitor charge and discharge in the circuit?</a:t>
                      </a:r>
                    </a:p>
                    <a:p>
                      <a:pPr marL="171450" lvl="0" indent="-171450">
                        <a:buFont typeface="Wingdings"/>
                        <a:buChar char="Ø"/>
                      </a:pPr>
                      <a:r>
                        <a:rPr lang="en-IN" sz="1800" b="0" i="0" u="none" strike="noStrike" noProof="0">
                          <a:latin typeface="Times New Roman"/>
                        </a:rPr>
                        <a:t>Charging: When the bridge rectifier output voltage is at its peak, the capacitor charges to that peak voltage (bypassing the diodes). Discharging: Between rectifier pulses, the output voltage drops, but the charged capacitor discharges through the load, maintaining voltage. This creates a smoother DC output.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3354296"/>
                  </a:ext>
                </a:extLst>
              </a:tr>
              <a:tr h="1103682">
                <a:tc>
                  <a:txBody>
                    <a:bodyPr/>
                    <a:lstStyle/>
                    <a:p>
                      <a:pPr marL="0" lvl="0" indent="0">
                        <a:buNone/>
                      </a:pPr>
                      <a:r>
                        <a:rPr lang="en-IN" sz="2000" b="1" i="0" u="none" strike="noStrike" noProof="0"/>
                        <a:t>4.</a:t>
                      </a:r>
                      <a:r>
                        <a:rPr lang="en-IN" sz="1100" b="0" i="0" u="none" strike="noStrike" noProof="0"/>
                        <a:t> </a:t>
                      </a:r>
                      <a:r>
                        <a:rPr lang="en-IN" sz="1800" b="1" i="0" u="none" strike="noStrike" noProof="0">
                          <a:latin typeface="Times New Roman"/>
                        </a:rPr>
                        <a:t>What is the relationship between capacitance, ripple voltage, and frequency?</a:t>
                      </a:r>
                    </a:p>
                    <a:p>
                      <a:pPr marL="171450" lvl="0" indent="-171450">
                        <a:buFont typeface="Wingdings"/>
                        <a:buChar char="Ø"/>
                      </a:pPr>
                      <a:r>
                        <a:rPr lang="en-IN" sz="1800" b="0" i="0" u="none" strike="noStrike" noProof="0">
                          <a:latin typeface="Times New Roman"/>
                        </a:rPr>
                        <a:t>Ripple voltage ∝ 1/C (inversely proportional to capacitance). Ripple voltage ∝ 1/f (inversely proportional to frequency). Formula: Vripple = Iload × T / (2 × C), where T is the period between pulses. Higher C and higher frequency (100Hz for bridge) both reduce ripples.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3868199"/>
                  </a:ext>
                </a:extLst>
              </a:tr>
              <a:tr h="1355038">
                <a:tc>
                  <a:txBody>
                    <a:bodyPr/>
                    <a:lstStyle/>
                    <a:p>
                      <a:pPr marL="0" lvl="0" indent="0">
                        <a:buNone/>
                      </a:pPr>
                      <a:r>
                        <a:rPr lang="en-IN" sz="2000" b="1" i="0" u="none" strike="noStrike" noProof="0"/>
                        <a:t>5.</a:t>
                      </a:r>
                      <a:r>
                        <a:rPr lang="en-IN" sz="2000" b="1" i="0" u="none" strike="noStrike" noProof="0">
                          <a:latin typeface="Times New Roman"/>
                        </a:rPr>
                        <a:t> </a:t>
                      </a:r>
                      <a:r>
                        <a:rPr lang="en-IN" sz="1800" b="1" i="0" u="none" strike="noStrike" noProof="0">
                          <a:latin typeface="Times New Roman"/>
                        </a:rPr>
                        <a:t>Why must the Filter Capacitor have a voltage rating higher than the peak output voltage?</a:t>
                      </a:r>
                      <a:endParaRPr lang="en-US" sz="1800" b="1">
                        <a:latin typeface="Times New Roman"/>
                      </a:endParaRPr>
                    </a:p>
                    <a:p>
                      <a:pPr marL="171450" lvl="0" indent="-171450">
                        <a:buFont typeface="Wingdings"/>
                        <a:buChar char="Ø"/>
                      </a:pPr>
                      <a:r>
                        <a:rPr lang="en-IN" sz="1800" b="0" i="0" u="none" strike="noStrike" noProof="0">
                          <a:latin typeface="Times New Roman"/>
                        </a:rPr>
                        <a:t>Peak DC output ≈ 15.57V (from bridge rectifier). The capacitor must withstand this voltage plus any voltage spikes or transients. Standard practice: Use capacitor with voltage rating ≥ 1.5× to 2× peak voltage.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5016278"/>
                  </a:ext>
                </a:extLst>
              </a:tr>
            </a:tbl>
          </a:graphicData>
        </a:graphic>
      </p:graphicFrame>
      <p:sp>
        <p:nvSpPr>
          <p:cNvPr id="7" name="TextBox 6">
            <a:extLst>
              <a:ext uri="{FF2B5EF4-FFF2-40B4-BE49-F238E27FC236}">
                <a16:creationId xmlns:a16="http://schemas.microsoft.com/office/drawing/2014/main" id="{0EB12551-CD49-A5FA-C788-44F6084E5B9B}"/>
              </a:ext>
            </a:extLst>
          </p:cNvPr>
          <p:cNvSpPr txBox="1"/>
          <p:nvPr/>
        </p:nvSpPr>
        <p:spPr>
          <a:xfrm>
            <a:off x="4424516" y="281367"/>
            <a:ext cx="3834581" cy="369332"/>
          </a:xfrm>
          <a:prstGeom prst="rect">
            <a:avLst/>
          </a:prstGeom>
          <a:noFill/>
          <a:ln>
            <a:solidFill>
              <a:schemeClr val="tx1"/>
            </a:solidFill>
          </a:ln>
        </p:spPr>
        <p:txBody>
          <a:bodyPr wrap="square" lIns="91440" tIns="45720" rIns="91440" bIns="45720" rtlCol="0" anchor="t">
            <a:spAutoFit/>
          </a:bodyPr>
          <a:lstStyle/>
          <a:p>
            <a:pPr algn="ctr"/>
            <a:r>
              <a:rPr lang="en-IN" b="1">
                <a:latin typeface="Times New Roman"/>
                <a:cs typeface="Times New Roman"/>
              </a:rPr>
              <a:t>FITER CAPACITOR </a:t>
            </a:r>
            <a:endParaRPr lang="en-IN"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66273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B2089-C055-B349-EC6A-DE10E77D973D}"/>
            </a:ext>
          </a:extLst>
        </p:cNvPr>
        <p:cNvGrpSpPr/>
        <p:nvPr/>
      </p:nvGrpSpPr>
      <p:grpSpPr>
        <a:xfrm>
          <a:off x="0" y="0"/>
          <a:ext cx="0" cy="0"/>
          <a:chOff x="0" y="0"/>
          <a:chExt cx="0" cy="0"/>
        </a:xfrm>
      </p:grpSpPr>
      <p:pic>
        <p:nvPicPr>
          <p:cNvPr id="4" name="Picture 3" descr="KLE Technological University in Hubballi">
            <a:extLst>
              <a:ext uri="{FF2B5EF4-FFF2-40B4-BE49-F238E27FC236}">
                <a16:creationId xmlns:a16="http://schemas.microsoft.com/office/drawing/2014/main" id="{BD822167-E870-8E7C-12A6-516CC67C1ED3}"/>
              </a:ext>
            </a:extLst>
          </p:cNvPr>
          <p:cNvPicPr>
            <a:picLocks noChangeAspect="1"/>
          </p:cNvPicPr>
          <p:nvPr/>
        </p:nvPicPr>
        <p:blipFill rotWithShape="1">
          <a:blip r:embed="rId2">
            <a:extLst>
              <a:ext uri="{28A0092B-C50C-407E-A947-70E740481C1C}">
                <a14:useLocalDpi xmlns:a14="http://schemas.microsoft.com/office/drawing/2010/main" val="0"/>
              </a:ext>
            </a:extLst>
          </a:blip>
          <a:srcRect t="37713" b="37711"/>
          <a:stretch/>
        </p:blipFill>
        <p:spPr bwMode="auto">
          <a:xfrm>
            <a:off x="9544414" y="0"/>
            <a:ext cx="2647586" cy="623017"/>
          </a:xfrm>
          <a:prstGeom prst="rect">
            <a:avLst/>
          </a:prstGeom>
          <a:noFill/>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FA4289EC-0F66-4373-C4E4-651A68B6727E}"/>
              </a:ext>
            </a:extLst>
          </p:cNvPr>
          <p:cNvSpPr txBox="1"/>
          <p:nvPr/>
        </p:nvSpPr>
        <p:spPr>
          <a:xfrm>
            <a:off x="-1" y="0"/>
            <a:ext cx="3647769" cy="369332"/>
          </a:xfrm>
          <a:prstGeom prst="rect">
            <a:avLst/>
          </a:prstGeom>
          <a:solidFill>
            <a:schemeClr val="tx2">
              <a:lumMod val="20000"/>
              <a:lumOff val="80000"/>
            </a:schemeClr>
          </a:solidFill>
        </p:spPr>
        <p:txBody>
          <a:bodyPr wrap="square">
            <a:spAutoFit/>
          </a:bodyPr>
          <a:lstStyle/>
          <a:p>
            <a:r>
              <a:rPr lang="en-US" sz="1800" b="1">
                <a:latin typeface="Times New Roman" panose="02020603050405020304" pitchFamily="18" charset="0"/>
                <a:cs typeface="Times New Roman" panose="02020603050405020304" pitchFamily="18" charset="0"/>
              </a:rPr>
              <a:t>Mini Project  (</a:t>
            </a:r>
            <a:r>
              <a:rPr lang="en-IN"/>
              <a:t>23EECW301</a:t>
            </a:r>
            <a:r>
              <a:rPr lang="en-US" sz="1800" b="1">
                <a:latin typeface="Times New Roman" panose="02020603050405020304" pitchFamily="18" charset="0"/>
                <a:cs typeface="Times New Roman" panose="02020603050405020304" pitchFamily="18" charset="0"/>
              </a:rPr>
              <a:t>)</a:t>
            </a:r>
            <a:endParaRPr lang="en-IN" sz="1800"/>
          </a:p>
        </p:txBody>
      </p:sp>
      <p:graphicFrame>
        <p:nvGraphicFramePr>
          <p:cNvPr id="6" name="Table 5">
            <a:extLst>
              <a:ext uri="{FF2B5EF4-FFF2-40B4-BE49-F238E27FC236}">
                <a16:creationId xmlns:a16="http://schemas.microsoft.com/office/drawing/2014/main" id="{64C547AA-D6C3-FC17-7405-10C463A03215}"/>
              </a:ext>
            </a:extLst>
          </p:cNvPr>
          <p:cNvGraphicFramePr>
            <a:graphicFrameLocks noGrp="1"/>
          </p:cNvGraphicFramePr>
          <p:nvPr>
            <p:extLst>
              <p:ext uri="{D42A27DB-BD31-4B8C-83A1-F6EECF244321}">
                <p14:modId xmlns:p14="http://schemas.microsoft.com/office/powerpoint/2010/main" val="539378212"/>
              </p:ext>
            </p:extLst>
          </p:nvPr>
        </p:nvGraphicFramePr>
        <p:xfrm>
          <a:off x="117987" y="723314"/>
          <a:ext cx="11956026" cy="5943600"/>
        </p:xfrm>
        <a:graphic>
          <a:graphicData uri="http://schemas.openxmlformats.org/drawingml/2006/table">
            <a:tbl>
              <a:tblPr firstRow="1" bandRow="1">
                <a:tableStyleId>{5C22544A-7EE6-4342-B048-85BDC9FD1C3A}</a:tableStyleId>
              </a:tblPr>
              <a:tblGrid>
                <a:gridCol w="11956026">
                  <a:extLst>
                    <a:ext uri="{9D8B030D-6E8A-4147-A177-3AD203B41FA5}">
                      <a16:colId xmlns:a16="http://schemas.microsoft.com/office/drawing/2014/main" val="3690383400"/>
                    </a:ext>
                  </a:extLst>
                </a:gridCol>
              </a:tblGrid>
              <a:tr h="755173">
                <a:tc>
                  <a:txBody>
                    <a:bodyPr/>
                    <a:lstStyle/>
                    <a:p>
                      <a:pPr marL="0" lvl="0" indent="0">
                        <a:buNone/>
                      </a:pPr>
                      <a:r>
                        <a:rPr lang="en-IN" sz="1800" b="1" i="0" u="none" strike="noStrike" noProof="0">
                          <a:solidFill>
                            <a:schemeClr val="tx1"/>
                          </a:solidFill>
                          <a:latin typeface="Times New Roman"/>
                        </a:rPr>
                        <a:t>6. What happens if the Filter Capacitor voltage rating is too low?</a:t>
                      </a:r>
                    </a:p>
                    <a:p>
                      <a:pPr marL="171450" lvl="0" indent="-171450">
                        <a:buFont typeface="Wingdings"/>
                        <a:buChar char="Ø"/>
                      </a:pPr>
                      <a:r>
                        <a:rPr lang="en-IN" sz="1800" b="0" i="0" u="none" strike="noStrike" noProof="0">
                          <a:solidFill>
                            <a:schemeClr val="tx1"/>
                          </a:solidFill>
                          <a:latin typeface="Times New Roman"/>
                        </a:rPr>
                        <a:t>If voltage rating is inadequate, the capacitor will: (1) Break down due to dielectric failure, (2) Leak current internally, (3) Explode if severely over-stressed, (4) Reduce circuit reliability and safety. Always use at least 25V rated capacitor for 12V AC input, not exactly 12V rated.</a:t>
                      </a:r>
                      <a:endParaRPr lang="en-IN" sz="1800">
                        <a:latin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5627482"/>
                  </a:ext>
                </a:extLst>
              </a:tr>
              <a:tr h="825909">
                <a:tc>
                  <a:txBody>
                    <a:bodyPr/>
                    <a:lstStyle/>
                    <a:p>
                      <a:pPr lvl="0">
                        <a:buNone/>
                      </a:pPr>
                      <a:r>
                        <a:rPr lang="en-IN" sz="1800" b="1" i="0" u="none" strike="noStrike" noProof="0">
                          <a:latin typeface="Times New Roman"/>
                        </a:rPr>
                        <a:t>7. Why is electrolytic capacitor preferred over ceramic capacitor for filtering?</a:t>
                      </a:r>
                    </a:p>
                    <a:p>
                      <a:pPr marL="171450" lvl="0" indent="-171450">
                        <a:buFont typeface="Wingdings"/>
                        <a:buChar char="Ø"/>
                      </a:pPr>
                      <a:r>
                        <a:rPr lang="en-IN" sz="1800" b="0" i="0" u="none" strike="noStrike" noProof="0">
                          <a:latin typeface="Times New Roman"/>
                        </a:rPr>
                        <a:t>Electrolytic capacitor: High capacitance (1000µF) in small size, cheap, suitable for low-frequency AC ripple (100Hz). Ceramic capacitor: Small capacitance (~100nF max), expensive for high values, better for high-frequency noise. Electrolytic is chosen because we need large capacitance for low-frequency 100Hz ripple filtering.</a:t>
                      </a:r>
                      <a:endParaRPr lang="en-IN" sz="1800">
                        <a:latin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1310812"/>
                  </a:ext>
                </a:extLst>
              </a:tr>
              <a:tr h="806246">
                <a:tc>
                  <a:txBody>
                    <a:bodyPr/>
                    <a:lstStyle/>
                    <a:p>
                      <a:pPr lvl="0">
                        <a:buNone/>
                      </a:pPr>
                      <a:r>
                        <a:rPr lang="en-IN" sz="1800" b="1" i="0" u="none" strike="noStrike" noProof="0">
                          <a:latin typeface="Times New Roman"/>
                        </a:rPr>
                        <a:t>8. What is the polarity marking on the Filter Capacitor and why is it important?</a:t>
                      </a:r>
                    </a:p>
                    <a:p>
                      <a:pPr marL="171450" lvl="0" indent="-171450">
                        <a:buFont typeface="Wingdings"/>
                        <a:buChar char="Ø"/>
                      </a:pPr>
                      <a:r>
                        <a:rPr lang="en-IN" sz="1800" b="0" i="0" u="none" strike="noStrike" noProof="0">
                          <a:latin typeface="Times New Roman"/>
                        </a:rPr>
                        <a:t>Electrolytic capacitors are polarized: Positive leg (longer) connects to positive DC, Negative leg (shorter) connects to ground/negative. Reversing polarity causes: Internal damage, leakage, explosion risk. In this circuit, positive plate connects to bridge rectifier output, negative to ground. Always respect polarity!</a:t>
                      </a:r>
                      <a:endParaRPr lang="en-IN" sz="1800">
                        <a:latin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3354296"/>
                  </a:ext>
                </a:extLst>
              </a:tr>
              <a:tr h="996017">
                <a:tc>
                  <a:txBody>
                    <a:bodyPr/>
                    <a:lstStyle/>
                    <a:p>
                      <a:pPr marL="0" lvl="0" indent="0">
                        <a:buNone/>
                      </a:pPr>
                      <a:r>
                        <a:rPr lang="en-IN" sz="1800" b="1" i="0" u="none" strike="noStrike" noProof="0">
                          <a:latin typeface="Times New Roman"/>
                        </a:rPr>
                        <a:t>9. What is "Capacitor Inrush Current" and why is it a concern during circuit startup?</a:t>
                      </a:r>
                    </a:p>
                    <a:p>
                      <a:pPr marL="171450" lvl="0" indent="-171450">
                        <a:buFont typeface="Wingdings"/>
                        <a:buChar char="Ø"/>
                      </a:pPr>
                      <a:r>
                        <a:rPr lang="en-IN" sz="1800" b="0" i="0" u="none" strike="noStrike" noProof="0">
                          <a:latin typeface="Times New Roman"/>
                        </a:rPr>
                        <a:t>At power-on, the uncharged capacitor looks like a short circuit, drawing a large current spike (inrush current). This can: (1) Damage diodes in the bridge rectifier, (2) Blow fuses, (3) Stress components. Solution: Use a current-limiting resistor (~10-47Ω) in series with capacitor or ensure diodes can handle the transient.</a:t>
                      </a:r>
                      <a:endParaRPr lang="en-IN" sz="1800">
                        <a:latin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3868199"/>
                  </a:ext>
                </a:extLst>
              </a:tr>
              <a:tr h="996017">
                <a:tc>
                  <a:txBody>
                    <a:bodyPr/>
                    <a:lstStyle/>
                    <a:p>
                      <a:pPr lvl="0">
                        <a:buNone/>
                      </a:pPr>
                      <a:r>
                        <a:rPr lang="en-IN" sz="1800" b="1" i="0" u="none" strike="noStrike" noProof="0">
                          <a:latin typeface="Times New Roman"/>
                        </a:rPr>
                        <a:t>10. How does the Filter Capacitor improve the performance and efficiency of the power supply?</a:t>
                      </a:r>
                    </a:p>
                    <a:p>
                      <a:pPr marL="171450" lvl="0" indent="-171450">
                        <a:buFont typeface="Wingdings"/>
                        <a:buChar char="Ø"/>
                      </a:pPr>
                      <a:r>
                        <a:rPr lang="en-IN" sz="1800" b="0" i="0" u="none" strike="noStrike" noProof="0">
                          <a:latin typeface="Times New Roman"/>
                        </a:rPr>
                        <a:t>Filter capacitor: (1) Reduces noise (ripple factor &lt;5%), allowing sensitive circuits to work properly, (2) Maintains voltage stability under load variations, (3) Reduces heat dissipation in the linear regulator (7805) by providing better input voltage, (4) Protects downstream components from ripple-induced damage, (5) Improves overall power supply quality and reliability.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5016278"/>
                  </a:ext>
                </a:extLst>
              </a:tr>
            </a:tbl>
          </a:graphicData>
        </a:graphic>
      </p:graphicFrame>
      <p:sp>
        <p:nvSpPr>
          <p:cNvPr id="7" name="TextBox 6">
            <a:extLst>
              <a:ext uri="{FF2B5EF4-FFF2-40B4-BE49-F238E27FC236}">
                <a16:creationId xmlns:a16="http://schemas.microsoft.com/office/drawing/2014/main" id="{BF7C1589-0AA3-DD20-E026-985F814BA881}"/>
              </a:ext>
            </a:extLst>
          </p:cNvPr>
          <p:cNvSpPr txBox="1"/>
          <p:nvPr/>
        </p:nvSpPr>
        <p:spPr>
          <a:xfrm>
            <a:off x="4532671" y="191086"/>
            <a:ext cx="3834581" cy="369332"/>
          </a:xfrm>
          <a:prstGeom prst="rect">
            <a:avLst/>
          </a:prstGeom>
          <a:noFill/>
          <a:ln>
            <a:solidFill>
              <a:schemeClr val="tx1"/>
            </a:solidFill>
          </a:ln>
        </p:spPr>
        <p:txBody>
          <a:bodyPr wrap="square" lIns="91440" tIns="45720" rIns="91440" bIns="45720" rtlCol="0" anchor="t">
            <a:spAutoFit/>
          </a:bodyPr>
          <a:lstStyle/>
          <a:p>
            <a:pPr algn="ctr"/>
            <a:r>
              <a:rPr lang="en-IN" b="1">
                <a:latin typeface="Times New Roman"/>
                <a:cs typeface="Times New Roman"/>
              </a:rPr>
              <a:t>FILTER CAPACITOR </a:t>
            </a:r>
            <a:endParaRPr lang="en-IN"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43795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25A2DA2F-477B-D1C6-3C0E-0F942D2D1C02}"/>
              </a:ext>
            </a:extLst>
          </p:cNvPr>
          <p:cNvGraphicFramePr>
            <a:graphicFrameLocks noGrp="1"/>
          </p:cNvGraphicFramePr>
          <p:nvPr>
            <p:extLst>
              <p:ext uri="{D42A27DB-BD31-4B8C-83A1-F6EECF244321}">
                <p14:modId xmlns:p14="http://schemas.microsoft.com/office/powerpoint/2010/main" val="2159792895"/>
              </p:ext>
            </p:extLst>
          </p:nvPr>
        </p:nvGraphicFramePr>
        <p:xfrm>
          <a:off x="117987" y="850364"/>
          <a:ext cx="11956026" cy="5731666"/>
        </p:xfrm>
        <a:graphic>
          <a:graphicData uri="http://schemas.openxmlformats.org/drawingml/2006/table">
            <a:tbl>
              <a:tblPr firstRow="1" bandRow="1">
                <a:tableStyleId>{5C22544A-7EE6-4342-B048-85BDC9FD1C3A}</a:tableStyleId>
              </a:tblPr>
              <a:tblGrid>
                <a:gridCol w="11956026">
                  <a:extLst>
                    <a:ext uri="{9D8B030D-6E8A-4147-A177-3AD203B41FA5}">
                      <a16:colId xmlns:a16="http://schemas.microsoft.com/office/drawing/2014/main" val="3690383400"/>
                    </a:ext>
                  </a:extLst>
                </a:gridCol>
              </a:tblGrid>
              <a:tr h="1194661">
                <a:tc>
                  <a:txBody>
                    <a:bodyPr/>
                    <a:lstStyle/>
                    <a:p>
                      <a:pPr marL="0" indent="0">
                        <a:buNone/>
                      </a:pPr>
                      <a:r>
                        <a:rPr lang="en-IN" sz="1800" b="1" i="0" u="none" strike="noStrike" noProof="0">
                          <a:solidFill>
                            <a:schemeClr val="tx1"/>
                          </a:solidFill>
                          <a:latin typeface="Times New Roman"/>
                        </a:rPr>
                        <a:t>1. Why did we choose the 7805 regulator for the 5V mobile charging circuit?</a:t>
                      </a:r>
                      <a:endParaRPr lang="en-IN" b="1">
                        <a:solidFill>
                          <a:schemeClr val="tx1"/>
                        </a:solidFill>
                        <a:latin typeface="Times New Roman"/>
                        <a:cs typeface="Times New Roman"/>
                      </a:endParaRPr>
                    </a:p>
                    <a:p>
                      <a:pPr marL="285750" lvl="0" indent="-285750">
                        <a:buFont typeface="Wingdings"/>
                        <a:buChar char="Ø"/>
                      </a:pPr>
                      <a:r>
                        <a:rPr lang="en-IN" sz="1800" b="0" i="0" u="none" strike="noStrike" noProof="0">
                          <a:solidFill>
                            <a:schemeClr val="tx1"/>
                          </a:solidFill>
                          <a:latin typeface="Times New Roman"/>
                        </a:rPr>
                        <a:t>It provides a fixed 5V DC output and can supply up to 1A and also includes internal protection for short circuit ,thermal shutdown ,overcurrent.</a:t>
                      </a:r>
                      <a:br>
                        <a:rPr lang="en-IN" sz="1800" b="0" i="0" u="none" strike="noStrike" noProof="0">
                          <a:solidFill>
                            <a:srgbClr val="000000"/>
                          </a:solidFill>
                          <a:latin typeface="Times New Roman"/>
                        </a:rPr>
                      </a:br>
                      <a:endParaRPr lang="en-IN" b="1">
                        <a:solidFill>
                          <a:srgbClr val="000000"/>
                        </a:solidFill>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5627482"/>
                  </a:ext>
                </a:extLst>
              </a:tr>
              <a:tr h="653787">
                <a:tc>
                  <a:txBody>
                    <a:bodyPr/>
                    <a:lstStyle/>
                    <a:p>
                      <a:r>
                        <a:rPr lang="en-IN" b="1">
                          <a:latin typeface="Times New Roman"/>
                          <a:cs typeface="Times New Roman"/>
                        </a:rPr>
                        <a:t>2. </a:t>
                      </a:r>
                      <a:r>
                        <a:rPr lang="en-IN" sz="1800" b="1" i="0" u="none" strike="noStrike" noProof="0">
                          <a:latin typeface="Times New Roman"/>
                        </a:rPr>
                        <a:t>What is the minimum input voltage required for the 7805?</a:t>
                      </a:r>
                    </a:p>
                    <a:p>
                      <a:pPr marL="285750" lvl="0" indent="-285750">
                        <a:buFont typeface="Wingdings"/>
                        <a:buChar char="Ø"/>
                      </a:pPr>
                      <a:r>
                        <a:rPr lang="en-IN" sz="1800" b="0" i="0" u="none" strike="noStrike" noProof="0">
                          <a:latin typeface="Times New Roman"/>
                        </a:rPr>
                        <a:t>Vin = 5V + 2V = 7V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1310812"/>
                  </a:ext>
                </a:extLst>
              </a:tr>
              <a:tr h="729225">
                <a:tc>
                  <a:txBody>
                    <a:bodyPr/>
                    <a:lstStyle/>
                    <a:p>
                      <a:r>
                        <a:rPr lang="en-IN" sz="1800" b="1" baseline="0">
                          <a:latin typeface="Times New Roman"/>
                          <a:cs typeface="Times New Roman"/>
                        </a:rPr>
                        <a:t>3. How do you calculate the power dissipation of 7805?</a:t>
                      </a:r>
                    </a:p>
                    <a:p>
                      <a:pPr marL="285750" lvl="0" indent="-285750">
                        <a:buFont typeface="Wingdings"/>
                        <a:buChar char="Ø"/>
                      </a:pPr>
                      <a:r>
                        <a:rPr lang="en-IN" sz="1600" b="0" baseline="0">
                          <a:latin typeface="Times New Roman"/>
                          <a:cs typeface="Times New Roman"/>
                        </a:rPr>
                        <a:t> P = (Vin – Vout) * I</a:t>
                      </a:r>
                    </a:p>
                    <a:p>
                      <a:pPr lvl="0">
                        <a:buNone/>
                      </a:pPr>
                      <a:r>
                        <a:rPr lang="en-IN" sz="1600" b="0" baseline="0">
                          <a:latin typeface="Times New Roman"/>
                          <a:cs typeface="Times New Roman"/>
                        </a:rPr>
                        <a:t>   =  (12 – 5 )* I= 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3354296"/>
                  </a:ext>
                </a:extLst>
              </a:tr>
              <a:tr h="1200978">
                <a:tc>
                  <a:txBody>
                    <a:bodyPr/>
                    <a:lstStyle/>
                    <a:p>
                      <a:pPr marL="0" indent="0">
                        <a:buFont typeface="Wingdings" panose="05000000000000000000" pitchFamily="2" charset="2"/>
                        <a:buNone/>
                      </a:pPr>
                      <a:r>
                        <a:rPr lang="en-IN" sz="1800" b="1" baseline="0">
                          <a:latin typeface="Times New Roman"/>
                          <a:cs typeface="Times New Roman"/>
                        </a:rPr>
                        <a:t>4. what is the efficiency of the 7805 in the circuit?</a:t>
                      </a:r>
                    </a:p>
                    <a:p>
                      <a:pPr marL="285750" lvl="0" indent="-285750">
                        <a:buFont typeface="Wingdings"/>
                        <a:buChar char="Ø"/>
                      </a:pPr>
                      <a:r>
                        <a:rPr lang="en-IN" sz="1800" b="0" i="0" u="none" strike="noStrike" baseline="0" noProof="0">
                          <a:latin typeface="Times New Roman"/>
                        </a:rPr>
                        <a:t>   η = (VIN/VOUT) ×100</a:t>
                      </a:r>
                      <a:endParaRPr lang="en-IN">
                        <a:latin typeface="Times New Roman"/>
                      </a:endParaRPr>
                    </a:p>
                    <a:p>
                      <a:pPr marL="0" lvl="0" indent="0">
                        <a:buNone/>
                      </a:pPr>
                      <a:r>
                        <a:rPr lang="en-IN" sz="1800" b="0" i="0" u="none" strike="noStrike" baseline="0" noProof="0">
                          <a:latin typeface="Times New Roman"/>
                        </a:rPr>
                        <a:t>        η  =  (5/12)×100 = 41.66</a:t>
                      </a:r>
                    </a:p>
                    <a:p>
                      <a:pPr marL="0" lvl="0" indent="0">
                        <a:buFont typeface="Wingdings" panose="05000000000000000000" pitchFamily="2" charset="2"/>
                        <a:buNone/>
                      </a:pPr>
                      <a:endParaRPr lang="en-IN" sz="1800" b="0" baseline="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3868199"/>
                  </a:ext>
                </a:extLst>
              </a:tr>
              <a:tr h="905244">
                <a:tc>
                  <a:txBody>
                    <a:bodyPr/>
                    <a:lstStyle/>
                    <a:p>
                      <a:r>
                        <a:rPr lang="en-IN" b="1">
                          <a:latin typeface="Times New Roman"/>
                          <a:cs typeface="Times New Roman"/>
                        </a:rPr>
                        <a:t>5. </a:t>
                      </a:r>
                      <a:r>
                        <a:rPr lang="en-IN" sz="1800" b="1" i="0" u="none" strike="noStrike" noProof="0">
                          <a:latin typeface="Times New Roman"/>
                        </a:rPr>
                        <a:t>Why is 7805 a linear regulator?</a:t>
                      </a:r>
                    </a:p>
                    <a:p>
                      <a:pPr marL="285750" lvl="0" indent="-285750">
                        <a:buFont typeface="Wingdings"/>
                        <a:buChar char="Ø"/>
                      </a:pPr>
                      <a:r>
                        <a:rPr lang="en-IN" sz="1800" b="1" i="0" u="none" strike="noStrike" noProof="0">
                          <a:latin typeface="Times New Roman"/>
                        </a:rPr>
                        <a:t> </a:t>
                      </a:r>
                      <a:r>
                        <a:rPr lang="en-IN" sz="1800" b="0" i="0" u="none" strike="noStrike" noProof="0">
                          <a:latin typeface="Times New Roman"/>
                        </a:rPr>
                        <a:t>It drops excess voltage by converting it to </a:t>
                      </a:r>
                      <a:r>
                        <a:rPr lang="en-IN" sz="1800" b="1" i="0" u="none" strike="noStrike" noProof="0">
                          <a:latin typeface="Times New Roman"/>
                        </a:rPr>
                        <a:t>heat</a:t>
                      </a:r>
                      <a:r>
                        <a:rPr lang="en-IN" sz="1800" b="0" i="0" u="none" strike="noStrike" noProof="0">
                          <a:latin typeface="Times New Roman"/>
                        </a:rPr>
                        <a:t>, not by switching.</a:t>
                      </a:r>
                      <a:br>
                        <a:rPr lang="en-IN" sz="1800" b="0" i="0" u="none" strike="noStrike" noProof="0">
                          <a:latin typeface="Times New Roman"/>
                        </a:rPr>
                      </a:br>
                      <a:r>
                        <a:rPr lang="en-IN" sz="1800" b="0" i="0" u="none" strike="noStrike" noProof="0">
                          <a:latin typeface="Times New Roman"/>
                        </a:rPr>
                        <a:t> A buck converter uses high-frequency switching → more efficient.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5016278"/>
                  </a:ext>
                </a:extLst>
              </a:tr>
              <a:tr h="905244">
                <a:tc>
                  <a:txBody>
                    <a:bodyPr/>
                    <a:lstStyle/>
                    <a:p>
                      <a:r>
                        <a:rPr lang="en-IN" b="1">
                          <a:latin typeface="Times New Roman"/>
                          <a:cs typeface="Times New Roman"/>
                        </a:rPr>
                        <a:t>6. </a:t>
                      </a:r>
                      <a:r>
                        <a:rPr lang="en-IN" sz="1800" b="1" i="0" u="none" strike="noStrike" noProof="0">
                          <a:latin typeface="Times New Roman"/>
                        </a:rPr>
                        <a:t>How does load regulation work in 7805?</a:t>
                      </a:r>
                    </a:p>
                    <a:p>
                      <a:pPr marL="285750" lvl="0" indent="-285750">
                        <a:buFont typeface="Wingdings"/>
                        <a:buChar char="Ø"/>
                      </a:pPr>
                      <a:r>
                        <a:rPr lang="en-IN" sz="1800" b="0" i="0" u="none" strike="noStrike" noProof="0">
                          <a:latin typeface="Times New Roman"/>
                        </a:rPr>
                        <a:t>7805 uses internal feedback to keep output exactly 5V even when load varies from </a:t>
                      </a:r>
                      <a:r>
                        <a:rPr lang="en-IN" sz="1800" b="1" i="0" u="none" strike="noStrike" noProof="0">
                          <a:latin typeface="Times New Roman"/>
                        </a:rPr>
                        <a:t>0A to 1A</a:t>
                      </a:r>
                      <a:r>
                        <a:rPr lang="en-IN" sz="1800" b="0" i="0" u="none" strike="noStrike" noProof="0">
                          <a:latin typeface="Times New Roman"/>
                        </a:rPr>
                        <a:t>.</a:t>
                      </a:r>
                      <a:br>
                        <a:rPr lang="en-IN" sz="1800" b="0" i="0" u="none" strike="noStrike" noProof="0">
                          <a:latin typeface="Times New Roman"/>
                        </a:rPr>
                      </a:br>
                      <a:r>
                        <a:rPr lang="en-IN" sz="1800" b="0" i="0" u="none" strike="noStrike" noProof="0">
                          <a:latin typeface="Times New Roman"/>
                        </a:rPr>
                        <a:t> Small changes in internal pass transistor adjust current flow.</a:t>
                      </a:r>
                      <a:endParaRPr lang="en-IN">
                        <a:latin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2059146"/>
                  </a:ext>
                </a:extLst>
              </a:tr>
            </a:tbl>
          </a:graphicData>
        </a:graphic>
      </p:graphicFrame>
      <p:sp>
        <p:nvSpPr>
          <p:cNvPr id="6" name="TextBox 5">
            <a:extLst>
              <a:ext uri="{FF2B5EF4-FFF2-40B4-BE49-F238E27FC236}">
                <a16:creationId xmlns:a16="http://schemas.microsoft.com/office/drawing/2014/main" id="{2D1BFED3-E8CF-7D6F-E97E-83371ACDD31C}"/>
              </a:ext>
            </a:extLst>
          </p:cNvPr>
          <p:cNvSpPr txBox="1"/>
          <p:nvPr/>
        </p:nvSpPr>
        <p:spPr>
          <a:xfrm>
            <a:off x="-1" y="0"/>
            <a:ext cx="3647769" cy="369332"/>
          </a:xfrm>
          <a:prstGeom prst="rect">
            <a:avLst/>
          </a:prstGeom>
          <a:solidFill>
            <a:schemeClr val="tx2">
              <a:lumMod val="20000"/>
              <a:lumOff val="80000"/>
            </a:schemeClr>
          </a:solidFill>
        </p:spPr>
        <p:txBody>
          <a:bodyPr wrap="square">
            <a:spAutoFit/>
          </a:bodyPr>
          <a:lstStyle/>
          <a:p>
            <a:r>
              <a:rPr lang="en-US" sz="1800" b="1">
                <a:latin typeface="Times New Roman" panose="02020603050405020304" pitchFamily="18" charset="0"/>
                <a:cs typeface="Times New Roman" panose="02020603050405020304" pitchFamily="18" charset="0"/>
              </a:rPr>
              <a:t>Mini Project  (</a:t>
            </a:r>
            <a:r>
              <a:rPr lang="en-IN"/>
              <a:t>23EECW301</a:t>
            </a:r>
            <a:r>
              <a:rPr lang="en-US" sz="1800" b="1">
                <a:latin typeface="Times New Roman" panose="02020603050405020304" pitchFamily="18" charset="0"/>
                <a:cs typeface="Times New Roman" panose="02020603050405020304" pitchFamily="18" charset="0"/>
              </a:rPr>
              <a:t>)</a:t>
            </a:r>
            <a:endParaRPr lang="en-IN" sz="1800"/>
          </a:p>
        </p:txBody>
      </p:sp>
      <p:pic>
        <p:nvPicPr>
          <p:cNvPr id="8" name="Picture 7" descr="KLE Technological University in Hubballi">
            <a:extLst>
              <a:ext uri="{FF2B5EF4-FFF2-40B4-BE49-F238E27FC236}">
                <a16:creationId xmlns:a16="http://schemas.microsoft.com/office/drawing/2014/main" id="{97A0C2F2-1546-A179-417F-3EC3442926AF}"/>
              </a:ext>
            </a:extLst>
          </p:cNvPr>
          <p:cNvPicPr>
            <a:picLocks noChangeAspect="1"/>
          </p:cNvPicPr>
          <p:nvPr/>
        </p:nvPicPr>
        <p:blipFill rotWithShape="1">
          <a:blip r:embed="rId2">
            <a:extLst>
              <a:ext uri="{28A0092B-C50C-407E-A947-70E740481C1C}">
                <a14:useLocalDpi xmlns:a14="http://schemas.microsoft.com/office/drawing/2010/main" val="0"/>
              </a:ext>
            </a:extLst>
          </a:blip>
          <a:srcRect t="37713" b="37711"/>
          <a:stretch/>
        </p:blipFill>
        <p:spPr bwMode="auto">
          <a:xfrm>
            <a:off x="9544414" y="0"/>
            <a:ext cx="2647586" cy="623017"/>
          </a:xfrm>
          <a:prstGeom prst="rect">
            <a:avLst/>
          </a:prstGeom>
          <a:noFill/>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CE9FB80C-F8FA-F406-3EA3-17C96CA6E302}"/>
              </a:ext>
            </a:extLst>
          </p:cNvPr>
          <p:cNvSpPr txBox="1"/>
          <p:nvPr/>
        </p:nvSpPr>
        <p:spPr>
          <a:xfrm>
            <a:off x="3889989" y="165653"/>
            <a:ext cx="4975238" cy="400110"/>
          </a:xfrm>
          <a:prstGeom prst="rect">
            <a:avLst/>
          </a:prstGeom>
          <a:noFill/>
          <a:ln>
            <a:solidFill>
              <a:schemeClr val="tx1"/>
            </a:solidFill>
          </a:ln>
        </p:spPr>
        <p:txBody>
          <a:bodyPr wrap="square" lIns="91440" tIns="45720" rIns="91440" bIns="45720" rtlCol="0" anchor="t">
            <a:spAutoFit/>
          </a:bodyPr>
          <a:lstStyle/>
          <a:p>
            <a:pPr algn="ctr"/>
            <a:r>
              <a:rPr lang="en-IN" sz="2000" b="1">
                <a:latin typeface="Times New Roman"/>
                <a:cs typeface="Times New Roman"/>
              </a:rPr>
              <a:t>Voltage Regulator</a:t>
            </a:r>
            <a:endParaRPr lang="en-IN" sz="20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90294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8CAD1-ED72-96E5-BA95-CD4745FD5BC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6C2C4C8-A6D1-0C62-8452-651C94FFF125}"/>
              </a:ext>
            </a:extLst>
          </p:cNvPr>
          <p:cNvSpPr txBox="1"/>
          <p:nvPr/>
        </p:nvSpPr>
        <p:spPr>
          <a:xfrm>
            <a:off x="1356851" y="2015613"/>
            <a:ext cx="9202994" cy="1862048"/>
          </a:xfrm>
          <a:prstGeom prst="rect">
            <a:avLst/>
          </a:prstGeom>
          <a:noFill/>
        </p:spPr>
        <p:txBody>
          <a:bodyPr wrap="square" rtlCol="0">
            <a:spAutoFit/>
          </a:bodyPr>
          <a:lstStyle/>
          <a:p>
            <a:r>
              <a:rPr lang="en-IN" sz="11500" b="1">
                <a:latin typeface="Times New Roman" panose="02020603050405020304" pitchFamily="18" charset="0"/>
                <a:cs typeface="Times New Roman" panose="02020603050405020304" pitchFamily="18" charset="0"/>
              </a:rPr>
              <a:t>THANK YOU</a:t>
            </a:r>
          </a:p>
        </p:txBody>
      </p:sp>
      <p:sp>
        <p:nvSpPr>
          <p:cNvPr id="5" name="TextBox 4">
            <a:extLst>
              <a:ext uri="{FF2B5EF4-FFF2-40B4-BE49-F238E27FC236}">
                <a16:creationId xmlns:a16="http://schemas.microsoft.com/office/drawing/2014/main" id="{52325BF5-EA2A-1E5D-9FEF-6E2C15FFD8AC}"/>
              </a:ext>
            </a:extLst>
          </p:cNvPr>
          <p:cNvSpPr txBox="1"/>
          <p:nvPr/>
        </p:nvSpPr>
        <p:spPr>
          <a:xfrm>
            <a:off x="-1" y="0"/>
            <a:ext cx="3647769" cy="369332"/>
          </a:xfrm>
          <a:prstGeom prst="rect">
            <a:avLst/>
          </a:prstGeom>
          <a:solidFill>
            <a:schemeClr val="tx2">
              <a:lumMod val="20000"/>
              <a:lumOff val="80000"/>
            </a:schemeClr>
          </a:solidFill>
        </p:spPr>
        <p:txBody>
          <a:bodyPr wrap="square">
            <a:spAutoFit/>
          </a:bodyPr>
          <a:lstStyle/>
          <a:p>
            <a:r>
              <a:rPr lang="en-US" sz="1800" b="1">
                <a:latin typeface="Times New Roman" panose="02020603050405020304" pitchFamily="18" charset="0"/>
                <a:cs typeface="Times New Roman" panose="02020603050405020304" pitchFamily="18" charset="0"/>
              </a:rPr>
              <a:t>Mini Project  (</a:t>
            </a:r>
            <a:r>
              <a:rPr lang="en-IN"/>
              <a:t>23EECW301</a:t>
            </a:r>
            <a:r>
              <a:rPr lang="en-US" sz="1800" b="1">
                <a:latin typeface="Times New Roman" panose="02020603050405020304" pitchFamily="18" charset="0"/>
                <a:cs typeface="Times New Roman" panose="02020603050405020304" pitchFamily="18" charset="0"/>
              </a:rPr>
              <a:t>)</a:t>
            </a:r>
            <a:endParaRPr lang="en-IN" sz="1800"/>
          </a:p>
        </p:txBody>
      </p:sp>
      <p:pic>
        <p:nvPicPr>
          <p:cNvPr id="6" name="Picture 5" descr="KLE Technological University in Hubballi">
            <a:extLst>
              <a:ext uri="{FF2B5EF4-FFF2-40B4-BE49-F238E27FC236}">
                <a16:creationId xmlns:a16="http://schemas.microsoft.com/office/drawing/2014/main" id="{B8E30814-9FA4-2165-EAC9-1503E1438229}"/>
              </a:ext>
            </a:extLst>
          </p:cNvPr>
          <p:cNvPicPr>
            <a:picLocks noChangeAspect="1"/>
          </p:cNvPicPr>
          <p:nvPr/>
        </p:nvPicPr>
        <p:blipFill rotWithShape="1">
          <a:blip r:embed="rId2">
            <a:extLst>
              <a:ext uri="{28A0092B-C50C-407E-A947-70E740481C1C}">
                <a14:useLocalDpi xmlns:a14="http://schemas.microsoft.com/office/drawing/2010/main" val="0"/>
              </a:ext>
            </a:extLst>
          </a:blip>
          <a:srcRect t="37713" b="37711"/>
          <a:stretch/>
        </p:blipFill>
        <p:spPr bwMode="auto">
          <a:xfrm>
            <a:off x="9544414" y="0"/>
            <a:ext cx="2647586" cy="623017"/>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828435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6116</Words>
  <Application>Microsoft Office PowerPoint</Application>
  <PresentationFormat>Widescreen</PresentationFormat>
  <Paragraphs>477</Paragraphs>
  <Slides>30</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Calibri Light</vt:lpstr>
      <vt:lpstr>Cambria Math</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suraj alagouda</dc:creator>
  <cp:lastModifiedBy>suraj alagouda</cp:lastModifiedBy>
  <cp:revision>2</cp:revision>
  <cp:lastPrinted>2026-02-08T14:11:48Z</cp:lastPrinted>
  <dcterms:created xsi:type="dcterms:W3CDTF">2025-11-12T08:12:20Z</dcterms:created>
  <dcterms:modified xsi:type="dcterms:W3CDTF">2026-02-10T02:11:36Z</dcterms:modified>
</cp:coreProperties>
</file>